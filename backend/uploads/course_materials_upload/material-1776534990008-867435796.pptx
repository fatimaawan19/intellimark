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7"/>
  </p:notesMasterIdLst>
  <p:sldIdLst>
    <p:sldId id="257" r:id="rId2"/>
    <p:sldId id="340" r:id="rId3"/>
    <p:sldId id="321" r:id="rId4"/>
    <p:sldId id="258" r:id="rId5"/>
    <p:sldId id="259" r:id="rId6"/>
    <p:sldId id="322" r:id="rId7"/>
    <p:sldId id="323" r:id="rId8"/>
    <p:sldId id="324" r:id="rId9"/>
    <p:sldId id="260" r:id="rId10"/>
    <p:sldId id="325" r:id="rId11"/>
    <p:sldId id="293" r:id="rId12"/>
    <p:sldId id="393" r:id="rId13"/>
    <p:sldId id="394" r:id="rId14"/>
    <p:sldId id="294" r:id="rId15"/>
    <p:sldId id="262" r:id="rId16"/>
    <p:sldId id="263" r:id="rId17"/>
    <p:sldId id="329" r:id="rId18"/>
    <p:sldId id="264" r:id="rId19"/>
    <p:sldId id="265" r:id="rId20"/>
    <p:sldId id="326" r:id="rId21"/>
    <p:sldId id="313" r:id="rId22"/>
    <p:sldId id="395" r:id="rId23"/>
    <p:sldId id="295" r:id="rId24"/>
    <p:sldId id="296" r:id="rId25"/>
    <p:sldId id="396" r:id="rId26"/>
    <p:sldId id="266" r:id="rId27"/>
    <p:sldId id="267" r:id="rId28"/>
    <p:sldId id="268" r:id="rId29"/>
    <p:sldId id="269" r:id="rId30"/>
    <p:sldId id="270" r:id="rId31"/>
    <p:sldId id="327" r:id="rId32"/>
    <p:sldId id="397" r:id="rId33"/>
    <p:sldId id="297" r:id="rId34"/>
    <p:sldId id="398" r:id="rId35"/>
    <p:sldId id="399" r:id="rId36"/>
    <p:sldId id="271" r:id="rId37"/>
    <p:sldId id="272" r:id="rId38"/>
    <p:sldId id="400" r:id="rId39"/>
    <p:sldId id="291" r:id="rId40"/>
    <p:sldId id="273" r:id="rId41"/>
    <p:sldId id="274" r:id="rId42"/>
    <p:sldId id="275" r:id="rId43"/>
    <p:sldId id="276" r:id="rId44"/>
    <p:sldId id="277" r:id="rId45"/>
    <p:sldId id="278" r:id="rId46"/>
    <p:sldId id="279" r:id="rId47"/>
    <p:sldId id="280" r:id="rId48"/>
    <p:sldId id="281" r:id="rId49"/>
    <p:sldId id="282" r:id="rId50"/>
    <p:sldId id="283" r:id="rId51"/>
    <p:sldId id="292" r:id="rId52"/>
    <p:sldId id="284" r:id="rId53"/>
    <p:sldId id="285" r:id="rId54"/>
    <p:sldId id="286" r:id="rId55"/>
    <p:sldId id="287" r:id="rId56"/>
    <p:sldId id="334" r:id="rId57"/>
    <p:sldId id="288" r:id="rId58"/>
    <p:sldId id="289" r:id="rId59"/>
    <p:sldId id="298" r:id="rId60"/>
    <p:sldId id="300" r:id="rId61"/>
    <p:sldId id="301" r:id="rId62"/>
    <p:sldId id="307" r:id="rId63"/>
    <p:sldId id="309" r:id="rId64"/>
    <p:sldId id="308" r:id="rId65"/>
    <p:sldId id="310"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53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customXml" Target="../customXml/item3.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FABE4-E246-44C6-B446-1FC3285F7BF8}" type="datetimeFigureOut">
              <a:rPr lang="en-US" smtClean="0"/>
              <a:t>1/15/2026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3F276D-16E7-44E3-89CE-326675C93692}" type="slidenum">
              <a:rPr lang="en-US" smtClean="0"/>
              <a:t>‹#›</a:t>
            </a:fld>
            <a:endParaRPr lang="en-US"/>
          </a:p>
        </p:txBody>
      </p:sp>
    </p:spTree>
    <p:extLst>
      <p:ext uri="{BB962C8B-B14F-4D97-AF65-F5344CB8AC3E}">
        <p14:creationId xmlns:p14="http://schemas.microsoft.com/office/powerpoint/2010/main" val="2378797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ML is a complex process and it touches all aspects of data in the enterprise. Machine learning algorithms learn from data. It is critical that you feed them the right data for the problem you want to solve. Even if you have good data, you need to make sure that it is in a useful scale, format and even that meaningful features are included.</a:t>
            </a:r>
          </a:p>
          <a:p>
            <a:pPr fontAlgn="base"/>
            <a:r>
              <a:rPr lang="en-US" sz="1200" b="0" i="0" kern="1200" dirty="0">
                <a:solidFill>
                  <a:schemeClr val="tx1"/>
                </a:solidFill>
                <a:effectLst/>
                <a:latin typeface="+mn-lt"/>
                <a:ea typeface="+mn-ea"/>
                <a:cs typeface="+mn-cs"/>
              </a:rPr>
              <a:t>The actual data preparation process is three step as follows:</a:t>
            </a:r>
          </a:p>
          <a:p>
            <a:pPr fontAlgn="base"/>
            <a:r>
              <a:rPr lang="en-US" sz="1200" b="1" i="0" kern="1200" dirty="0">
                <a:solidFill>
                  <a:schemeClr val="tx1"/>
                </a:solidFill>
                <a:effectLst/>
                <a:latin typeface="+mn-lt"/>
                <a:ea typeface="+mn-ea"/>
                <a:cs typeface="+mn-cs"/>
              </a:rPr>
              <a:t>Step 1: Data Selection</a:t>
            </a:r>
            <a:r>
              <a:rPr lang="en-US" sz="1200" b="0" i="0" kern="1200" dirty="0">
                <a:solidFill>
                  <a:schemeClr val="tx1"/>
                </a:solidFill>
                <a:effectLst/>
                <a:latin typeface="+mn-lt"/>
                <a:ea typeface="+mn-ea"/>
                <a:cs typeface="+mn-cs"/>
              </a:rPr>
              <a:t>: Consider what data is available and sources must be identified, what data is missing and what data can be removed.</a:t>
            </a:r>
          </a:p>
          <a:p>
            <a:pPr fontAlgn="base"/>
            <a:r>
              <a:rPr lang="en-US" sz="1200" b="1" i="0" kern="1200" dirty="0">
                <a:solidFill>
                  <a:schemeClr val="tx1"/>
                </a:solidFill>
                <a:effectLst/>
                <a:latin typeface="+mn-lt"/>
                <a:ea typeface="+mn-ea"/>
                <a:cs typeface="+mn-cs"/>
              </a:rPr>
              <a:t>Step 2: Data Preprocessing</a:t>
            </a:r>
            <a:r>
              <a:rPr lang="en-US" sz="1200" b="0" i="0" kern="1200" dirty="0">
                <a:solidFill>
                  <a:schemeClr val="tx1"/>
                </a:solidFill>
                <a:effectLst/>
                <a:latin typeface="+mn-lt"/>
                <a:ea typeface="+mn-ea"/>
                <a:cs typeface="+mn-cs"/>
              </a:rPr>
              <a:t>: Organize your selected data by formatting, cleaning and sampling from it.</a:t>
            </a:r>
          </a:p>
          <a:p>
            <a:pPr fontAlgn="base"/>
            <a:r>
              <a:rPr lang="en-US" sz="1200" b="1" i="0" kern="1200" dirty="0">
                <a:solidFill>
                  <a:schemeClr val="tx1"/>
                </a:solidFill>
                <a:effectLst/>
                <a:latin typeface="+mn-lt"/>
                <a:ea typeface="+mn-ea"/>
                <a:cs typeface="+mn-cs"/>
              </a:rPr>
              <a:t>Step 3: Data Transformation</a:t>
            </a:r>
            <a:r>
              <a:rPr lang="en-US" sz="1200" b="0" i="0" kern="1200" dirty="0">
                <a:solidFill>
                  <a:schemeClr val="tx1"/>
                </a:solidFill>
                <a:effectLst/>
                <a:latin typeface="+mn-lt"/>
                <a:ea typeface="+mn-ea"/>
                <a:cs typeface="+mn-cs"/>
              </a:rPr>
              <a:t>: Transform preprocessed data ready for machine learning by engineering features using scaling, attribute decomposition and attribute aggregation</a:t>
            </a:r>
          </a:p>
          <a:p>
            <a:pPr fontAlgn="base"/>
            <a:r>
              <a:rPr lang="en-US" sz="1200" b="0" i="0" kern="1200" dirty="0">
                <a:solidFill>
                  <a:schemeClr val="tx1"/>
                </a:solidFill>
                <a:effectLst/>
                <a:latin typeface="+mn-lt"/>
                <a:ea typeface="+mn-ea"/>
                <a:cs typeface="+mn-cs"/>
              </a:rPr>
              <a:t>In summary, the process of improving results involves:</a:t>
            </a:r>
          </a:p>
          <a:p>
            <a:pPr fontAlgn="base"/>
            <a:r>
              <a:rPr lang="en-US" sz="1200" b="1" i="0" kern="1200" dirty="0">
                <a:solidFill>
                  <a:schemeClr val="tx1"/>
                </a:solidFill>
                <a:effectLst/>
                <a:latin typeface="+mn-lt"/>
                <a:ea typeface="+mn-ea"/>
                <a:cs typeface="+mn-cs"/>
              </a:rPr>
              <a:t>Algorithm Tuning</a:t>
            </a:r>
            <a:r>
              <a:rPr lang="en-US" sz="1200" b="0" i="0" kern="1200" dirty="0">
                <a:solidFill>
                  <a:schemeClr val="tx1"/>
                </a:solidFill>
                <a:effectLst/>
                <a:latin typeface="+mn-lt"/>
                <a:ea typeface="+mn-ea"/>
                <a:cs typeface="+mn-cs"/>
              </a:rPr>
              <a:t>: where discovering the best models is treated like a search problem through model parameter space.</a:t>
            </a:r>
          </a:p>
          <a:p>
            <a:pPr fontAlgn="base"/>
            <a:r>
              <a:rPr lang="en-US" sz="1200" b="1" i="0" kern="1200" dirty="0">
                <a:solidFill>
                  <a:schemeClr val="tx1"/>
                </a:solidFill>
                <a:effectLst/>
                <a:latin typeface="+mn-lt"/>
                <a:ea typeface="+mn-ea"/>
                <a:cs typeface="+mn-cs"/>
              </a:rPr>
              <a:t>Ensemble Methods</a:t>
            </a:r>
            <a:r>
              <a:rPr lang="en-US" sz="1200" b="0" i="0" kern="1200" dirty="0">
                <a:solidFill>
                  <a:schemeClr val="tx1"/>
                </a:solidFill>
                <a:effectLst/>
                <a:latin typeface="+mn-lt"/>
                <a:ea typeface="+mn-ea"/>
                <a:cs typeface="+mn-cs"/>
              </a:rPr>
              <a:t>: where the predictions made by multiple models are combined.</a:t>
            </a:r>
          </a:p>
          <a:p>
            <a:pPr fontAlgn="base"/>
            <a:r>
              <a:rPr lang="en-US" sz="1200" b="1" i="0" kern="1200" dirty="0">
                <a:solidFill>
                  <a:schemeClr val="tx1"/>
                </a:solidFill>
                <a:effectLst/>
                <a:latin typeface="+mn-lt"/>
                <a:ea typeface="+mn-ea"/>
                <a:cs typeface="+mn-cs"/>
              </a:rPr>
              <a:t>Extreme Feature Engineering</a:t>
            </a:r>
            <a:r>
              <a:rPr lang="en-US" sz="1200" b="0" i="0" kern="1200" dirty="0">
                <a:solidFill>
                  <a:schemeClr val="tx1"/>
                </a:solidFill>
                <a:effectLst/>
                <a:latin typeface="+mn-lt"/>
                <a:ea typeface="+mn-ea"/>
                <a:cs typeface="+mn-cs"/>
              </a:rPr>
              <a:t>: where the attribute decomposition and aggregation seen in data preparation is pushed to the limits.</a:t>
            </a:r>
          </a:p>
          <a:p>
            <a:endParaRPr lang="en-US" dirty="0"/>
          </a:p>
        </p:txBody>
      </p:sp>
      <p:sp>
        <p:nvSpPr>
          <p:cNvPr id="4" name="Footer Placeholder 3"/>
          <p:cNvSpPr>
            <a:spLocks noGrp="1"/>
          </p:cNvSpPr>
          <p:nvPr>
            <p:ph type="ftr" sz="quarter" idx="10"/>
          </p:nvPr>
        </p:nvSpPr>
        <p:spPr/>
        <p:txBody>
          <a:bodyPr/>
          <a:lstStyle/>
          <a:p>
            <a:r>
              <a:rPr lang="en-US"/>
              <a:t>Data Science in Practice</a:t>
            </a:r>
          </a:p>
        </p:txBody>
      </p:sp>
      <p:sp>
        <p:nvSpPr>
          <p:cNvPr id="5" name="Slide Number Placeholder 4"/>
          <p:cNvSpPr>
            <a:spLocks noGrp="1"/>
          </p:cNvSpPr>
          <p:nvPr>
            <p:ph type="sldNum" sz="quarter" idx="11"/>
          </p:nvPr>
        </p:nvSpPr>
        <p:spPr/>
        <p:txBody>
          <a:bodyPr/>
          <a:lstStyle/>
          <a:p>
            <a:fld id="{A200C385-F70F-4748-88AD-5F1AB775A549}" type="slidenum">
              <a:rPr lang="en-US" smtClean="0"/>
              <a:t>6</a:t>
            </a:fld>
            <a:endParaRPr lang="en-US"/>
          </a:p>
        </p:txBody>
      </p:sp>
    </p:spTree>
    <p:extLst>
      <p:ext uri="{BB962C8B-B14F-4D97-AF65-F5344CB8AC3E}">
        <p14:creationId xmlns:p14="http://schemas.microsoft.com/office/powerpoint/2010/main" val="3778162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Data sets differ in a number of ways. For example, the attributes used to describe data objects can be of different types-quantitative</a:t>
            </a:r>
          </a:p>
          <a:p>
            <a:r>
              <a:rPr lang="en-US" sz="1200" b="0" i="0" u="none" strike="noStrike" kern="1200" baseline="0" dirty="0">
                <a:solidFill>
                  <a:schemeClr val="tx1"/>
                </a:solidFill>
                <a:latin typeface="+mn-lt"/>
                <a:ea typeface="+mn-ea"/>
                <a:cs typeface="+mn-cs"/>
              </a:rPr>
              <a:t>or qualitative--and data sets may have special characteristics; e.g., some data sets contain time series or objects with explicit relationships to one another.</a:t>
            </a:r>
          </a:p>
          <a:p>
            <a:r>
              <a:rPr lang="en-US" sz="1200" b="0" i="0" u="none" strike="noStrike" kern="1200" baseline="0" dirty="0">
                <a:solidFill>
                  <a:schemeClr val="tx1"/>
                </a:solidFill>
                <a:latin typeface="+mn-lt"/>
                <a:ea typeface="+mn-ea"/>
                <a:cs typeface="+mn-cs"/>
              </a:rPr>
              <a:t>Not surprisingly, the type of data determines which tools and techniques can be used to analyze the data. Furthermore, new research in data mining is</a:t>
            </a:r>
          </a:p>
          <a:p>
            <a:r>
              <a:rPr lang="en-US" sz="1200" b="0" i="0" u="none" strike="noStrike" kern="1200" baseline="0" dirty="0">
                <a:solidFill>
                  <a:schemeClr val="tx1"/>
                </a:solidFill>
                <a:latin typeface="+mn-lt"/>
                <a:ea typeface="+mn-ea"/>
                <a:cs typeface="+mn-cs"/>
              </a:rPr>
              <a:t>often driven by t he need to accommodate new application areas and their new types of data.</a:t>
            </a:r>
            <a:endParaRPr lang="en-US" dirty="0"/>
          </a:p>
        </p:txBody>
      </p:sp>
      <p:sp>
        <p:nvSpPr>
          <p:cNvPr id="4" name="Footer Placeholder 3"/>
          <p:cNvSpPr>
            <a:spLocks noGrp="1"/>
          </p:cNvSpPr>
          <p:nvPr>
            <p:ph type="ftr" sz="quarter" idx="10"/>
          </p:nvPr>
        </p:nvSpPr>
        <p:spPr/>
        <p:txBody>
          <a:bodyPr/>
          <a:lstStyle/>
          <a:p>
            <a:r>
              <a:rPr lang="en-US"/>
              <a:t>Data Science in Practice</a:t>
            </a:r>
          </a:p>
        </p:txBody>
      </p:sp>
      <p:sp>
        <p:nvSpPr>
          <p:cNvPr id="5" name="Slide Number Placeholder 4"/>
          <p:cNvSpPr>
            <a:spLocks noGrp="1"/>
          </p:cNvSpPr>
          <p:nvPr>
            <p:ph type="sldNum" sz="quarter" idx="11"/>
          </p:nvPr>
        </p:nvSpPr>
        <p:spPr/>
        <p:txBody>
          <a:bodyPr/>
          <a:lstStyle/>
          <a:p>
            <a:fld id="{A200C385-F70F-4748-88AD-5F1AB775A549}" type="slidenum">
              <a:rPr lang="en-US" smtClean="0"/>
              <a:t>7</a:t>
            </a:fld>
            <a:endParaRPr lang="en-US"/>
          </a:p>
        </p:txBody>
      </p:sp>
    </p:spTree>
    <p:extLst>
      <p:ext uri="{BB962C8B-B14F-4D97-AF65-F5344CB8AC3E}">
        <p14:creationId xmlns:p14="http://schemas.microsoft.com/office/powerpoint/2010/main" val="1161979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Feature extraction is automatic (without human intervention) and multi-layered. The power of deep learning is not in its classification skills, but rather in its feature extraction skills.</a:t>
            </a:r>
          </a:p>
          <a:p>
            <a:r>
              <a:rPr lang="en-US" sz="1200" b="0" i="0" kern="1200" dirty="0">
                <a:solidFill>
                  <a:schemeClr val="tx1"/>
                </a:solidFill>
                <a:effectLst/>
                <a:latin typeface="+mn-lt"/>
                <a:ea typeface="+mn-ea"/>
                <a:cs typeface="+mn-cs"/>
              </a:rPr>
              <a:t>Feature engineering involves finding connections between variables and packaging them into a new single variable is called. Deep Learning performs automated feature engineering. Automated feature engineering is the defining characteristic of Deep Learning especially for unstructured data such as images. </a:t>
            </a:r>
            <a:endParaRPr lang="en-US" dirty="0"/>
          </a:p>
        </p:txBody>
      </p:sp>
      <p:sp>
        <p:nvSpPr>
          <p:cNvPr id="4" name="Footer Placeholder 3"/>
          <p:cNvSpPr>
            <a:spLocks noGrp="1"/>
          </p:cNvSpPr>
          <p:nvPr>
            <p:ph type="ftr" sz="quarter" idx="10"/>
          </p:nvPr>
        </p:nvSpPr>
        <p:spPr/>
        <p:txBody>
          <a:bodyPr/>
          <a:lstStyle/>
          <a:p>
            <a:r>
              <a:rPr lang="en-US"/>
              <a:t>Data Science in Practice</a:t>
            </a:r>
          </a:p>
        </p:txBody>
      </p:sp>
      <p:sp>
        <p:nvSpPr>
          <p:cNvPr id="5" name="Slide Number Placeholder 4"/>
          <p:cNvSpPr>
            <a:spLocks noGrp="1"/>
          </p:cNvSpPr>
          <p:nvPr>
            <p:ph type="sldNum" sz="quarter" idx="11"/>
          </p:nvPr>
        </p:nvSpPr>
        <p:spPr/>
        <p:txBody>
          <a:bodyPr/>
          <a:lstStyle/>
          <a:p>
            <a:fld id="{A200C385-F70F-4748-88AD-5F1AB775A549}" type="slidenum">
              <a:rPr lang="en-US" smtClean="0"/>
              <a:t>8</a:t>
            </a:fld>
            <a:endParaRPr lang="en-US"/>
          </a:p>
        </p:txBody>
      </p:sp>
    </p:spTree>
    <p:extLst>
      <p:ext uri="{BB962C8B-B14F-4D97-AF65-F5344CB8AC3E}">
        <p14:creationId xmlns:p14="http://schemas.microsoft.com/office/powerpoint/2010/main" val="1518500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8A83E46-851C-4A40-B52F-F4DEA9EB36E8}" type="slidenum">
              <a:rPr lang="en-US" altLang="en-US">
                <a:latin typeface="Calibri" panose="020F0502020204030204" pitchFamily="34" charset="0"/>
              </a:rPr>
              <a:pPr eaLnBrk="1" hangingPunct="1"/>
              <a:t>17</a:t>
            </a:fld>
            <a:endParaRPr lang="en-US" altLang="en-US">
              <a:latin typeface="Calibri" panose="020F0502020204030204" pitchFamily="34" charset="0"/>
            </a:endParaRPr>
          </a:p>
        </p:txBody>
      </p:sp>
      <p:sp>
        <p:nvSpPr>
          <p:cNvPr id="645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3610801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main goal in supervised learning is to learn a model from labeled training data that allows us to make predictions about unseen or future data. </a:t>
            </a:r>
          </a:p>
          <a:p>
            <a:r>
              <a:rPr lang="en-US" sz="1200" b="0" i="0" kern="1200" dirty="0">
                <a:solidFill>
                  <a:schemeClr val="tx1"/>
                </a:solidFill>
                <a:effectLst/>
                <a:latin typeface="+mn-lt"/>
                <a:ea typeface="+mn-ea"/>
                <a:cs typeface="+mn-cs"/>
              </a:rPr>
              <a:t>OR</a:t>
            </a:r>
          </a:p>
          <a:p>
            <a:r>
              <a:rPr lang="en-US" sz="1200" b="0" i="0" kern="1200" dirty="0">
                <a:solidFill>
                  <a:schemeClr val="tx1"/>
                </a:solidFill>
                <a:effectLst/>
                <a:latin typeface="+mn-lt"/>
                <a:ea typeface="+mn-ea"/>
                <a:cs typeface="+mn-cs"/>
              </a:rPr>
              <a:t>supervised learning where the goal is to predict the categorical/continuous class labels of new instances, based on past observations.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unsupervised learning, there is no label or target attribute. A typical example would be clustering data based on learned patterns.</a:t>
            </a:r>
            <a:endParaRPr lang="en-US" dirty="0"/>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Data Science in Practice</a:t>
            </a: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00C385-F70F-4748-88AD-5F1AB775A54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536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main goal in supervised learning is to learn a model from labeled training data that allows us to make predictions about unseen or future data. </a:t>
            </a:r>
          </a:p>
          <a:p>
            <a:r>
              <a:rPr lang="en-US" sz="1200" b="0" i="0" kern="1200" dirty="0">
                <a:solidFill>
                  <a:schemeClr val="tx1"/>
                </a:solidFill>
                <a:effectLst/>
                <a:latin typeface="+mn-lt"/>
                <a:ea typeface="+mn-ea"/>
                <a:cs typeface="+mn-cs"/>
              </a:rPr>
              <a:t>OR</a:t>
            </a:r>
          </a:p>
          <a:p>
            <a:r>
              <a:rPr lang="en-US" sz="1200" b="0" i="0" kern="1200" dirty="0">
                <a:solidFill>
                  <a:schemeClr val="tx1"/>
                </a:solidFill>
                <a:effectLst/>
                <a:latin typeface="+mn-lt"/>
                <a:ea typeface="+mn-ea"/>
                <a:cs typeface="+mn-cs"/>
              </a:rPr>
              <a:t>supervised learning where the goal is to predict the categorical/continuous class labels of new instances, based on past observations.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unsupervised learning, there is no label or target attribute. A typical example would be clustering data based on learned patterns.</a:t>
            </a:r>
            <a:endParaRPr lang="en-US" dirty="0"/>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Data Science in Practice</a:t>
            </a: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00C385-F70F-4748-88AD-5F1AB775A54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1224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4885E0-F656-40F2-9A25-9573688AC5C5}" type="slidenum">
              <a:rPr lang="en-US" smtClean="0"/>
              <a:t>64</a:t>
            </a:fld>
            <a:endParaRPr lang="en-US"/>
          </a:p>
        </p:txBody>
      </p:sp>
    </p:spTree>
    <p:extLst>
      <p:ext uri="{BB962C8B-B14F-4D97-AF65-F5344CB8AC3E}">
        <p14:creationId xmlns:p14="http://schemas.microsoft.com/office/powerpoint/2010/main" val="1850205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91FEB2CE-D593-483C-ACAB-1D63AE969D18}" type="datetimeFigureOut">
              <a:rPr lang="en-US" smtClean="0"/>
              <a:t>1/15/2026</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9E598048-A163-4A86-9513-D24A4AE19A21}"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91FEB2CE-D593-483C-ACAB-1D63AE969D18}" type="datetimeFigureOut">
              <a:rPr lang="en-US" smtClean="0"/>
              <a:t>1/15/2026</a:t>
            </a:fld>
            <a:endParaRPr lang="en-US"/>
          </a:p>
        </p:txBody>
      </p:sp>
      <p:sp>
        <p:nvSpPr>
          <p:cNvPr id="9" name="Slide Number Placeholder 8"/>
          <p:cNvSpPr>
            <a:spLocks noGrp="1"/>
          </p:cNvSpPr>
          <p:nvPr>
            <p:ph type="sldNum" sz="quarter" idx="15"/>
          </p:nvPr>
        </p:nvSpPr>
        <p:spPr/>
        <p:txBody>
          <a:bodyPr rtlCol="0"/>
          <a:lstStyle/>
          <a:p>
            <a:fld id="{9E598048-A163-4A86-9513-D24A4AE19A21}"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91FEB2CE-D593-483C-ACAB-1D63AE969D18}" type="datetimeFigureOut">
              <a:rPr lang="en-US" smtClean="0"/>
              <a:t>1/15/2026</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9E598048-A163-4A86-9513-D24A4AE19A21}"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91FEB2CE-D593-483C-ACAB-1D63AE969D18}"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98048-A163-4A86-9513-D24A4AE19A21}"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91FEB2CE-D593-483C-ACAB-1D63AE969D18}"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598048-A163-4A86-9513-D24A4AE19A21}"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91FEB2CE-D593-483C-ACAB-1D63AE969D18}" type="datetimeFigureOut">
              <a:rPr lang="en-US" smtClean="0"/>
              <a:t>1/15/2026</a:t>
            </a:fld>
            <a:endParaRPr lang="en-US"/>
          </a:p>
        </p:txBody>
      </p:sp>
      <p:sp>
        <p:nvSpPr>
          <p:cNvPr id="7" name="Slide Number Placeholder 6"/>
          <p:cNvSpPr>
            <a:spLocks noGrp="1"/>
          </p:cNvSpPr>
          <p:nvPr>
            <p:ph type="sldNum" sz="quarter" idx="11"/>
          </p:nvPr>
        </p:nvSpPr>
        <p:spPr/>
        <p:txBody>
          <a:bodyPr rtlCol="0"/>
          <a:lstStyle/>
          <a:p>
            <a:fld id="{9E598048-A163-4A86-9513-D24A4AE19A21}"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FEB2CE-D593-483C-ACAB-1D63AE969D18}" type="datetimeFigureOut">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598048-A163-4A86-9513-D24A4AE19A2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91FEB2CE-D593-483C-ACAB-1D63AE969D18}" type="datetimeFigureOut">
              <a:rPr lang="en-US" smtClean="0"/>
              <a:t>1/15/2026</a:t>
            </a:fld>
            <a:endParaRPr lang="en-US"/>
          </a:p>
        </p:txBody>
      </p:sp>
      <p:sp>
        <p:nvSpPr>
          <p:cNvPr id="22" name="Slide Number Placeholder 21"/>
          <p:cNvSpPr>
            <a:spLocks noGrp="1"/>
          </p:cNvSpPr>
          <p:nvPr>
            <p:ph type="sldNum" sz="quarter" idx="15"/>
          </p:nvPr>
        </p:nvSpPr>
        <p:spPr/>
        <p:txBody>
          <a:bodyPr rtlCol="0"/>
          <a:lstStyle/>
          <a:p>
            <a:fld id="{9E598048-A163-4A86-9513-D24A4AE19A21}"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91FEB2CE-D593-483C-ACAB-1D63AE969D18}" type="datetimeFigureOut">
              <a:rPr lang="en-US" smtClean="0"/>
              <a:t>1/15/2026</a:t>
            </a:fld>
            <a:endParaRPr lang="en-US"/>
          </a:p>
        </p:txBody>
      </p:sp>
      <p:sp>
        <p:nvSpPr>
          <p:cNvPr id="18" name="Slide Number Placeholder 17"/>
          <p:cNvSpPr>
            <a:spLocks noGrp="1"/>
          </p:cNvSpPr>
          <p:nvPr>
            <p:ph type="sldNum" sz="quarter" idx="11"/>
          </p:nvPr>
        </p:nvSpPr>
        <p:spPr/>
        <p:txBody>
          <a:bodyPr rtlCol="0"/>
          <a:lstStyle/>
          <a:p>
            <a:fld id="{9E598048-A163-4A86-9513-D24A4AE19A21}"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1FEB2CE-D593-483C-ACAB-1D63AE969D18}"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98048-A163-4A86-9513-D24A4AE19A2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1FEB2CE-D593-483C-ACAB-1D63AE969D18}"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98048-A163-4A86-9513-D24A4AE19A2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91FEB2CE-D593-483C-ACAB-1D63AE969D18}" type="datetimeFigureOut">
              <a:rPr lang="en-US" smtClean="0"/>
              <a:t>1/15/2026</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9E598048-A163-4A86-9513-D24A4AE19A2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hyperlink" Target="http://1stnbnm.com/images/nbc.gif"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3.wmf"/><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1066800"/>
            <a:ext cx="6985122" cy="5257800"/>
          </a:xfrm>
          <a:prstGeom prst="rect">
            <a:avLst/>
          </a:prstGeom>
        </p:spPr>
      </p:pic>
      <p:sp>
        <p:nvSpPr>
          <p:cNvPr id="6" name="Title 1"/>
          <p:cNvSpPr txBox="1">
            <a:spLocks/>
          </p:cNvSpPr>
          <p:nvPr/>
        </p:nvSpPr>
        <p:spPr>
          <a:xfrm>
            <a:off x="1676400" y="76200"/>
            <a:ext cx="8686800" cy="446562"/>
          </a:xfrm>
          <a:prstGeom prst="rect">
            <a:avLst/>
          </a:prstGeom>
        </p:spPr>
        <p:txBody>
          <a:bodyPr vert="horz" anchor="b">
            <a:no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r>
              <a:rPr lang="en-US" sz="3200" dirty="0"/>
              <a:t>Introduction to machine learning</a:t>
            </a:r>
          </a:p>
        </p:txBody>
      </p:sp>
    </p:spTree>
    <p:extLst>
      <p:ext uri="{BB962C8B-B14F-4D97-AF65-F5344CB8AC3E}">
        <p14:creationId xmlns:p14="http://schemas.microsoft.com/office/powerpoint/2010/main" val="1253001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BC828A-7766-40C1-A896-C0782D2DFF24}"/>
              </a:ext>
            </a:extLst>
          </p:cNvPr>
          <p:cNvSpPr txBox="1">
            <a:spLocks/>
          </p:cNvSpPr>
          <p:nvPr/>
        </p:nvSpPr>
        <p:spPr>
          <a:xfrm>
            <a:off x="533400" y="76200"/>
            <a:ext cx="7886700" cy="389951"/>
          </a:xfrm>
          <a:prstGeom prst="rect">
            <a:avLst/>
          </a:prstGeom>
        </p:spPr>
        <p:txBody>
          <a:bodyPr vert="horz" anchor="b">
            <a:no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r>
              <a:rPr lang="en-US"/>
              <a:t>Overview of ML</a:t>
            </a:r>
            <a:endParaRPr lang="en-US" dirty="0"/>
          </a:p>
        </p:txBody>
      </p:sp>
      <p:pic>
        <p:nvPicPr>
          <p:cNvPr id="5" name="Picture 2" descr="10 Companies Using Machine Learning in Cool Ways | WordStre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85800"/>
            <a:ext cx="7946446"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9895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C828A-7766-40C1-A896-C0782D2DFF24}"/>
              </a:ext>
            </a:extLst>
          </p:cNvPr>
          <p:cNvSpPr>
            <a:spLocks noGrp="1"/>
          </p:cNvSpPr>
          <p:nvPr>
            <p:ph type="title"/>
          </p:nvPr>
        </p:nvSpPr>
        <p:spPr>
          <a:xfrm>
            <a:off x="533400" y="76200"/>
            <a:ext cx="7886700" cy="389951"/>
          </a:xfrm>
        </p:spPr>
        <p:txBody>
          <a:bodyPr>
            <a:noAutofit/>
          </a:bodyPr>
          <a:lstStyle/>
          <a:p>
            <a:r>
              <a:rPr lang="en-US" dirty="0"/>
              <a:t>Overview of ML</a:t>
            </a:r>
          </a:p>
        </p:txBody>
      </p:sp>
      <p:sp>
        <p:nvSpPr>
          <p:cNvPr id="6" name="Slide Number Placeholder 5">
            <a:extLst>
              <a:ext uri="{FF2B5EF4-FFF2-40B4-BE49-F238E27FC236}">
                <a16:creationId xmlns:a16="http://schemas.microsoft.com/office/drawing/2014/main" id="{EE476B4F-FB77-4CBB-9003-98999A5E1A95}"/>
              </a:ext>
            </a:extLst>
          </p:cNvPr>
          <p:cNvSpPr>
            <a:spLocks noGrp="1"/>
          </p:cNvSpPr>
          <p:nvPr>
            <p:ph type="sldNum" sz="quarter" idx="4294967295"/>
          </p:nvPr>
        </p:nvSpPr>
        <p:spPr>
          <a:xfrm>
            <a:off x="6457950" y="5624513"/>
            <a:ext cx="2057400" cy="273844"/>
          </a:xfrm>
          <a:prstGeom prst="rect">
            <a:avLst/>
          </a:prstGeom>
        </p:spPr>
        <p:txBody>
          <a:bodyPr/>
          <a:lstStyle/>
          <a:p>
            <a:pPr algn="r"/>
            <a:fld id="{D50A3D7C-70F1-4B51-BC20-2772D1CDE1B2}" type="slidenum">
              <a:rPr lang="en-US" smtClean="0"/>
              <a:pPr algn="r"/>
              <a:t>3</a:t>
            </a:fld>
            <a:endParaRPr lang="en-US" dirty="0"/>
          </a:p>
        </p:txBody>
      </p:sp>
      <p:pic>
        <p:nvPicPr>
          <p:cNvPr id="7" name="Picture 6"/>
          <p:cNvPicPr>
            <a:picLocks noChangeAspect="1"/>
          </p:cNvPicPr>
          <p:nvPr/>
        </p:nvPicPr>
        <p:blipFill>
          <a:blip r:embed="rId2"/>
          <a:stretch>
            <a:fillRect/>
          </a:stretch>
        </p:blipFill>
        <p:spPr>
          <a:xfrm>
            <a:off x="152400" y="466150"/>
            <a:ext cx="8528445" cy="6087049"/>
          </a:xfrm>
          <a:prstGeom prst="rect">
            <a:avLst/>
          </a:prstGeom>
        </p:spPr>
      </p:pic>
      <p:sp>
        <p:nvSpPr>
          <p:cNvPr id="5" name="Oval 4"/>
          <p:cNvSpPr/>
          <p:nvPr/>
        </p:nvSpPr>
        <p:spPr>
          <a:xfrm>
            <a:off x="1091410" y="2010346"/>
            <a:ext cx="550572" cy="4636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75" b="1" dirty="0">
                <a:solidFill>
                  <a:srgbClr val="FFFF00"/>
                </a:solidFill>
              </a:rPr>
              <a:t>1</a:t>
            </a:r>
          </a:p>
        </p:txBody>
      </p:sp>
      <p:sp>
        <p:nvSpPr>
          <p:cNvPr id="9" name="Oval 8"/>
          <p:cNvSpPr/>
          <p:nvPr/>
        </p:nvSpPr>
        <p:spPr>
          <a:xfrm>
            <a:off x="4876263" y="1632847"/>
            <a:ext cx="550572" cy="4636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75" b="1" dirty="0">
                <a:solidFill>
                  <a:srgbClr val="FFFF00"/>
                </a:solidFill>
              </a:rPr>
              <a:t>2</a:t>
            </a:r>
          </a:p>
        </p:txBody>
      </p:sp>
      <p:sp>
        <p:nvSpPr>
          <p:cNvPr id="10" name="Oval 9"/>
          <p:cNvSpPr/>
          <p:nvPr/>
        </p:nvSpPr>
        <p:spPr>
          <a:xfrm>
            <a:off x="895112" y="4637070"/>
            <a:ext cx="550572" cy="4636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75" b="1" dirty="0">
                <a:solidFill>
                  <a:srgbClr val="FFFF00"/>
                </a:solidFill>
              </a:rPr>
              <a:t>3</a:t>
            </a:r>
          </a:p>
        </p:txBody>
      </p:sp>
      <p:sp>
        <p:nvSpPr>
          <p:cNvPr id="11" name="Oval 10"/>
          <p:cNvSpPr/>
          <p:nvPr/>
        </p:nvSpPr>
        <p:spPr>
          <a:xfrm>
            <a:off x="7055199" y="3486762"/>
            <a:ext cx="550572" cy="4636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75" b="1" dirty="0">
                <a:solidFill>
                  <a:srgbClr val="FFFF00"/>
                </a:solidFill>
              </a:rPr>
              <a:t>4</a:t>
            </a:r>
          </a:p>
        </p:txBody>
      </p:sp>
      <p:sp>
        <p:nvSpPr>
          <p:cNvPr id="12" name="Oval 11"/>
          <p:cNvSpPr/>
          <p:nvPr/>
        </p:nvSpPr>
        <p:spPr>
          <a:xfrm>
            <a:off x="4653752" y="4745866"/>
            <a:ext cx="550572" cy="4636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75" b="1" dirty="0">
                <a:solidFill>
                  <a:srgbClr val="FFFF00"/>
                </a:solidFill>
              </a:rPr>
              <a:t>6</a:t>
            </a:r>
          </a:p>
        </p:txBody>
      </p:sp>
      <p:sp>
        <p:nvSpPr>
          <p:cNvPr id="13" name="Oval 12"/>
          <p:cNvSpPr/>
          <p:nvPr/>
        </p:nvSpPr>
        <p:spPr>
          <a:xfrm>
            <a:off x="6936078" y="2666827"/>
            <a:ext cx="550572" cy="4636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75" b="1" dirty="0">
                <a:solidFill>
                  <a:srgbClr val="FFFF00"/>
                </a:solidFill>
              </a:rPr>
              <a:t>5</a:t>
            </a:r>
          </a:p>
        </p:txBody>
      </p:sp>
    </p:spTree>
    <p:extLst>
      <p:ext uri="{BB962C8B-B14F-4D97-AF65-F5344CB8AC3E}">
        <p14:creationId xmlns:p14="http://schemas.microsoft.com/office/powerpoint/2010/main" val="1422252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7467600" cy="503238"/>
          </a:xfrm>
        </p:spPr>
        <p:txBody>
          <a:bodyPr>
            <a:normAutofit fontScale="90000"/>
          </a:bodyPr>
          <a:lstStyle/>
          <a:p>
            <a:r>
              <a:rPr lang="en-US" altLang="zh-TW" dirty="0"/>
              <a:t>What is machine learning?</a:t>
            </a:r>
            <a:endParaRPr lang="en-US" dirty="0"/>
          </a:p>
        </p:txBody>
      </p:sp>
      <p:sp>
        <p:nvSpPr>
          <p:cNvPr id="3" name="Content Placeholder 2"/>
          <p:cNvSpPr>
            <a:spLocks noGrp="1"/>
          </p:cNvSpPr>
          <p:nvPr>
            <p:ph sz="quarter" idx="1"/>
          </p:nvPr>
        </p:nvSpPr>
        <p:spPr>
          <a:xfrm>
            <a:off x="304800" y="990600"/>
            <a:ext cx="8305800" cy="5410200"/>
          </a:xfrm>
        </p:spPr>
        <p:txBody>
          <a:bodyPr/>
          <a:lstStyle/>
          <a:p>
            <a:r>
              <a:rPr lang="en-US" altLang="zh-TW" dirty="0"/>
              <a:t>A branch of </a:t>
            </a:r>
            <a:r>
              <a:rPr lang="en-US" altLang="zh-TW" b="1" dirty="0"/>
              <a:t>artificial intelligence</a:t>
            </a:r>
            <a:r>
              <a:rPr lang="en-US" altLang="zh-TW" dirty="0"/>
              <a:t>, concerned with the design and development of algorithms that allow computers to evolve behaviors based on empirical data.</a:t>
            </a:r>
          </a:p>
          <a:p>
            <a:endParaRPr lang="en-US" altLang="zh-TW" dirty="0"/>
          </a:p>
          <a:p>
            <a:r>
              <a:rPr lang="en-US" altLang="zh-TW" dirty="0"/>
              <a:t>As intelligence requires knowledge, it is necessary for the computers to acquire knowledge.</a:t>
            </a:r>
            <a:endParaRPr lang="zh-TW" altLang="en-US" dirty="0"/>
          </a:p>
          <a:p>
            <a:endParaRPr lang="en-US" dirty="0"/>
          </a:p>
        </p:txBody>
      </p:sp>
    </p:spTree>
    <p:extLst>
      <p:ext uri="{BB962C8B-B14F-4D97-AF65-F5344CB8AC3E}">
        <p14:creationId xmlns:p14="http://schemas.microsoft.com/office/powerpoint/2010/main" val="3500040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568" y="304800"/>
            <a:ext cx="8574232"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9284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4D7AD-3AB5-4E1F-BEF1-FFF2CBC38208}"/>
              </a:ext>
            </a:extLst>
          </p:cNvPr>
          <p:cNvSpPr>
            <a:spLocks noGrp="1"/>
          </p:cNvSpPr>
          <p:nvPr>
            <p:ph type="title"/>
          </p:nvPr>
        </p:nvSpPr>
        <p:spPr>
          <a:xfrm>
            <a:off x="141944" y="942500"/>
            <a:ext cx="7886700" cy="447013"/>
          </a:xfrm>
        </p:spPr>
        <p:txBody>
          <a:bodyPr>
            <a:normAutofit fontScale="90000"/>
          </a:bodyPr>
          <a:lstStyle/>
          <a:p>
            <a:br>
              <a:rPr lang="en-US" b="1" dirty="0"/>
            </a:br>
            <a:r>
              <a:rPr lang="en-US" sz="3300" dirty="0"/>
              <a:t>Machine Learning Process Lifecycle</a:t>
            </a:r>
            <a:br>
              <a:rPr lang="en-US" b="1" dirty="0"/>
            </a:br>
            <a:endParaRPr lang="en-US" dirty="0"/>
          </a:p>
        </p:txBody>
      </p:sp>
      <p:sp>
        <p:nvSpPr>
          <p:cNvPr id="6" name="Slide Number Placeholder 5">
            <a:extLst>
              <a:ext uri="{FF2B5EF4-FFF2-40B4-BE49-F238E27FC236}">
                <a16:creationId xmlns:a16="http://schemas.microsoft.com/office/drawing/2014/main" id="{254829B0-BA8F-4DCC-9655-FA0E34A9F8BD}"/>
              </a:ext>
            </a:extLst>
          </p:cNvPr>
          <p:cNvSpPr>
            <a:spLocks noGrp="1"/>
          </p:cNvSpPr>
          <p:nvPr>
            <p:ph type="sldNum" sz="quarter" idx="4294967295"/>
          </p:nvPr>
        </p:nvSpPr>
        <p:spPr>
          <a:xfrm>
            <a:off x="6457950" y="5624513"/>
            <a:ext cx="2057400" cy="273844"/>
          </a:xfrm>
          <a:prstGeom prst="rect">
            <a:avLst/>
          </a:prstGeom>
        </p:spPr>
        <p:txBody>
          <a:bodyPr/>
          <a:lstStyle/>
          <a:p>
            <a:pPr algn="r"/>
            <a:fld id="{D50A3D7C-70F1-4B51-BC20-2772D1CDE1B2}" type="slidenum">
              <a:rPr lang="en-US" smtClean="0"/>
              <a:pPr algn="r"/>
              <a:t>6</a:t>
            </a:fld>
            <a:endParaRPr lang="en-US" dirty="0"/>
          </a:p>
        </p:txBody>
      </p:sp>
      <p:pic>
        <p:nvPicPr>
          <p:cNvPr id="8" name="Picture 7"/>
          <p:cNvPicPr>
            <a:picLocks noChangeAspect="1"/>
          </p:cNvPicPr>
          <p:nvPr/>
        </p:nvPicPr>
        <p:blipFill>
          <a:blip r:embed="rId3"/>
          <a:stretch>
            <a:fillRect/>
          </a:stretch>
        </p:blipFill>
        <p:spPr>
          <a:xfrm>
            <a:off x="457200" y="1613581"/>
            <a:ext cx="8107600" cy="4010932"/>
          </a:xfrm>
          <a:prstGeom prst="rect">
            <a:avLst/>
          </a:prstGeom>
        </p:spPr>
      </p:pic>
    </p:spTree>
    <p:extLst>
      <p:ext uri="{BB962C8B-B14F-4D97-AF65-F5344CB8AC3E}">
        <p14:creationId xmlns:p14="http://schemas.microsoft.com/office/powerpoint/2010/main" val="511533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4D7AD-3AB5-4E1F-BEF1-FFF2CBC38208}"/>
              </a:ext>
            </a:extLst>
          </p:cNvPr>
          <p:cNvSpPr>
            <a:spLocks noGrp="1"/>
          </p:cNvSpPr>
          <p:nvPr>
            <p:ph type="title"/>
          </p:nvPr>
        </p:nvSpPr>
        <p:spPr>
          <a:xfrm>
            <a:off x="0" y="827907"/>
            <a:ext cx="7886700" cy="629054"/>
          </a:xfrm>
        </p:spPr>
        <p:txBody>
          <a:bodyPr>
            <a:normAutofit fontScale="90000"/>
          </a:bodyPr>
          <a:lstStyle/>
          <a:p>
            <a:br>
              <a:rPr lang="en-US" b="1" dirty="0"/>
            </a:br>
            <a:r>
              <a:rPr lang="en-US" sz="3300" dirty="0"/>
              <a:t>Data</a:t>
            </a:r>
            <a:r>
              <a:rPr lang="en-US" b="1" dirty="0"/>
              <a:t> </a:t>
            </a:r>
            <a:br>
              <a:rPr lang="en-US" b="1" dirty="0"/>
            </a:br>
            <a:endParaRPr lang="en-US" dirty="0"/>
          </a:p>
        </p:txBody>
      </p:sp>
      <p:pic>
        <p:nvPicPr>
          <p:cNvPr id="8" name="Content Placeholder 7"/>
          <p:cNvPicPr>
            <a:picLocks noGrp="1" noChangeAspect="1"/>
          </p:cNvPicPr>
          <p:nvPr>
            <p:ph idx="1"/>
          </p:nvPr>
        </p:nvPicPr>
        <p:blipFill>
          <a:blip r:embed="rId3"/>
          <a:stretch>
            <a:fillRect/>
          </a:stretch>
        </p:blipFill>
        <p:spPr>
          <a:xfrm>
            <a:off x="4389714" y="1664065"/>
            <a:ext cx="1128713" cy="1985963"/>
          </a:xfrm>
          <a:prstGeom prst="rect">
            <a:avLst/>
          </a:prstGeom>
        </p:spPr>
      </p:pic>
      <p:sp>
        <p:nvSpPr>
          <p:cNvPr id="4" name="Date Placeholder 3">
            <a:extLst>
              <a:ext uri="{FF2B5EF4-FFF2-40B4-BE49-F238E27FC236}">
                <a16:creationId xmlns:a16="http://schemas.microsoft.com/office/drawing/2014/main" id="{11C26EC6-EE20-4D47-9BE7-0C232A3C6D26}"/>
              </a:ext>
            </a:extLst>
          </p:cNvPr>
          <p:cNvSpPr>
            <a:spLocks noGrp="1"/>
          </p:cNvSpPr>
          <p:nvPr>
            <p:ph type="dt" sz="half" idx="4294967295"/>
          </p:nvPr>
        </p:nvSpPr>
        <p:spPr>
          <a:xfrm>
            <a:off x="628650" y="5624513"/>
            <a:ext cx="2057400" cy="273844"/>
          </a:xfrm>
          <a:prstGeom prst="rect">
            <a:avLst/>
          </a:prstGeom>
        </p:spPr>
        <p:txBody>
          <a:bodyPr/>
          <a:lstStyle/>
          <a:p>
            <a:fld id="{6B8FB125-7CCC-4A63-81EC-46138269C865}" type="datetime1">
              <a:rPr lang="en-US" smtClean="0"/>
              <a:t>1/15/2026</a:t>
            </a:fld>
            <a:endParaRPr lang="en-US" dirty="0"/>
          </a:p>
        </p:txBody>
      </p:sp>
      <p:sp>
        <p:nvSpPr>
          <p:cNvPr id="12" name="Footer Placeholder 4">
            <a:extLst>
              <a:ext uri="{FF2B5EF4-FFF2-40B4-BE49-F238E27FC236}">
                <a16:creationId xmlns:a16="http://schemas.microsoft.com/office/drawing/2014/main" id="{3CFDF3AE-EA80-497A-B5F7-9F150D12C042}"/>
              </a:ext>
            </a:extLst>
          </p:cNvPr>
          <p:cNvSpPr>
            <a:spLocks noGrp="1"/>
          </p:cNvSpPr>
          <p:nvPr>
            <p:ph type="ftr" sz="quarter" idx="4294967295"/>
          </p:nvPr>
        </p:nvSpPr>
        <p:spPr>
          <a:xfrm>
            <a:off x="3028950" y="5624513"/>
            <a:ext cx="3086100" cy="273844"/>
          </a:xfrm>
          <a:prstGeom prst="rect">
            <a:avLst/>
          </a:prstGeom>
        </p:spPr>
        <p:txBody>
          <a:bodyPr/>
          <a:lstStyle/>
          <a:p>
            <a:r>
              <a:rPr lang="en-US" sz="1500" i="1" dirty="0">
                <a:solidFill>
                  <a:schemeClr val="accent2">
                    <a:lumMod val="75000"/>
                  </a:schemeClr>
                </a:solidFill>
                <a:latin typeface="Cambria" panose="02040503050406030204" pitchFamily="18" charset="0"/>
              </a:rPr>
              <a:t>Data Science in Practice</a:t>
            </a:r>
          </a:p>
        </p:txBody>
      </p:sp>
      <p:sp>
        <p:nvSpPr>
          <p:cNvPr id="6" name="Slide Number Placeholder 5">
            <a:extLst>
              <a:ext uri="{FF2B5EF4-FFF2-40B4-BE49-F238E27FC236}">
                <a16:creationId xmlns:a16="http://schemas.microsoft.com/office/drawing/2014/main" id="{254829B0-BA8F-4DCC-9655-FA0E34A9F8BD}"/>
              </a:ext>
            </a:extLst>
          </p:cNvPr>
          <p:cNvSpPr>
            <a:spLocks noGrp="1"/>
          </p:cNvSpPr>
          <p:nvPr>
            <p:ph type="sldNum" sz="quarter" idx="4294967295"/>
          </p:nvPr>
        </p:nvSpPr>
        <p:spPr>
          <a:xfrm>
            <a:off x="6457950" y="5624513"/>
            <a:ext cx="2057400" cy="273844"/>
          </a:xfrm>
          <a:prstGeom prst="rect">
            <a:avLst/>
          </a:prstGeom>
        </p:spPr>
        <p:txBody>
          <a:bodyPr/>
          <a:lstStyle/>
          <a:p>
            <a:pPr algn="r"/>
            <a:fld id="{D50A3D7C-70F1-4B51-BC20-2772D1CDE1B2}" type="slidenum">
              <a:rPr lang="en-US" smtClean="0"/>
              <a:pPr algn="r"/>
              <a:t>7</a:t>
            </a:fld>
            <a:endParaRPr lang="en-US" dirty="0"/>
          </a:p>
        </p:txBody>
      </p:sp>
      <p:pic>
        <p:nvPicPr>
          <p:cNvPr id="9" name="Picture 8"/>
          <p:cNvPicPr>
            <a:picLocks noChangeAspect="1"/>
          </p:cNvPicPr>
          <p:nvPr/>
        </p:nvPicPr>
        <p:blipFill>
          <a:blip r:embed="rId4"/>
          <a:stretch>
            <a:fillRect/>
          </a:stretch>
        </p:blipFill>
        <p:spPr>
          <a:xfrm>
            <a:off x="5486400" y="1875989"/>
            <a:ext cx="3214688" cy="1657350"/>
          </a:xfrm>
          <a:prstGeom prst="rect">
            <a:avLst/>
          </a:prstGeom>
        </p:spPr>
      </p:pic>
      <p:pic>
        <p:nvPicPr>
          <p:cNvPr id="10" name="Picture 9"/>
          <p:cNvPicPr>
            <a:picLocks noChangeAspect="1"/>
          </p:cNvPicPr>
          <p:nvPr/>
        </p:nvPicPr>
        <p:blipFill>
          <a:blip r:embed="rId5"/>
          <a:stretch>
            <a:fillRect/>
          </a:stretch>
        </p:blipFill>
        <p:spPr>
          <a:xfrm>
            <a:off x="1400175" y="3907970"/>
            <a:ext cx="2543175" cy="2028825"/>
          </a:xfrm>
          <a:prstGeom prst="rect">
            <a:avLst/>
          </a:prstGeom>
        </p:spPr>
      </p:pic>
      <p:pic>
        <p:nvPicPr>
          <p:cNvPr id="11" name="Picture 10"/>
          <p:cNvPicPr>
            <a:picLocks noChangeAspect="1"/>
          </p:cNvPicPr>
          <p:nvPr/>
        </p:nvPicPr>
        <p:blipFill>
          <a:blip r:embed="rId6"/>
          <a:stretch>
            <a:fillRect/>
          </a:stretch>
        </p:blipFill>
        <p:spPr>
          <a:xfrm>
            <a:off x="5698047" y="3952367"/>
            <a:ext cx="2121694" cy="1914525"/>
          </a:xfrm>
          <a:prstGeom prst="rect">
            <a:avLst/>
          </a:prstGeom>
        </p:spPr>
      </p:pic>
      <p:pic>
        <p:nvPicPr>
          <p:cNvPr id="5" name="Picture 4"/>
          <p:cNvPicPr>
            <a:picLocks noChangeAspect="1"/>
          </p:cNvPicPr>
          <p:nvPr/>
        </p:nvPicPr>
        <p:blipFill>
          <a:blip r:embed="rId7"/>
          <a:stretch>
            <a:fillRect/>
          </a:stretch>
        </p:blipFill>
        <p:spPr>
          <a:xfrm>
            <a:off x="0" y="1439597"/>
            <a:ext cx="4456387" cy="2305741"/>
          </a:xfrm>
          <a:prstGeom prst="rect">
            <a:avLst/>
          </a:prstGeom>
        </p:spPr>
      </p:pic>
    </p:spTree>
    <p:extLst>
      <p:ext uri="{BB962C8B-B14F-4D97-AF65-F5344CB8AC3E}">
        <p14:creationId xmlns:p14="http://schemas.microsoft.com/office/powerpoint/2010/main" val="1226470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Image result for Feature Engineering/extraction">
            <a:extLst>
              <a:ext uri="{FF2B5EF4-FFF2-40B4-BE49-F238E27FC236}">
                <a16:creationId xmlns:a16="http://schemas.microsoft.com/office/drawing/2014/main" id="{9B73167A-A9C1-443C-BCC9-BF8A0BA5C71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8600" y="685800"/>
            <a:ext cx="8457314" cy="594360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E70C1093-2B5B-4C5F-9635-0FCC60322BED}"/>
              </a:ext>
            </a:extLst>
          </p:cNvPr>
          <p:cNvSpPr>
            <a:spLocks noGrp="1"/>
          </p:cNvSpPr>
          <p:nvPr>
            <p:ph type="sldNum" sz="quarter" idx="4294967295"/>
          </p:nvPr>
        </p:nvSpPr>
        <p:spPr>
          <a:xfrm>
            <a:off x="6457950" y="5624513"/>
            <a:ext cx="2057400" cy="273844"/>
          </a:xfrm>
          <a:prstGeom prst="rect">
            <a:avLst/>
          </a:prstGeom>
        </p:spPr>
        <p:txBody>
          <a:bodyPr/>
          <a:lstStyle/>
          <a:p>
            <a:pPr algn="r"/>
            <a:fld id="{D50A3D7C-70F1-4B51-BC20-2772D1CDE1B2}" type="slidenum">
              <a:rPr lang="en-US" smtClean="0"/>
              <a:pPr algn="r"/>
              <a:t>8</a:t>
            </a:fld>
            <a:endParaRPr lang="en-US" dirty="0"/>
          </a:p>
        </p:txBody>
      </p:sp>
      <p:sp>
        <p:nvSpPr>
          <p:cNvPr id="2" name="TextBox 1">
            <a:extLst>
              <a:ext uri="{FF2B5EF4-FFF2-40B4-BE49-F238E27FC236}">
                <a16:creationId xmlns:a16="http://schemas.microsoft.com/office/drawing/2014/main" id="{5E6EAB89-94E0-4DC0-9A21-936678BAE4BA}"/>
              </a:ext>
            </a:extLst>
          </p:cNvPr>
          <p:cNvSpPr txBox="1"/>
          <p:nvPr/>
        </p:nvSpPr>
        <p:spPr>
          <a:xfrm>
            <a:off x="0" y="13648"/>
            <a:ext cx="2835323" cy="553998"/>
          </a:xfrm>
          <a:prstGeom prst="rect">
            <a:avLst/>
          </a:prstGeom>
          <a:noFill/>
        </p:spPr>
        <p:txBody>
          <a:bodyPr wrap="square" rtlCol="0">
            <a:spAutoFit/>
          </a:bodyPr>
          <a:lstStyle/>
          <a:p>
            <a:r>
              <a:rPr lang="en-US" sz="3000" cap="small" dirty="0">
                <a:solidFill>
                  <a:schemeClr val="tx2"/>
                </a:solidFill>
                <a:latin typeface="+mj-lt"/>
                <a:ea typeface="+mj-ea"/>
                <a:cs typeface="+mj-cs"/>
              </a:rPr>
              <a:t>Features</a:t>
            </a:r>
          </a:p>
        </p:txBody>
      </p:sp>
    </p:spTree>
    <p:extLst>
      <p:ext uri="{BB962C8B-B14F-4D97-AF65-F5344CB8AC3E}">
        <p14:creationId xmlns:p14="http://schemas.microsoft.com/office/powerpoint/2010/main" val="2843048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Algorithms</a:t>
            </a:r>
            <a:endParaRPr lang="en-US" dirty="0"/>
          </a:p>
        </p:txBody>
      </p:sp>
      <p:sp>
        <p:nvSpPr>
          <p:cNvPr id="3" name="Content Placeholder 2"/>
          <p:cNvSpPr>
            <a:spLocks noGrp="1"/>
          </p:cNvSpPr>
          <p:nvPr>
            <p:ph sz="quarter" idx="1"/>
          </p:nvPr>
        </p:nvSpPr>
        <p:spPr/>
        <p:txBody>
          <a:bodyPr/>
          <a:lstStyle/>
          <a:p>
            <a:r>
              <a:rPr lang="en-US" altLang="zh-TW" dirty="0"/>
              <a:t>The success of machine learning system also depends on the algorithms. </a:t>
            </a:r>
          </a:p>
          <a:p>
            <a:endParaRPr lang="en-US" altLang="zh-TW" dirty="0"/>
          </a:p>
          <a:p>
            <a:r>
              <a:rPr lang="en-US" altLang="zh-TW" dirty="0"/>
              <a:t>The algorithms control the search to find and build the knowledge structures.</a:t>
            </a:r>
            <a:endParaRPr lang="zh-TW" altLang="en-US" dirty="0"/>
          </a:p>
          <a:p>
            <a:endParaRPr lang="en-US" altLang="zh-TW" dirty="0"/>
          </a:p>
          <a:p>
            <a:r>
              <a:rPr lang="en-US" altLang="zh-TW" dirty="0"/>
              <a:t>The learning algorithms should extract useful information from training examples.</a:t>
            </a:r>
          </a:p>
          <a:p>
            <a:endParaRPr lang="en-US" dirty="0"/>
          </a:p>
        </p:txBody>
      </p:sp>
    </p:spTree>
    <p:extLst>
      <p:ext uri="{BB962C8B-B14F-4D97-AF65-F5344CB8AC3E}">
        <p14:creationId xmlns:p14="http://schemas.microsoft.com/office/powerpoint/2010/main" val="200936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4D7AD-3AB5-4E1F-BEF1-FFF2CBC38208}"/>
              </a:ext>
            </a:extLst>
          </p:cNvPr>
          <p:cNvSpPr>
            <a:spLocks noGrp="1"/>
          </p:cNvSpPr>
          <p:nvPr>
            <p:ph type="title"/>
          </p:nvPr>
        </p:nvSpPr>
        <p:spPr>
          <a:xfrm>
            <a:off x="152400" y="381000"/>
            <a:ext cx="7886700" cy="552734"/>
          </a:xfrm>
        </p:spPr>
        <p:txBody>
          <a:bodyPr>
            <a:normAutofit fontScale="90000"/>
          </a:bodyPr>
          <a:lstStyle/>
          <a:p>
            <a:br>
              <a:rPr lang="en-US" b="1" dirty="0"/>
            </a:br>
            <a:r>
              <a:rPr lang="en-US" sz="3300" dirty="0"/>
              <a:t>Learning</a:t>
            </a:r>
            <a:r>
              <a:rPr lang="en-US" b="1" dirty="0">
                <a:solidFill>
                  <a:srgbClr val="FFFF00"/>
                </a:solidFill>
              </a:rPr>
              <a:t> </a:t>
            </a:r>
            <a:r>
              <a:rPr lang="en-US" sz="3300" dirty="0"/>
              <a:t>Dimensions</a:t>
            </a:r>
            <a:br>
              <a:rPr lang="en-US" b="1" dirty="0"/>
            </a:br>
            <a:endParaRPr lang="en-US" dirty="0"/>
          </a:p>
        </p:txBody>
      </p:sp>
      <p:sp>
        <p:nvSpPr>
          <p:cNvPr id="6" name="Slide Number Placeholder 5">
            <a:extLst>
              <a:ext uri="{FF2B5EF4-FFF2-40B4-BE49-F238E27FC236}">
                <a16:creationId xmlns:a16="http://schemas.microsoft.com/office/drawing/2014/main" id="{254829B0-BA8F-4DCC-9655-FA0E34A9F8BD}"/>
              </a:ext>
            </a:extLst>
          </p:cNvPr>
          <p:cNvSpPr>
            <a:spLocks noGrp="1"/>
          </p:cNvSpPr>
          <p:nvPr>
            <p:ph type="sldNum" sz="quarter" idx="4294967295"/>
          </p:nvPr>
        </p:nvSpPr>
        <p:spPr>
          <a:xfrm>
            <a:off x="6457950" y="5624513"/>
            <a:ext cx="2057400" cy="273844"/>
          </a:xfrm>
          <a:prstGeom prst="rect">
            <a:avLst/>
          </a:prstGeom>
        </p:spPr>
        <p:txBody>
          <a:bodyPr/>
          <a:lstStyle/>
          <a:p>
            <a:pPr algn="r"/>
            <a:fld id="{D50A3D7C-70F1-4B51-BC20-2772D1CDE1B2}" type="slidenum">
              <a:rPr lang="en-US" smtClean="0"/>
              <a:pPr algn="r"/>
              <a:t>10</a:t>
            </a:fld>
            <a:endParaRPr lang="en-US" dirty="0"/>
          </a:p>
        </p:txBody>
      </p:sp>
      <p:pic>
        <p:nvPicPr>
          <p:cNvPr id="9" name="Picture 8"/>
          <p:cNvPicPr>
            <a:picLocks noChangeAspect="1"/>
          </p:cNvPicPr>
          <p:nvPr/>
        </p:nvPicPr>
        <p:blipFill>
          <a:blip r:embed="rId2"/>
          <a:stretch>
            <a:fillRect/>
          </a:stretch>
        </p:blipFill>
        <p:spPr>
          <a:xfrm>
            <a:off x="304800" y="657366"/>
            <a:ext cx="8416042" cy="4967147"/>
          </a:xfrm>
          <a:prstGeom prst="rect">
            <a:avLst/>
          </a:prstGeom>
        </p:spPr>
      </p:pic>
    </p:spTree>
    <p:extLst>
      <p:ext uri="{BB962C8B-B14F-4D97-AF65-F5344CB8AC3E}">
        <p14:creationId xmlns:p14="http://schemas.microsoft.com/office/powerpoint/2010/main" val="2886791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 y="933450"/>
            <a:ext cx="8562975" cy="554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7512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Supervised Learning</a:t>
            </a:r>
          </a:p>
        </p:txBody>
      </p:sp>
      <p:sp>
        <p:nvSpPr>
          <p:cNvPr id="3" name="Content Placeholder 2"/>
          <p:cNvSpPr>
            <a:spLocks noGrp="1"/>
          </p:cNvSpPr>
          <p:nvPr>
            <p:ph idx="1"/>
          </p:nvPr>
        </p:nvSpPr>
        <p:spPr>
          <a:xfrm>
            <a:off x="228600" y="1553756"/>
            <a:ext cx="3962587" cy="2758727"/>
          </a:xfrm>
        </p:spPr>
        <p:txBody>
          <a:bodyPr/>
          <a:lstStyle/>
          <a:p>
            <a:r>
              <a:rPr lang="en-US" sz="1800" dirty="0"/>
              <a:t>has seen the most advancements in recent years</a:t>
            </a:r>
          </a:p>
          <a:p>
            <a:r>
              <a:rPr lang="en-US" sz="1800" dirty="0"/>
              <a:t>Has many applications</a:t>
            </a:r>
          </a:p>
          <a:p>
            <a:endParaRPr lang="en-US" dirty="0"/>
          </a:p>
        </p:txBody>
      </p:sp>
      <p:pic>
        <p:nvPicPr>
          <p:cNvPr id="4" name="Picture 3"/>
          <p:cNvPicPr>
            <a:picLocks noChangeAspect="1"/>
          </p:cNvPicPr>
          <p:nvPr/>
        </p:nvPicPr>
        <p:blipFill>
          <a:blip r:embed="rId2"/>
          <a:stretch>
            <a:fillRect/>
          </a:stretch>
        </p:blipFill>
        <p:spPr>
          <a:xfrm>
            <a:off x="1292853" y="2604720"/>
            <a:ext cx="6445618" cy="4100880"/>
          </a:xfrm>
          <a:prstGeom prst="rect">
            <a:avLst/>
          </a:prstGeom>
        </p:spPr>
      </p:pic>
    </p:spTree>
    <p:extLst>
      <p:ext uri="{BB962C8B-B14F-4D97-AF65-F5344CB8AC3E}">
        <p14:creationId xmlns:p14="http://schemas.microsoft.com/office/powerpoint/2010/main" val="3983309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Supervised Learning</a:t>
            </a:r>
          </a:p>
        </p:txBody>
      </p:sp>
      <p:pic>
        <p:nvPicPr>
          <p:cNvPr id="4" name="Content Placeholder 3"/>
          <p:cNvPicPr>
            <a:picLocks noGrp="1" noChangeAspect="1"/>
          </p:cNvPicPr>
          <p:nvPr>
            <p:ph idx="1"/>
          </p:nvPr>
        </p:nvPicPr>
        <p:blipFill>
          <a:blip r:embed="rId2"/>
          <a:stretch>
            <a:fillRect/>
          </a:stretch>
        </p:blipFill>
        <p:spPr>
          <a:xfrm>
            <a:off x="377543" y="1600200"/>
            <a:ext cx="7775857" cy="4800600"/>
          </a:xfrm>
          <a:prstGeom prst="rect">
            <a:avLst/>
          </a:prstGeom>
        </p:spPr>
      </p:pic>
    </p:spTree>
    <p:extLst>
      <p:ext uri="{BB962C8B-B14F-4D97-AF65-F5344CB8AC3E}">
        <p14:creationId xmlns:p14="http://schemas.microsoft.com/office/powerpoint/2010/main" val="1432940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9" y="947738"/>
            <a:ext cx="8520112" cy="552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0203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9" y="838200"/>
            <a:ext cx="8611945"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1030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04800"/>
            <a:ext cx="8610600"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4154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9400" y="2590800"/>
            <a:ext cx="2000250" cy="105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Line 4"/>
          <p:cNvSpPr>
            <a:spLocks noChangeShapeType="1"/>
          </p:cNvSpPr>
          <p:nvPr/>
        </p:nvSpPr>
        <p:spPr bwMode="auto">
          <a:xfrm flipV="1">
            <a:off x="4819650" y="1676399"/>
            <a:ext cx="400050" cy="13716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pic>
        <p:nvPicPr>
          <p:cNvPr id="3072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76850" y="1219200"/>
            <a:ext cx="2171700" cy="1597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34000" y="4076699"/>
            <a:ext cx="2228850" cy="1320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Line 7"/>
          <p:cNvSpPr>
            <a:spLocks noChangeShapeType="1"/>
          </p:cNvSpPr>
          <p:nvPr/>
        </p:nvSpPr>
        <p:spPr bwMode="auto">
          <a:xfrm>
            <a:off x="4819650" y="3105149"/>
            <a:ext cx="800100" cy="1028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pic>
        <p:nvPicPr>
          <p:cNvPr id="30728"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6300" y="4362449"/>
            <a:ext cx="3468291" cy="9334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30729" name="Line 9"/>
          <p:cNvSpPr>
            <a:spLocks noChangeShapeType="1"/>
          </p:cNvSpPr>
          <p:nvPr/>
        </p:nvSpPr>
        <p:spPr bwMode="auto">
          <a:xfrm flipH="1">
            <a:off x="2705100" y="3619499"/>
            <a:ext cx="800100" cy="74295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30730" name="Text Box 10"/>
          <p:cNvSpPr txBox="1">
            <a:spLocks noChangeArrowheads="1"/>
          </p:cNvSpPr>
          <p:nvPr/>
        </p:nvSpPr>
        <p:spPr bwMode="auto">
          <a:xfrm>
            <a:off x="3162301" y="3905250"/>
            <a:ext cx="1579278" cy="900246"/>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050"/>
              <a:t>Naïve bayes</a:t>
            </a:r>
          </a:p>
          <a:p>
            <a:pPr eaLnBrk="1" hangingPunct="1"/>
            <a:r>
              <a:rPr lang="en-US" altLang="en-US" sz="1050"/>
              <a:t>(bayesnet learning)</a:t>
            </a:r>
          </a:p>
          <a:p>
            <a:pPr eaLnBrk="1" hangingPunct="1"/>
            <a:r>
              <a:rPr lang="en-US" altLang="en-US" sz="1050"/>
              <a:t>--Examples are used to</a:t>
            </a:r>
          </a:p>
          <a:p>
            <a:pPr eaLnBrk="1" hangingPunct="1"/>
            <a:r>
              <a:rPr lang="en-US" altLang="en-US" sz="1050"/>
              <a:t>   --Learn topology</a:t>
            </a:r>
          </a:p>
          <a:p>
            <a:pPr eaLnBrk="1" hangingPunct="1"/>
            <a:r>
              <a:rPr lang="en-US" altLang="en-US" sz="1050"/>
              <a:t>   --Learn CPTs</a:t>
            </a:r>
          </a:p>
        </p:txBody>
      </p:sp>
      <p:sp>
        <p:nvSpPr>
          <p:cNvPr id="30731" name="Text Box 11"/>
          <p:cNvSpPr txBox="1">
            <a:spLocks noChangeArrowheads="1"/>
          </p:cNvSpPr>
          <p:nvPr/>
        </p:nvSpPr>
        <p:spPr bwMode="auto">
          <a:xfrm>
            <a:off x="5619751" y="3276600"/>
            <a:ext cx="1579278" cy="73866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050"/>
              <a:t>Neural Nets</a:t>
            </a:r>
          </a:p>
          <a:p>
            <a:pPr eaLnBrk="1" hangingPunct="1"/>
            <a:r>
              <a:rPr lang="en-US" altLang="en-US" sz="1050"/>
              <a:t>--Examples are used to</a:t>
            </a:r>
          </a:p>
          <a:p>
            <a:pPr eaLnBrk="1" hangingPunct="1"/>
            <a:r>
              <a:rPr lang="en-US" altLang="en-US" sz="1050"/>
              <a:t>   --Learn topology</a:t>
            </a:r>
          </a:p>
          <a:p>
            <a:pPr eaLnBrk="1" hangingPunct="1"/>
            <a:r>
              <a:rPr lang="en-US" altLang="en-US" sz="1050"/>
              <a:t>   --Learn edge weights</a:t>
            </a:r>
          </a:p>
        </p:txBody>
      </p:sp>
      <p:sp>
        <p:nvSpPr>
          <p:cNvPr id="30732" name="Text Box 12"/>
          <p:cNvSpPr txBox="1">
            <a:spLocks noChangeArrowheads="1"/>
          </p:cNvSpPr>
          <p:nvPr/>
        </p:nvSpPr>
        <p:spPr bwMode="auto">
          <a:xfrm>
            <a:off x="4076701" y="933450"/>
            <a:ext cx="1579278" cy="73866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050"/>
              <a:t>Decision Trees</a:t>
            </a:r>
          </a:p>
          <a:p>
            <a:pPr eaLnBrk="1" hangingPunct="1"/>
            <a:r>
              <a:rPr lang="en-US" altLang="en-US" sz="1050"/>
              <a:t>--Examples are used to</a:t>
            </a:r>
          </a:p>
          <a:p>
            <a:pPr eaLnBrk="1" hangingPunct="1"/>
            <a:r>
              <a:rPr lang="en-US" altLang="en-US" sz="1050"/>
              <a:t>   --Learn topology</a:t>
            </a:r>
          </a:p>
          <a:p>
            <a:pPr eaLnBrk="1" hangingPunct="1"/>
            <a:r>
              <a:rPr lang="en-US" altLang="en-US" sz="1050"/>
              <a:t>   --Order of questions</a:t>
            </a:r>
          </a:p>
        </p:txBody>
      </p:sp>
      <p:sp>
        <p:nvSpPr>
          <p:cNvPr id="30733" name="Text Box 13"/>
          <p:cNvSpPr txBox="1">
            <a:spLocks noChangeArrowheads="1"/>
          </p:cNvSpPr>
          <p:nvPr/>
        </p:nvSpPr>
        <p:spPr bwMode="auto">
          <a:xfrm>
            <a:off x="876301" y="1447800"/>
            <a:ext cx="2015295" cy="900246"/>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050"/>
              <a:t>If patrons=full and day=Friday</a:t>
            </a:r>
          </a:p>
          <a:p>
            <a:pPr eaLnBrk="1" hangingPunct="1"/>
            <a:r>
              <a:rPr lang="en-US" altLang="en-US" sz="1050"/>
              <a:t>   then wait (0.3/0.7)</a:t>
            </a:r>
          </a:p>
          <a:p>
            <a:pPr eaLnBrk="1" hangingPunct="1"/>
            <a:r>
              <a:rPr lang="en-US" altLang="en-US" sz="1050"/>
              <a:t>If wait&gt;60 and Reservation=no</a:t>
            </a:r>
          </a:p>
          <a:p>
            <a:pPr eaLnBrk="1" hangingPunct="1"/>
            <a:r>
              <a:rPr lang="en-US" altLang="en-US" sz="1050"/>
              <a:t>   then wait (0.4/0.9)</a:t>
            </a:r>
          </a:p>
          <a:p>
            <a:pPr eaLnBrk="1" hangingPunct="1"/>
            <a:endParaRPr lang="en-US" altLang="en-US" sz="1050"/>
          </a:p>
        </p:txBody>
      </p:sp>
      <p:sp>
        <p:nvSpPr>
          <p:cNvPr id="30734" name="Text Box 14"/>
          <p:cNvSpPr txBox="1">
            <a:spLocks noChangeArrowheads="1"/>
          </p:cNvSpPr>
          <p:nvPr/>
        </p:nvSpPr>
        <p:spPr bwMode="auto">
          <a:xfrm>
            <a:off x="990601" y="2362200"/>
            <a:ext cx="1959191" cy="900246"/>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050"/>
              <a:t>Association rules</a:t>
            </a:r>
          </a:p>
          <a:p>
            <a:pPr eaLnBrk="1" hangingPunct="1"/>
            <a:r>
              <a:rPr lang="en-US" altLang="en-US" sz="1050"/>
              <a:t>--Examples are used to</a:t>
            </a:r>
          </a:p>
          <a:p>
            <a:pPr eaLnBrk="1" hangingPunct="1"/>
            <a:r>
              <a:rPr lang="en-US" altLang="en-US" sz="1050"/>
              <a:t>   --Learn support and</a:t>
            </a:r>
          </a:p>
          <a:p>
            <a:pPr eaLnBrk="1" hangingPunct="1"/>
            <a:r>
              <a:rPr lang="en-US" altLang="en-US" sz="1050"/>
              <a:t>      confidence of association </a:t>
            </a:r>
          </a:p>
          <a:p>
            <a:pPr eaLnBrk="1" hangingPunct="1"/>
            <a:r>
              <a:rPr lang="en-US" altLang="en-US" sz="1050"/>
              <a:t>      rules</a:t>
            </a:r>
          </a:p>
        </p:txBody>
      </p:sp>
      <p:sp>
        <p:nvSpPr>
          <p:cNvPr id="30735" name="Line 15"/>
          <p:cNvSpPr>
            <a:spLocks noChangeShapeType="1"/>
          </p:cNvSpPr>
          <p:nvPr/>
        </p:nvSpPr>
        <p:spPr bwMode="auto">
          <a:xfrm flipH="1" flipV="1">
            <a:off x="2705100" y="2019299"/>
            <a:ext cx="800100" cy="5715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grpSp>
        <p:nvGrpSpPr>
          <p:cNvPr id="2" name="Group 21"/>
          <p:cNvGrpSpPr>
            <a:grpSpLocks/>
          </p:cNvGrpSpPr>
          <p:nvPr/>
        </p:nvGrpSpPr>
        <p:grpSpPr bwMode="auto">
          <a:xfrm>
            <a:off x="762000" y="3390899"/>
            <a:ext cx="4229100" cy="2286000"/>
            <a:chOff x="0" y="2496"/>
            <a:chExt cx="3552" cy="1920"/>
          </a:xfrm>
        </p:grpSpPr>
        <p:sp>
          <p:nvSpPr>
            <p:cNvPr id="30741" name="Oval 17"/>
            <p:cNvSpPr>
              <a:spLocks noChangeArrowheads="1"/>
            </p:cNvSpPr>
            <p:nvPr/>
          </p:nvSpPr>
          <p:spPr bwMode="auto">
            <a:xfrm>
              <a:off x="0" y="2688"/>
              <a:ext cx="3552" cy="1728"/>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350"/>
            </a:p>
          </p:txBody>
        </p:sp>
        <p:pic>
          <p:nvPicPr>
            <p:cNvPr id="30742" name="Picture 20" descr="nbc">
              <a:hlinkClick r:id="rId7"/>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 y="2496"/>
              <a:ext cx="978" cy="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737" name="Line 22"/>
          <p:cNvSpPr>
            <a:spLocks noChangeShapeType="1"/>
          </p:cNvSpPr>
          <p:nvPr/>
        </p:nvSpPr>
        <p:spPr bwMode="auto">
          <a:xfrm>
            <a:off x="4933950" y="3105149"/>
            <a:ext cx="1485900"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30738" name="Text Box 23"/>
          <p:cNvSpPr txBox="1">
            <a:spLocks noChangeArrowheads="1"/>
          </p:cNvSpPr>
          <p:nvPr/>
        </p:nvSpPr>
        <p:spPr bwMode="auto">
          <a:xfrm>
            <a:off x="6465095" y="2944415"/>
            <a:ext cx="6463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350"/>
              <a:t>SVMs</a:t>
            </a:r>
          </a:p>
        </p:txBody>
      </p:sp>
      <p:sp>
        <p:nvSpPr>
          <p:cNvPr id="30739" name="Line 24"/>
          <p:cNvSpPr>
            <a:spLocks noChangeShapeType="1"/>
          </p:cNvSpPr>
          <p:nvPr/>
        </p:nvSpPr>
        <p:spPr bwMode="auto">
          <a:xfrm flipH="1" flipV="1">
            <a:off x="3333750" y="1847849"/>
            <a:ext cx="571500" cy="74295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30740" name="Text Box 25"/>
          <p:cNvSpPr txBox="1">
            <a:spLocks noChangeArrowheads="1"/>
          </p:cNvSpPr>
          <p:nvPr/>
        </p:nvSpPr>
        <p:spPr bwMode="auto">
          <a:xfrm>
            <a:off x="2990850" y="1333500"/>
            <a:ext cx="98296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350"/>
              <a:t>K-nearest </a:t>
            </a:r>
          </a:p>
          <a:p>
            <a:pPr eaLnBrk="1" hangingPunct="1"/>
            <a:r>
              <a:rPr lang="en-US" altLang="en-US" sz="1350"/>
              <a:t>neighbors</a:t>
            </a:r>
          </a:p>
        </p:txBody>
      </p:sp>
      <p:sp>
        <p:nvSpPr>
          <p:cNvPr id="23" name="Title 1"/>
          <p:cNvSpPr txBox="1">
            <a:spLocks/>
          </p:cNvSpPr>
          <p:nvPr/>
        </p:nvSpPr>
        <p:spPr>
          <a:xfrm>
            <a:off x="57150" y="38486"/>
            <a:ext cx="7886700" cy="46991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3000" cap="small" dirty="0">
                <a:solidFill>
                  <a:schemeClr val="tx2"/>
                </a:solidFill>
              </a:rPr>
              <a:t>Some useful classifier</a:t>
            </a:r>
          </a:p>
        </p:txBody>
      </p:sp>
      <p:sp>
        <p:nvSpPr>
          <p:cNvPr id="24" name="Oval 17"/>
          <p:cNvSpPr>
            <a:spLocks noChangeArrowheads="1"/>
          </p:cNvSpPr>
          <p:nvPr/>
        </p:nvSpPr>
        <p:spPr bwMode="auto">
          <a:xfrm>
            <a:off x="4228151" y="978098"/>
            <a:ext cx="4229100" cy="2057400"/>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1350"/>
          </a:p>
        </p:txBody>
      </p:sp>
    </p:spTree>
    <p:extLst>
      <p:ext uri="{BB962C8B-B14F-4D97-AF65-F5344CB8AC3E}">
        <p14:creationId xmlns:p14="http://schemas.microsoft.com/office/powerpoint/2010/main" val="531240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04800"/>
            <a:ext cx="8535390"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5788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586921"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3135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BC5FBC2-0120-4AE7-A7DF-FD6D11542CC6}"/>
              </a:ext>
            </a:extLst>
          </p:cNvPr>
          <p:cNvSpPr>
            <a:spLocks noGrp="1"/>
          </p:cNvSpPr>
          <p:nvPr>
            <p:ph type="sldNum" sz="quarter" idx="4294967295"/>
          </p:nvPr>
        </p:nvSpPr>
        <p:spPr>
          <a:xfrm>
            <a:off x="6457950" y="5624513"/>
            <a:ext cx="2057400" cy="273844"/>
          </a:xfrm>
          <a:prstGeom prst="rect">
            <a:avLst/>
          </a:prstGeom>
        </p:spPr>
        <p:txBody>
          <a:bodyPr/>
          <a:lstStyle/>
          <a:p>
            <a:pPr algn="r" defTabSz="685800">
              <a:defRPr/>
            </a:pPr>
            <a:fld id="{D50A3D7C-70F1-4B51-BC20-2772D1CDE1B2}" type="slidenum">
              <a:rPr lang="en-US" sz="1350">
                <a:solidFill>
                  <a:prstClr val="black"/>
                </a:solidFill>
                <a:latin typeface="Calibri" panose="020F0502020204030204"/>
              </a:rPr>
              <a:pPr algn="r" defTabSz="685800">
                <a:defRPr/>
              </a:pPr>
              <a:t>20</a:t>
            </a:fld>
            <a:endParaRPr lang="en-US" sz="1350" dirty="0">
              <a:solidFill>
                <a:prstClr val="black"/>
              </a:solidFill>
              <a:latin typeface="Calibri" panose="020F0502020204030204"/>
            </a:endParaRPr>
          </a:p>
        </p:txBody>
      </p:sp>
      <p:sp>
        <p:nvSpPr>
          <p:cNvPr id="3" name="Rectangle 2">
            <a:extLst>
              <a:ext uri="{FF2B5EF4-FFF2-40B4-BE49-F238E27FC236}">
                <a16:creationId xmlns:a16="http://schemas.microsoft.com/office/drawing/2014/main" id="{66A6EE1E-CC3B-47F4-8335-B5F1A7B8BB09}"/>
              </a:ext>
            </a:extLst>
          </p:cNvPr>
          <p:cNvSpPr/>
          <p:nvPr/>
        </p:nvSpPr>
        <p:spPr>
          <a:xfrm>
            <a:off x="129893" y="54113"/>
            <a:ext cx="6328057" cy="553998"/>
          </a:xfrm>
          <a:prstGeom prst="rect">
            <a:avLst/>
          </a:prstGeom>
        </p:spPr>
        <p:txBody>
          <a:bodyPr wrap="square">
            <a:spAutoFit/>
          </a:bodyPr>
          <a:lstStyle/>
          <a:p>
            <a:r>
              <a:rPr lang="en-US" sz="3000" cap="small" dirty="0">
                <a:solidFill>
                  <a:schemeClr val="tx2"/>
                </a:solidFill>
                <a:latin typeface="+mj-lt"/>
                <a:ea typeface="+mj-ea"/>
                <a:cs typeface="+mj-cs"/>
              </a:rPr>
              <a:t>Supervised</a:t>
            </a:r>
            <a:r>
              <a:rPr lang="en-US" sz="3000" b="1" dirty="0">
                <a:solidFill>
                  <a:srgbClr val="FFFF00"/>
                </a:solidFill>
                <a:latin typeface="+mj-lt"/>
              </a:rPr>
              <a:t> </a:t>
            </a:r>
            <a:r>
              <a:rPr lang="en-US" sz="3000" cap="small" dirty="0">
                <a:solidFill>
                  <a:schemeClr val="tx2"/>
                </a:solidFill>
                <a:latin typeface="+mj-lt"/>
                <a:ea typeface="+mj-ea"/>
                <a:cs typeface="+mj-cs"/>
              </a:rPr>
              <a:t>Learning</a:t>
            </a:r>
          </a:p>
        </p:txBody>
      </p:sp>
      <p:pic>
        <p:nvPicPr>
          <p:cNvPr id="5" name="Picture 4"/>
          <p:cNvPicPr>
            <a:picLocks noChangeAspect="1"/>
          </p:cNvPicPr>
          <p:nvPr/>
        </p:nvPicPr>
        <p:blipFill>
          <a:blip r:embed="rId3"/>
          <a:stretch>
            <a:fillRect/>
          </a:stretch>
        </p:blipFill>
        <p:spPr>
          <a:xfrm>
            <a:off x="164012" y="1515606"/>
            <a:ext cx="7279669" cy="4808994"/>
          </a:xfrm>
          <a:prstGeom prst="rect">
            <a:avLst/>
          </a:prstGeom>
        </p:spPr>
      </p:pic>
      <p:pic>
        <p:nvPicPr>
          <p:cNvPr id="9" name="Picture 8"/>
          <p:cNvPicPr>
            <a:picLocks noChangeAspect="1"/>
          </p:cNvPicPr>
          <p:nvPr/>
        </p:nvPicPr>
        <p:blipFill>
          <a:blip r:embed="rId4"/>
          <a:stretch>
            <a:fillRect/>
          </a:stretch>
        </p:blipFill>
        <p:spPr>
          <a:xfrm>
            <a:off x="5029200" y="294790"/>
            <a:ext cx="3657600" cy="2011092"/>
          </a:xfrm>
          <a:prstGeom prst="rect">
            <a:avLst/>
          </a:prstGeom>
        </p:spPr>
      </p:pic>
    </p:spTree>
    <p:extLst>
      <p:ext uri="{BB962C8B-B14F-4D97-AF65-F5344CB8AC3E}">
        <p14:creationId xmlns:p14="http://schemas.microsoft.com/office/powerpoint/2010/main" val="4157936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31" y="228600"/>
            <a:ext cx="8592069"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5868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Supervised Learning</a:t>
            </a:r>
          </a:p>
        </p:txBody>
      </p:sp>
      <p:sp>
        <p:nvSpPr>
          <p:cNvPr id="3" name="Content Placeholder 2"/>
          <p:cNvSpPr>
            <a:spLocks noGrp="1"/>
          </p:cNvSpPr>
          <p:nvPr>
            <p:ph idx="1"/>
          </p:nvPr>
        </p:nvSpPr>
        <p:spPr/>
        <p:txBody>
          <a:bodyPr/>
          <a:lstStyle/>
          <a:p>
            <a:r>
              <a:rPr lang="en-US" sz="2100" dirty="0">
                <a:latin typeface="+mj-lt"/>
                <a:ea typeface="+mj-ea"/>
                <a:cs typeface="+mj-cs"/>
              </a:rPr>
              <a:t>Credit card fraud detection</a:t>
            </a:r>
          </a:p>
          <a:p>
            <a:r>
              <a:rPr lang="en-US" sz="2100" dirty="0">
                <a:latin typeface="+mj-lt"/>
                <a:ea typeface="+mj-ea"/>
                <a:cs typeface="+mj-cs"/>
              </a:rPr>
              <a:t>Image classification</a:t>
            </a:r>
          </a:p>
          <a:p>
            <a:r>
              <a:rPr lang="en-US" sz="2100" dirty="0">
                <a:latin typeface="+mj-lt"/>
                <a:ea typeface="+mj-ea"/>
                <a:cs typeface="+mj-cs"/>
              </a:rPr>
              <a:t>Weather forecasting</a:t>
            </a:r>
          </a:p>
          <a:p>
            <a:r>
              <a:rPr lang="en-US" sz="2100" dirty="0">
                <a:latin typeface="+mj-lt"/>
                <a:ea typeface="+mj-ea"/>
                <a:cs typeface="+mj-cs"/>
              </a:rPr>
              <a:t>Heart Disease Prediction</a:t>
            </a:r>
          </a:p>
          <a:p>
            <a:endParaRPr lang="en-US" dirty="0"/>
          </a:p>
        </p:txBody>
      </p:sp>
    </p:spTree>
    <p:extLst>
      <p:ext uri="{BB962C8B-B14F-4D97-AF65-F5344CB8AC3E}">
        <p14:creationId xmlns:p14="http://schemas.microsoft.com/office/powerpoint/2010/main" val="189209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 y="962024"/>
            <a:ext cx="8639175" cy="551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964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947738"/>
            <a:ext cx="8439150" cy="537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54967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Unsupervised Learning</a:t>
            </a:r>
          </a:p>
        </p:txBody>
      </p:sp>
      <p:sp>
        <p:nvSpPr>
          <p:cNvPr id="4" name="Rectangle 1"/>
          <p:cNvSpPr>
            <a:spLocks noGrp="1" noChangeArrowheads="1"/>
          </p:cNvSpPr>
          <p:nvPr>
            <p:ph idx="1"/>
          </p:nvPr>
        </p:nvSpPr>
        <p:spPr bwMode="auto">
          <a:xfrm>
            <a:off x="628650" y="2215842"/>
            <a:ext cx="4462895"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sz="1350" dirty="0">
                <a:latin typeface="Arial" panose="020B0604020202020204" pitchFamily="34" charset="0"/>
              </a:rPr>
              <a:t>No labels, discover patterns</a:t>
            </a:r>
          </a:p>
          <a:p>
            <a:pPr eaLnBrk="0" fontAlgn="base" hangingPunct="0">
              <a:lnSpc>
                <a:spcPct val="100000"/>
              </a:lnSpc>
              <a:spcBef>
                <a:spcPct val="0"/>
              </a:spcBef>
              <a:spcAft>
                <a:spcPct val="0"/>
              </a:spcAft>
            </a:pPr>
            <a:r>
              <a:rPr lang="en-US" altLang="en-US" sz="1350" dirty="0">
                <a:latin typeface="Arial" panose="020B0604020202020204" pitchFamily="34" charset="0"/>
              </a:rPr>
              <a:t>Examples: Customer segmentation, topic modeling</a:t>
            </a:r>
          </a:p>
        </p:txBody>
      </p:sp>
      <p:pic>
        <p:nvPicPr>
          <p:cNvPr id="6" name="Picture 5"/>
          <p:cNvPicPr>
            <a:picLocks noChangeAspect="1"/>
          </p:cNvPicPr>
          <p:nvPr/>
        </p:nvPicPr>
        <p:blipFill>
          <a:blip r:embed="rId2"/>
          <a:stretch>
            <a:fillRect/>
          </a:stretch>
        </p:blipFill>
        <p:spPr>
          <a:xfrm>
            <a:off x="2228850" y="2776213"/>
            <a:ext cx="4686300" cy="2621756"/>
          </a:xfrm>
          <a:prstGeom prst="rect">
            <a:avLst/>
          </a:prstGeom>
        </p:spPr>
      </p:pic>
    </p:spTree>
    <p:extLst>
      <p:ext uri="{BB962C8B-B14F-4D97-AF65-F5344CB8AC3E}">
        <p14:creationId xmlns:p14="http://schemas.microsoft.com/office/powerpoint/2010/main" val="8651018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563476"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9465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557591"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50280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36" y="561109"/>
            <a:ext cx="8491946"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0974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559605"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28675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228600"/>
            <a:ext cx="8582025"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4765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BC5FBC2-0120-4AE7-A7DF-FD6D11542CC6}"/>
              </a:ext>
            </a:extLst>
          </p:cNvPr>
          <p:cNvSpPr>
            <a:spLocks noGrp="1"/>
          </p:cNvSpPr>
          <p:nvPr>
            <p:ph type="sldNum" sz="quarter" idx="4294967295"/>
          </p:nvPr>
        </p:nvSpPr>
        <p:spPr>
          <a:xfrm>
            <a:off x="6457950" y="5624513"/>
            <a:ext cx="2057400" cy="273844"/>
          </a:xfrm>
          <a:prstGeom prst="rect">
            <a:avLst/>
          </a:prstGeom>
        </p:spPr>
        <p:txBody>
          <a:bodyPr/>
          <a:lstStyle/>
          <a:p>
            <a:pPr algn="r" defTabSz="685800">
              <a:defRPr/>
            </a:pPr>
            <a:fld id="{D50A3D7C-70F1-4B51-BC20-2772D1CDE1B2}" type="slidenum">
              <a:rPr lang="en-US" sz="1350">
                <a:solidFill>
                  <a:prstClr val="black"/>
                </a:solidFill>
                <a:latin typeface="Calibri" panose="020F0502020204030204"/>
              </a:rPr>
              <a:pPr algn="r" defTabSz="685800">
                <a:defRPr/>
              </a:pPr>
              <a:t>31</a:t>
            </a:fld>
            <a:endParaRPr lang="en-US" sz="1350" dirty="0">
              <a:solidFill>
                <a:prstClr val="black"/>
              </a:solidFill>
              <a:latin typeface="Calibri" panose="020F0502020204030204"/>
            </a:endParaRPr>
          </a:p>
        </p:txBody>
      </p:sp>
      <p:sp>
        <p:nvSpPr>
          <p:cNvPr id="3" name="Rectangle 2">
            <a:extLst>
              <a:ext uri="{FF2B5EF4-FFF2-40B4-BE49-F238E27FC236}">
                <a16:creationId xmlns:a16="http://schemas.microsoft.com/office/drawing/2014/main" id="{66A6EE1E-CC3B-47F4-8335-B5F1A7B8BB09}"/>
              </a:ext>
            </a:extLst>
          </p:cNvPr>
          <p:cNvSpPr/>
          <p:nvPr/>
        </p:nvSpPr>
        <p:spPr>
          <a:xfrm>
            <a:off x="129893" y="21602"/>
            <a:ext cx="6328057" cy="553998"/>
          </a:xfrm>
          <a:prstGeom prst="rect">
            <a:avLst/>
          </a:prstGeom>
        </p:spPr>
        <p:txBody>
          <a:bodyPr wrap="square">
            <a:spAutoFit/>
          </a:bodyPr>
          <a:lstStyle/>
          <a:p>
            <a:r>
              <a:rPr lang="en-US" sz="3000" cap="small" dirty="0">
                <a:solidFill>
                  <a:schemeClr val="tx2"/>
                </a:solidFill>
                <a:latin typeface="+mj-lt"/>
                <a:ea typeface="+mj-ea"/>
                <a:cs typeface="+mj-cs"/>
              </a:rPr>
              <a:t>Unsupervised</a:t>
            </a:r>
            <a:r>
              <a:rPr lang="en-US" sz="3000" b="1" dirty="0">
                <a:solidFill>
                  <a:srgbClr val="FFFF00"/>
                </a:solidFill>
                <a:latin typeface="+mj-lt"/>
              </a:rPr>
              <a:t> </a:t>
            </a:r>
            <a:r>
              <a:rPr lang="en-US" sz="3000" cap="small" dirty="0">
                <a:solidFill>
                  <a:schemeClr val="tx2"/>
                </a:solidFill>
                <a:latin typeface="+mj-lt"/>
                <a:ea typeface="+mj-ea"/>
                <a:cs typeface="+mj-cs"/>
              </a:rPr>
              <a:t>Learning</a:t>
            </a:r>
          </a:p>
        </p:txBody>
      </p:sp>
      <p:pic>
        <p:nvPicPr>
          <p:cNvPr id="9" name="Picture 8"/>
          <p:cNvPicPr>
            <a:picLocks noChangeAspect="1"/>
          </p:cNvPicPr>
          <p:nvPr/>
        </p:nvPicPr>
        <p:blipFill>
          <a:blip r:embed="rId3"/>
          <a:stretch>
            <a:fillRect/>
          </a:stretch>
        </p:blipFill>
        <p:spPr>
          <a:xfrm>
            <a:off x="134442" y="1898141"/>
            <a:ext cx="7468691" cy="4959859"/>
          </a:xfrm>
          <a:prstGeom prst="rect">
            <a:avLst/>
          </a:prstGeom>
        </p:spPr>
      </p:pic>
      <p:pic>
        <p:nvPicPr>
          <p:cNvPr id="10" name="Picture 9"/>
          <p:cNvPicPr>
            <a:picLocks noChangeAspect="1"/>
          </p:cNvPicPr>
          <p:nvPr/>
        </p:nvPicPr>
        <p:blipFill>
          <a:blip r:embed="rId4"/>
          <a:stretch>
            <a:fillRect/>
          </a:stretch>
        </p:blipFill>
        <p:spPr>
          <a:xfrm>
            <a:off x="4572000" y="484448"/>
            <a:ext cx="4211190" cy="2331518"/>
          </a:xfrm>
          <a:prstGeom prst="rect">
            <a:avLst/>
          </a:prstGeom>
        </p:spPr>
      </p:pic>
    </p:spTree>
    <p:extLst>
      <p:ext uri="{BB962C8B-B14F-4D97-AF65-F5344CB8AC3E}">
        <p14:creationId xmlns:p14="http://schemas.microsoft.com/office/powerpoint/2010/main" val="39101144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Unsupervised Learning</a:t>
            </a:r>
          </a:p>
        </p:txBody>
      </p:sp>
      <p:sp>
        <p:nvSpPr>
          <p:cNvPr id="3" name="Content Placeholder 2"/>
          <p:cNvSpPr>
            <a:spLocks noGrp="1"/>
          </p:cNvSpPr>
          <p:nvPr>
            <p:ph idx="1"/>
          </p:nvPr>
        </p:nvSpPr>
        <p:spPr/>
        <p:txBody>
          <a:bodyPr/>
          <a:lstStyle/>
          <a:p>
            <a:r>
              <a:rPr lang="en-US" dirty="0">
                <a:latin typeface="+mj-lt"/>
                <a:ea typeface="+mj-ea"/>
                <a:cs typeface="+mj-cs"/>
              </a:rPr>
              <a:t>Customer segmentation</a:t>
            </a:r>
          </a:p>
          <a:p>
            <a:r>
              <a:rPr lang="en-US" dirty="0">
                <a:latin typeface="+mj-lt"/>
                <a:ea typeface="+mj-ea"/>
                <a:cs typeface="+mj-cs"/>
              </a:rPr>
              <a:t>Anomaly detection</a:t>
            </a:r>
          </a:p>
          <a:p>
            <a:endParaRPr lang="en-US" dirty="0"/>
          </a:p>
        </p:txBody>
      </p:sp>
    </p:spTree>
    <p:extLst>
      <p:ext uri="{BB962C8B-B14F-4D97-AF65-F5344CB8AC3E}">
        <p14:creationId xmlns:p14="http://schemas.microsoft.com/office/powerpoint/2010/main" val="37186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976313"/>
            <a:ext cx="86487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09318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Reinforcement Learning</a:t>
            </a:r>
          </a:p>
        </p:txBody>
      </p:sp>
      <p:sp>
        <p:nvSpPr>
          <p:cNvPr id="3" name="Content Placeholder 2"/>
          <p:cNvSpPr>
            <a:spLocks noGrp="1"/>
          </p:cNvSpPr>
          <p:nvPr>
            <p:ph idx="1"/>
          </p:nvPr>
        </p:nvSpPr>
        <p:spPr/>
        <p:txBody>
          <a:bodyPr/>
          <a:lstStyle/>
          <a:p>
            <a:r>
              <a:rPr lang="en-US" b="1" dirty="0"/>
              <a:t> </a:t>
            </a:r>
            <a:r>
              <a:rPr lang="en-US" dirty="0"/>
              <a:t>Is a branch of machine learning that focuses on how agents can learn to make decisions through trial and error to maximize cumulative rewards.</a:t>
            </a:r>
          </a:p>
        </p:txBody>
      </p:sp>
    </p:spTree>
    <p:extLst>
      <p:ext uri="{BB962C8B-B14F-4D97-AF65-F5344CB8AC3E}">
        <p14:creationId xmlns:p14="http://schemas.microsoft.com/office/powerpoint/2010/main" val="3142263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Reinforcement Learning</a:t>
            </a:r>
          </a:p>
        </p:txBody>
      </p:sp>
      <p:pic>
        <p:nvPicPr>
          <p:cNvPr id="4" name="Content Placeholder 3"/>
          <p:cNvPicPr>
            <a:picLocks noGrp="1" noChangeAspect="1"/>
          </p:cNvPicPr>
          <p:nvPr>
            <p:ph idx="1"/>
          </p:nvPr>
        </p:nvPicPr>
        <p:blipFill>
          <a:blip r:embed="rId2"/>
          <a:stretch>
            <a:fillRect/>
          </a:stretch>
        </p:blipFill>
        <p:spPr>
          <a:xfrm>
            <a:off x="481781" y="1752600"/>
            <a:ext cx="7623319" cy="4449761"/>
          </a:xfrm>
          <a:prstGeom prst="rect">
            <a:avLst/>
          </a:prstGeom>
        </p:spPr>
      </p:pic>
    </p:spTree>
    <p:extLst>
      <p:ext uri="{BB962C8B-B14F-4D97-AF65-F5344CB8AC3E}">
        <p14:creationId xmlns:p14="http://schemas.microsoft.com/office/powerpoint/2010/main" val="32468539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6200"/>
            <a:ext cx="86106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22247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 y="762000"/>
            <a:ext cx="851535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06994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Reinforcement Learning</a:t>
            </a:r>
          </a:p>
        </p:txBody>
      </p:sp>
      <p:sp>
        <p:nvSpPr>
          <p:cNvPr id="3" name="Content Placeholder 2"/>
          <p:cNvSpPr>
            <a:spLocks noGrp="1"/>
          </p:cNvSpPr>
          <p:nvPr>
            <p:ph idx="1"/>
          </p:nvPr>
        </p:nvSpPr>
        <p:spPr/>
        <p:txBody>
          <a:bodyPr/>
          <a:lstStyle/>
          <a:p>
            <a:r>
              <a:rPr lang="en-US" dirty="0"/>
              <a:t>Chat bots</a:t>
            </a:r>
          </a:p>
          <a:p>
            <a:r>
              <a:rPr lang="en-US" dirty="0"/>
              <a:t>Text Summarization</a:t>
            </a:r>
          </a:p>
          <a:p>
            <a:r>
              <a:rPr lang="en-US" dirty="0"/>
              <a:t>Robotics</a:t>
            </a:r>
          </a:p>
          <a:p>
            <a:r>
              <a:rPr lang="en-US" dirty="0"/>
              <a:t>Gaming</a:t>
            </a:r>
          </a:p>
        </p:txBody>
      </p:sp>
    </p:spTree>
    <p:extLst>
      <p:ext uri="{BB962C8B-B14F-4D97-AF65-F5344CB8AC3E}">
        <p14:creationId xmlns:p14="http://schemas.microsoft.com/office/powerpoint/2010/main" val="40127686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6200"/>
            <a:ext cx="8610600" cy="6705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55517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 y="152400"/>
            <a:ext cx="8534401"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10129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09600"/>
            <a:ext cx="857926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07540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85800"/>
            <a:ext cx="8518605"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01332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533400"/>
            <a:ext cx="8542038"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5321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9" y="680862"/>
            <a:ext cx="8610601" cy="5796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31970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1" y="228600"/>
            <a:ext cx="85344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99384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1" y="152400"/>
            <a:ext cx="85344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01537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0"/>
            <a:ext cx="8549091"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31065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9" y="1177636"/>
            <a:ext cx="8638067" cy="5070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25554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570157"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77605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316182"/>
            <a:ext cx="8572218" cy="4017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10911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6200"/>
            <a:ext cx="8610600" cy="6705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55517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9" y="1295400"/>
            <a:ext cx="8520111"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22305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9" y="609600"/>
            <a:ext cx="8520111"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75822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76400"/>
            <a:ext cx="8509251"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35291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71525"/>
            <a:ext cx="8610600" cy="555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43104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4D7AD-3AB5-4E1F-BEF1-FFF2CBC38208}"/>
              </a:ext>
            </a:extLst>
          </p:cNvPr>
          <p:cNvSpPr>
            <a:spLocks noGrp="1"/>
          </p:cNvSpPr>
          <p:nvPr>
            <p:ph type="title"/>
          </p:nvPr>
        </p:nvSpPr>
        <p:spPr>
          <a:xfrm>
            <a:off x="40090" y="356217"/>
            <a:ext cx="7886700" cy="556592"/>
          </a:xfrm>
        </p:spPr>
        <p:txBody>
          <a:bodyPr>
            <a:normAutofit fontScale="90000"/>
          </a:bodyPr>
          <a:lstStyle/>
          <a:p>
            <a:br>
              <a:rPr lang="en-US" b="1" dirty="0">
                <a:solidFill>
                  <a:srgbClr val="FFFF00"/>
                </a:solidFill>
              </a:rPr>
            </a:br>
            <a:r>
              <a:rPr lang="en-US" sz="3300" dirty="0"/>
              <a:t>Instance Based Learning Algorithms        </a:t>
            </a:r>
            <a:br>
              <a:rPr lang="en-US" b="1" dirty="0">
                <a:solidFill>
                  <a:srgbClr val="FFFF00"/>
                </a:solidFill>
              </a:rPr>
            </a:br>
            <a:endParaRPr lang="en-US" dirty="0">
              <a:solidFill>
                <a:srgbClr val="FFFF00"/>
              </a:solidFill>
            </a:endParaRPr>
          </a:p>
        </p:txBody>
      </p:sp>
      <p:sp>
        <p:nvSpPr>
          <p:cNvPr id="3" name="Content Placeholder 2">
            <a:extLst>
              <a:ext uri="{FF2B5EF4-FFF2-40B4-BE49-F238E27FC236}">
                <a16:creationId xmlns:a16="http://schemas.microsoft.com/office/drawing/2014/main" id="{58793BDC-2911-4507-88F0-9B206CE1E00B}"/>
              </a:ext>
            </a:extLst>
          </p:cNvPr>
          <p:cNvSpPr>
            <a:spLocks noGrp="1"/>
          </p:cNvSpPr>
          <p:nvPr>
            <p:ph idx="1"/>
          </p:nvPr>
        </p:nvSpPr>
        <p:spPr>
          <a:xfrm>
            <a:off x="228600" y="1219200"/>
            <a:ext cx="8458200" cy="4938713"/>
          </a:xfrm>
        </p:spPr>
        <p:txBody>
          <a:bodyPr>
            <a:normAutofit/>
          </a:bodyPr>
          <a:lstStyle/>
          <a:p>
            <a:pPr algn="just"/>
            <a:r>
              <a:rPr lang="en-US" sz="1800" dirty="0"/>
              <a:t>Instances are nothing but subsets of datasets, and instance based learning models work on an identified instance or groups of instances that are critical to the problem.</a:t>
            </a:r>
          </a:p>
          <a:p>
            <a:pPr algn="just"/>
            <a:r>
              <a:rPr lang="en-US" sz="1800" dirty="0"/>
              <a:t>The results across instances are compared, which can include an instance of new data as well.</a:t>
            </a:r>
          </a:p>
          <a:p>
            <a:pPr algn="just"/>
            <a:r>
              <a:rPr lang="en-US" sz="1800" dirty="0"/>
              <a:t>This comparison uses a particular similarity measure to find the best match and predict.</a:t>
            </a:r>
          </a:p>
          <a:p>
            <a:pPr algn="just"/>
            <a:r>
              <a:rPr lang="en-US" sz="1800" dirty="0"/>
              <a:t>Instance based methods are also called </a:t>
            </a:r>
            <a:r>
              <a:rPr lang="en-US" dirty="0"/>
              <a:t>lazy learning Algorithms</a:t>
            </a:r>
            <a:endParaRPr lang="en-US" sz="1800" dirty="0"/>
          </a:p>
          <a:p>
            <a:pPr algn="just"/>
            <a:r>
              <a:rPr lang="en-US" sz="1800" dirty="0"/>
              <a:t> Here the focus is on the representation of the instances and similarity measures for comparison between instances.  </a:t>
            </a:r>
          </a:p>
          <a:p>
            <a:r>
              <a:rPr lang="en-US" altLang="en-US" dirty="0"/>
              <a:t>Basic idea:</a:t>
            </a:r>
          </a:p>
          <a:p>
            <a:pPr lvl="1"/>
            <a:r>
              <a:rPr lang="en-US" altLang="en-US" dirty="0"/>
              <a:t>If it walks like a duck, quacks like a duck, then it’s probably a duck</a:t>
            </a:r>
            <a:endParaRPr lang="en-US" sz="1800" dirty="0"/>
          </a:p>
          <a:p>
            <a:pPr marL="0" indent="0" algn="just">
              <a:buNone/>
            </a:pPr>
            <a:endParaRPr lang="en-US" sz="675" dirty="0"/>
          </a:p>
          <a:p>
            <a:pPr marL="0" indent="0" algn="just">
              <a:buNone/>
            </a:pPr>
            <a:r>
              <a:rPr lang="en-US" sz="675" dirty="0"/>
              <a:t> </a:t>
            </a:r>
          </a:p>
        </p:txBody>
      </p:sp>
      <p:sp>
        <p:nvSpPr>
          <p:cNvPr id="6" name="Slide Number Placeholder 5">
            <a:extLst>
              <a:ext uri="{FF2B5EF4-FFF2-40B4-BE49-F238E27FC236}">
                <a16:creationId xmlns:a16="http://schemas.microsoft.com/office/drawing/2014/main" id="{254829B0-BA8F-4DCC-9655-FA0E34A9F8BD}"/>
              </a:ext>
            </a:extLst>
          </p:cNvPr>
          <p:cNvSpPr>
            <a:spLocks noGrp="1"/>
          </p:cNvSpPr>
          <p:nvPr>
            <p:ph type="sldNum" sz="quarter" idx="4294967295"/>
          </p:nvPr>
        </p:nvSpPr>
        <p:spPr>
          <a:xfrm>
            <a:off x="6457950" y="5624513"/>
            <a:ext cx="2057400" cy="273844"/>
          </a:xfrm>
          <a:prstGeom prst="rect">
            <a:avLst/>
          </a:prstGeom>
        </p:spPr>
        <p:txBody>
          <a:bodyPr/>
          <a:lstStyle/>
          <a:p>
            <a:pPr algn="r"/>
            <a:fld id="{D50A3D7C-70F1-4B51-BC20-2772D1CDE1B2}" type="slidenum">
              <a:rPr lang="en-US" smtClean="0"/>
              <a:pPr algn="r"/>
              <a:t>56</a:t>
            </a:fld>
            <a:endParaRPr lang="en-US" dirty="0"/>
          </a:p>
        </p:txBody>
      </p:sp>
    </p:spTree>
    <p:extLst>
      <p:ext uri="{BB962C8B-B14F-4D97-AF65-F5344CB8AC3E}">
        <p14:creationId xmlns:p14="http://schemas.microsoft.com/office/powerpoint/2010/main" val="17740750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809624"/>
            <a:ext cx="8534400" cy="566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27589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85800"/>
            <a:ext cx="8531997"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12120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556" y="219075"/>
            <a:ext cx="8624887"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a:extLst>
              <a:ext uri="{FF2B5EF4-FFF2-40B4-BE49-F238E27FC236}">
                <a16:creationId xmlns:a16="http://schemas.microsoft.com/office/drawing/2014/main" id="{B371BE17-13D2-5522-B6BE-CD0917E5A842}"/>
              </a:ext>
            </a:extLst>
          </p:cNvPr>
          <p:cNvPicPr>
            <a:picLocks noChangeAspect="1"/>
          </p:cNvPicPr>
          <p:nvPr/>
        </p:nvPicPr>
        <p:blipFill>
          <a:blip r:embed="rId3"/>
          <a:stretch>
            <a:fillRect/>
          </a:stretch>
        </p:blipFill>
        <p:spPr>
          <a:xfrm>
            <a:off x="259556" y="2944761"/>
            <a:ext cx="8624887" cy="3913239"/>
          </a:xfrm>
          <a:prstGeom prst="rect">
            <a:avLst/>
          </a:prstGeom>
        </p:spPr>
      </p:pic>
    </p:spTree>
    <p:extLst>
      <p:ext uri="{BB962C8B-B14F-4D97-AF65-F5344CB8AC3E}">
        <p14:creationId xmlns:p14="http://schemas.microsoft.com/office/powerpoint/2010/main" val="18814431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Training and testing</a:t>
            </a:r>
            <a:endParaRPr lang="en-US" dirty="0"/>
          </a:p>
        </p:txBody>
      </p:sp>
      <p:sp>
        <p:nvSpPr>
          <p:cNvPr id="4" name="流程圖: 程序 177"/>
          <p:cNvSpPr/>
          <p:nvPr/>
        </p:nvSpPr>
        <p:spPr>
          <a:xfrm>
            <a:off x="5940152" y="3933056"/>
            <a:ext cx="2592288" cy="1944216"/>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流程圖: 程序 159"/>
          <p:cNvSpPr/>
          <p:nvPr/>
        </p:nvSpPr>
        <p:spPr>
          <a:xfrm>
            <a:off x="3347864" y="1772816"/>
            <a:ext cx="2592288" cy="1944216"/>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流程圖: 程序 120"/>
          <p:cNvSpPr/>
          <p:nvPr/>
        </p:nvSpPr>
        <p:spPr>
          <a:xfrm>
            <a:off x="755576" y="3904621"/>
            <a:ext cx="2592288" cy="1944216"/>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乘號 105"/>
          <p:cNvSpPr/>
          <p:nvPr/>
        </p:nvSpPr>
        <p:spPr>
          <a:xfrm>
            <a:off x="1043608" y="4192653"/>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乘號 106"/>
          <p:cNvSpPr/>
          <p:nvPr/>
        </p:nvSpPr>
        <p:spPr>
          <a:xfrm>
            <a:off x="1259632" y="4336669"/>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乘號 107"/>
          <p:cNvSpPr/>
          <p:nvPr/>
        </p:nvSpPr>
        <p:spPr>
          <a:xfrm>
            <a:off x="1331640" y="4120645"/>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乘號 108"/>
          <p:cNvSpPr/>
          <p:nvPr/>
        </p:nvSpPr>
        <p:spPr>
          <a:xfrm>
            <a:off x="1043608" y="4408677"/>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乘號 109"/>
          <p:cNvSpPr/>
          <p:nvPr/>
        </p:nvSpPr>
        <p:spPr>
          <a:xfrm>
            <a:off x="1547664" y="4336669"/>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乘號 110"/>
          <p:cNvSpPr/>
          <p:nvPr/>
        </p:nvSpPr>
        <p:spPr>
          <a:xfrm>
            <a:off x="1475656" y="4552693"/>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乘號 111"/>
          <p:cNvSpPr/>
          <p:nvPr/>
        </p:nvSpPr>
        <p:spPr>
          <a:xfrm>
            <a:off x="1187624" y="4624701"/>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流程圖: 接點 112"/>
          <p:cNvSpPr/>
          <p:nvPr/>
        </p:nvSpPr>
        <p:spPr>
          <a:xfrm>
            <a:off x="1907704" y="4912733"/>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5" name="流程圖: 接點 113"/>
          <p:cNvSpPr/>
          <p:nvPr/>
        </p:nvSpPr>
        <p:spPr>
          <a:xfrm>
            <a:off x="1691680" y="5128757"/>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6" name="流程圖: 接點 114"/>
          <p:cNvSpPr/>
          <p:nvPr/>
        </p:nvSpPr>
        <p:spPr>
          <a:xfrm>
            <a:off x="2195736" y="4912733"/>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7" name="流程圖: 接點 115"/>
          <p:cNvSpPr/>
          <p:nvPr/>
        </p:nvSpPr>
        <p:spPr>
          <a:xfrm>
            <a:off x="1979712" y="5128757"/>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8" name="流程圖: 接點 116"/>
          <p:cNvSpPr/>
          <p:nvPr/>
        </p:nvSpPr>
        <p:spPr>
          <a:xfrm>
            <a:off x="1835696" y="5344781"/>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9" name="流程圖: 接點 117"/>
          <p:cNvSpPr/>
          <p:nvPr/>
        </p:nvSpPr>
        <p:spPr>
          <a:xfrm>
            <a:off x="2267744" y="5128757"/>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20" name="流程圖: 接點 118"/>
          <p:cNvSpPr/>
          <p:nvPr/>
        </p:nvSpPr>
        <p:spPr>
          <a:xfrm>
            <a:off x="2123728" y="5344781"/>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21" name="流程圖: 接點 119"/>
          <p:cNvSpPr/>
          <p:nvPr/>
        </p:nvSpPr>
        <p:spPr>
          <a:xfrm>
            <a:off x="1979712" y="5488797"/>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22" name="乘號 121"/>
          <p:cNvSpPr/>
          <p:nvPr/>
        </p:nvSpPr>
        <p:spPr>
          <a:xfrm>
            <a:off x="3635896" y="2204864"/>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乘號 122"/>
          <p:cNvSpPr/>
          <p:nvPr/>
        </p:nvSpPr>
        <p:spPr>
          <a:xfrm>
            <a:off x="3851920" y="2348880"/>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乘號 123"/>
          <p:cNvSpPr/>
          <p:nvPr/>
        </p:nvSpPr>
        <p:spPr>
          <a:xfrm>
            <a:off x="3779912" y="1988840"/>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乘號 124"/>
          <p:cNvSpPr/>
          <p:nvPr/>
        </p:nvSpPr>
        <p:spPr>
          <a:xfrm>
            <a:off x="3635896" y="2420888"/>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乘號 125"/>
          <p:cNvSpPr/>
          <p:nvPr/>
        </p:nvSpPr>
        <p:spPr>
          <a:xfrm>
            <a:off x="3419872" y="2420888"/>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乘號 126"/>
          <p:cNvSpPr/>
          <p:nvPr/>
        </p:nvSpPr>
        <p:spPr>
          <a:xfrm>
            <a:off x="4067944" y="2564904"/>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乘號 127"/>
          <p:cNvSpPr/>
          <p:nvPr/>
        </p:nvSpPr>
        <p:spPr>
          <a:xfrm>
            <a:off x="3779912" y="2636912"/>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乘號 128"/>
          <p:cNvSpPr/>
          <p:nvPr/>
        </p:nvSpPr>
        <p:spPr>
          <a:xfrm>
            <a:off x="4283968" y="2204864"/>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乘號 129"/>
          <p:cNvSpPr/>
          <p:nvPr/>
        </p:nvSpPr>
        <p:spPr>
          <a:xfrm>
            <a:off x="4644008" y="2204864"/>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乘號 130"/>
          <p:cNvSpPr/>
          <p:nvPr/>
        </p:nvSpPr>
        <p:spPr>
          <a:xfrm>
            <a:off x="4427984" y="2420888"/>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乘號 131"/>
          <p:cNvSpPr/>
          <p:nvPr/>
        </p:nvSpPr>
        <p:spPr>
          <a:xfrm>
            <a:off x="4427984" y="1988840"/>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乘號 132"/>
          <p:cNvSpPr/>
          <p:nvPr/>
        </p:nvSpPr>
        <p:spPr>
          <a:xfrm>
            <a:off x="4139952" y="1988840"/>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乘號 133"/>
          <p:cNvSpPr/>
          <p:nvPr/>
        </p:nvSpPr>
        <p:spPr>
          <a:xfrm>
            <a:off x="3923928" y="2132856"/>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乘號 134"/>
          <p:cNvSpPr/>
          <p:nvPr/>
        </p:nvSpPr>
        <p:spPr>
          <a:xfrm>
            <a:off x="4139952" y="2348880"/>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乘號 135"/>
          <p:cNvSpPr/>
          <p:nvPr/>
        </p:nvSpPr>
        <p:spPr>
          <a:xfrm>
            <a:off x="3419872" y="2636912"/>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流程圖: 接點 136"/>
          <p:cNvSpPr/>
          <p:nvPr/>
        </p:nvSpPr>
        <p:spPr>
          <a:xfrm>
            <a:off x="4644008" y="2780928"/>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38" name="流程圖: 接點 137"/>
          <p:cNvSpPr/>
          <p:nvPr/>
        </p:nvSpPr>
        <p:spPr>
          <a:xfrm>
            <a:off x="4427984" y="299695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39" name="流程圖: 接點 138"/>
          <p:cNvSpPr/>
          <p:nvPr/>
        </p:nvSpPr>
        <p:spPr>
          <a:xfrm>
            <a:off x="4932040" y="2780928"/>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0" name="流程圖: 接點 139"/>
          <p:cNvSpPr/>
          <p:nvPr/>
        </p:nvSpPr>
        <p:spPr>
          <a:xfrm>
            <a:off x="4716016" y="299695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1" name="流程圖: 接點 140"/>
          <p:cNvSpPr/>
          <p:nvPr/>
        </p:nvSpPr>
        <p:spPr>
          <a:xfrm>
            <a:off x="4572000" y="3212976"/>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2" name="流程圖: 接點 141"/>
          <p:cNvSpPr/>
          <p:nvPr/>
        </p:nvSpPr>
        <p:spPr>
          <a:xfrm>
            <a:off x="5004048" y="299695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3" name="流程圖: 接點 142"/>
          <p:cNvSpPr/>
          <p:nvPr/>
        </p:nvSpPr>
        <p:spPr>
          <a:xfrm>
            <a:off x="4860032" y="3212976"/>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4" name="流程圖: 接點 143"/>
          <p:cNvSpPr/>
          <p:nvPr/>
        </p:nvSpPr>
        <p:spPr>
          <a:xfrm>
            <a:off x="4716016" y="335699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5" name="流程圖: 接點 144"/>
          <p:cNvSpPr/>
          <p:nvPr/>
        </p:nvSpPr>
        <p:spPr>
          <a:xfrm>
            <a:off x="5076056" y="263691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6" name="流程圖: 接點 145"/>
          <p:cNvSpPr/>
          <p:nvPr/>
        </p:nvSpPr>
        <p:spPr>
          <a:xfrm>
            <a:off x="5292080" y="299695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7" name="流程圖: 接點 146"/>
          <p:cNvSpPr/>
          <p:nvPr/>
        </p:nvSpPr>
        <p:spPr>
          <a:xfrm>
            <a:off x="5220072" y="3140968"/>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8" name="流程圖: 接點 147"/>
          <p:cNvSpPr/>
          <p:nvPr/>
        </p:nvSpPr>
        <p:spPr>
          <a:xfrm>
            <a:off x="5292080" y="2780928"/>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9" name="流程圖: 接點 148"/>
          <p:cNvSpPr/>
          <p:nvPr/>
        </p:nvSpPr>
        <p:spPr>
          <a:xfrm>
            <a:off x="5076056" y="3284984"/>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0" name="流程圖: 接點 149"/>
          <p:cNvSpPr/>
          <p:nvPr/>
        </p:nvSpPr>
        <p:spPr>
          <a:xfrm>
            <a:off x="4211960" y="2924944"/>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1" name="流程圖: 接點 150"/>
          <p:cNvSpPr/>
          <p:nvPr/>
        </p:nvSpPr>
        <p:spPr>
          <a:xfrm>
            <a:off x="4427984" y="335699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2" name="流程圖: 接點 151"/>
          <p:cNvSpPr/>
          <p:nvPr/>
        </p:nvSpPr>
        <p:spPr>
          <a:xfrm>
            <a:off x="4283968" y="3212976"/>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3" name="流程圖: 接點 152"/>
          <p:cNvSpPr/>
          <p:nvPr/>
        </p:nvSpPr>
        <p:spPr>
          <a:xfrm>
            <a:off x="4067944" y="3068960"/>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4" name="流程圖: 接點 153"/>
          <p:cNvSpPr/>
          <p:nvPr/>
        </p:nvSpPr>
        <p:spPr>
          <a:xfrm>
            <a:off x="4860032" y="3429000"/>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5" name="流程圖: 接點 154"/>
          <p:cNvSpPr/>
          <p:nvPr/>
        </p:nvSpPr>
        <p:spPr>
          <a:xfrm>
            <a:off x="4067944" y="335699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6" name="流程圖: 接點 155"/>
          <p:cNvSpPr/>
          <p:nvPr/>
        </p:nvSpPr>
        <p:spPr>
          <a:xfrm>
            <a:off x="4716016" y="2060848"/>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7" name="流程圖: 接點 156"/>
          <p:cNvSpPr/>
          <p:nvPr/>
        </p:nvSpPr>
        <p:spPr>
          <a:xfrm>
            <a:off x="4283968" y="2564904"/>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8" name="乘號 157"/>
          <p:cNvSpPr/>
          <p:nvPr/>
        </p:nvSpPr>
        <p:spPr>
          <a:xfrm>
            <a:off x="4211960" y="3356992"/>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乘號 158"/>
          <p:cNvSpPr/>
          <p:nvPr/>
        </p:nvSpPr>
        <p:spPr>
          <a:xfrm>
            <a:off x="5076056" y="2852936"/>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文字方塊 160"/>
          <p:cNvSpPr txBox="1"/>
          <p:nvPr/>
        </p:nvSpPr>
        <p:spPr>
          <a:xfrm>
            <a:off x="1280648" y="5877586"/>
            <a:ext cx="1440160" cy="707886"/>
          </a:xfrm>
          <a:prstGeom prst="rect">
            <a:avLst/>
          </a:prstGeom>
          <a:noFill/>
        </p:spPr>
        <p:txBody>
          <a:bodyPr wrap="square" rtlCol="0">
            <a:spAutoFit/>
          </a:bodyPr>
          <a:lstStyle/>
          <a:p>
            <a:r>
              <a:rPr lang="en-US" altLang="zh-TW" sz="2000" dirty="0"/>
              <a:t>Training set </a:t>
            </a:r>
            <a:r>
              <a:rPr lang="en-US" altLang="zh-TW" sz="2000" dirty="0">
                <a:solidFill>
                  <a:srgbClr val="FF0000"/>
                </a:solidFill>
              </a:rPr>
              <a:t>(observed)</a:t>
            </a:r>
            <a:endParaRPr lang="zh-TW" altLang="en-US" sz="2000" dirty="0">
              <a:solidFill>
                <a:srgbClr val="FF0000"/>
              </a:solidFill>
            </a:endParaRPr>
          </a:p>
        </p:txBody>
      </p:sp>
      <p:sp>
        <p:nvSpPr>
          <p:cNvPr id="61" name="文字方塊 161"/>
          <p:cNvSpPr txBox="1"/>
          <p:nvPr/>
        </p:nvSpPr>
        <p:spPr>
          <a:xfrm>
            <a:off x="3851920" y="3717032"/>
            <a:ext cx="1512168" cy="707886"/>
          </a:xfrm>
          <a:prstGeom prst="rect">
            <a:avLst/>
          </a:prstGeom>
          <a:noFill/>
        </p:spPr>
        <p:txBody>
          <a:bodyPr wrap="square" rtlCol="0">
            <a:spAutoFit/>
          </a:bodyPr>
          <a:lstStyle/>
          <a:p>
            <a:pPr algn="ctr"/>
            <a:r>
              <a:rPr lang="en-US" altLang="zh-TW" sz="2000" dirty="0"/>
              <a:t>Universal set</a:t>
            </a:r>
          </a:p>
          <a:p>
            <a:pPr algn="ctr"/>
            <a:r>
              <a:rPr lang="en-US" altLang="zh-TW" sz="2000" dirty="0"/>
              <a:t>(unobserved)</a:t>
            </a:r>
            <a:endParaRPr lang="zh-TW" altLang="en-US" sz="2000" dirty="0"/>
          </a:p>
        </p:txBody>
      </p:sp>
      <p:sp>
        <p:nvSpPr>
          <p:cNvPr id="62" name="乘號 162"/>
          <p:cNvSpPr/>
          <p:nvPr/>
        </p:nvSpPr>
        <p:spPr>
          <a:xfrm>
            <a:off x="6228184" y="4365104"/>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乘號 163"/>
          <p:cNvSpPr/>
          <p:nvPr/>
        </p:nvSpPr>
        <p:spPr>
          <a:xfrm>
            <a:off x="6444208" y="4077072"/>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乘號 164"/>
          <p:cNvSpPr/>
          <p:nvPr/>
        </p:nvSpPr>
        <p:spPr>
          <a:xfrm>
            <a:off x="6732240" y="4149080"/>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乘號 165"/>
          <p:cNvSpPr/>
          <p:nvPr/>
        </p:nvSpPr>
        <p:spPr>
          <a:xfrm>
            <a:off x="7092280" y="3933056"/>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乘號 166"/>
          <p:cNvSpPr/>
          <p:nvPr/>
        </p:nvSpPr>
        <p:spPr>
          <a:xfrm>
            <a:off x="6876256" y="4365104"/>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乘號 167"/>
          <p:cNvSpPr/>
          <p:nvPr/>
        </p:nvSpPr>
        <p:spPr>
          <a:xfrm>
            <a:off x="6660232" y="4581128"/>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乘號 168"/>
          <p:cNvSpPr/>
          <p:nvPr/>
        </p:nvSpPr>
        <p:spPr>
          <a:xfrm>
            <a:off x="6372200" y="4653136"/>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流程圖: 接點 169"/>
          <p:cNvSpPr/>
          <p:nvPr/>
        </p:nvSpPr>
        <p:spPr>
          <a:xfrm>
            <a:off x="7092280" y="4941168"/>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70" name="流程圖: 接點 170"/>
          <p:cNvSpPr/>
          <p:nvPr/>
        </p:nvSpPr>
        <p:spPr>
          <a:xfrm>
            <a:off x="6876256" y="515719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71" name="流程圖: 接點 171"/>
          <p:cNvSpPr/>
          <p:nvPr/>
        </p:nvSpPr>
        <p:spPr>
          <a:xfrm>
            <a:off x="7380312" y="4941168"/>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72" name="流程圖: 接點 172"/>
          <p:cNvSpPr/>
          <p:nvPr/>
        </p:nvSpPr>
        <p:spPr>
          <a:xfrm>
            <a:off x="7164288" y="515719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73" name="流程圖: 接點 173"/>
          <p:cNvSpPr/>
          <p:nvPr/>
        </p:nvSpPr>
        <p:spPr>
          <a:xfrm>
            <a:off x="7020272" y="5301208"/>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74" name="流程圖: 接點 174"/>
          <p:cNvSpPr/>
          <p:nvPr/>
        </p:nvSpPr>
        <p:spPr>
          <a:xfrm>
            <a:off x="7452320" y="515719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75" name="流程圖: 接點 175"/>
          <p:cNvSpPr/>
          <p:nvPr/>
        </p:nvSpPr>
        <p:spPr>
          <a:xfrm>
            <a:off x="7308304" y="5373216"/>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76" name="流程圖: 接點 176"/>
          <p:cNvSpPr/>
          <p:nvPr/>
        </p:nvSpPr>
        <p:spPr>
          <a:xfrm>
            <a:off x="6948264" y="551723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77" name="文字方塊 178"/>
          <p:cNvSpPr txBox="1"/>
          <p:nvPr/>
        </p:nvSpPr>
        <p:spPr>
          <a:xfrm>
            <a:off x="6228184" y="5886953"/>
            <a:ext cx="1746195" cy="707886"/>
          </a:xfrm>
          <a:prstGeom prst="rect">
            <a:avLst/>
          </a:prstGeom>
          <a:noFill/>
        </p:spPr>
        <p:txBody>
          <a:bodyPr wrap="square" rtlCol="0">
            <a:spAutoFit/>
          </a:bodyPr>
          <a:lstStyle/>
          <a:p>
            <a:pPr algn="ctr"/>
            <a:r>
              <a:rPr lang="en-US" altLang="zh-TW" sz="2000" dirty="0"/>
              <a:t>Testing set</a:t>
            </a:r>
          </a:p>
          <a:p>
            <a:pPr algn="ctr"/>
            <a:r>
              <a:rPr lang="en-US" altLang="zh-TW" sz="2000" dirty="0"/>
              <a:t>(unobserved)</a:t>
            </a:r>
            <a:endParaRPr lang="zh-TW" altLang="en-US" sz="2000" dirty="0"/>
          </a:p>
        </p:txBody>
      </p:sp>
      <p:sp>
        <p:nvSpPr>
          <p:cNvPr id="78" name="乘號 179"/>
          <p:cNvSpPr/>
          <p:nvPr/>
        </p:nvSpPr>
        <p:spPr>
          <a:xfrm>
            <a:off x="6516216" y="4365104"/>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乘號 180"/>
          <p:cNvSpPr/>
          <p:nvPr/>
        </p:nvSpPr>
        <p:spPr>
          <a:xfrm>
            <a:off x="7164288" y="4149080"/>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乘號 181"/>
          <p:cNvSpPr/>
          <p:nvPr/>
        </p:nvSpPr>
        <p:spPr>
          <a:xfrm>
            <a:off x="7452320" y="4797152"/>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乘號 182"/>
          <p:cNvSpPr/>
          <p:nvPr/>
        </p:nvSpPr>
        <p:spPr>
          <a:xfrm>
            <a:off x="6732240" y="5301208"/>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流程圖: 接點 183"/>
          <p:cNvSpPr/>
          <p:nvPr/>
        </p:nvSpPr>
        <p:spPr>
          <a:xfrm>
            <a:off x="6588224" y="515719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83" name="流程圖: 接點 184"/>
          <p:cNvSpPr/>
          <p:nvPr/>
        </p:nvSpPr>
        <p:spPr>
          <a:xfrm>
            <a:off x="6588224" y="546199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84" name="流程圖: 接點 185"/>
          <p:cNvSpPr/>
          <p:nvPr/>
        </p:nvSpPr>
        <p:spPr>
          <a:xfrm>
            <a:off x="7164288" y="4365104"/>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85" name="流程圖: 接點 186"/>
          <p:cNvSpPr/>
          <p:nvPr/>
        </p:nvSpPr>
        <p:spPr>
          <a:xfrm>
            <a:off x="7524328" y="5373216"/>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cxnSp>
        <p:nvCxnSpPr>
          <p:cNvPr id="86" name="直線單箭頭接點 187"/>
          <p:cNvCxnSpPr/>
          <p:nvPr/>
        </p:nvCxnSpPr>
        <p:spPr>
          <a:xfrm flipH="1">
            <a:off x="2483768" y="2708920"/>
            <a:ext cx="720080" cy="108012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7" name="直線單箭頭接點 188"/>
          <p:cNvCxnSpPr/>
          <p:nvPr/>
        </p:nvCxnSpPr>
        <p:spPr>
          <a:xfrm>
            <a:off x="6084168" y="2708920"/>
            <a:ext cx="756086" cy="108012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8" name="直線接點 189"/>
          <p:cNvCxnSpPr/>
          <p:nvPr/>
        </p:nvCxnSpPr>
        <p:spPr>
          <a:xfrm rot="10800000" flipV="1">
            <a:off x="899592" y="4120645"/>
            <a:ext cx="1800200" cy="1296144"/>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9" name="直線接點 190"/>
          <p:cNvCxnSpPr/>
          <p:nvPr/>
        </p:nvCxnSpPr>
        <p:spPr>
          <a:xfrm rot="10800000" flipV="1">
            <a:off x="6084168" y="4077072"/>
            <a:ext cx="1800200" cy="1296144"/>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0" name="乘號 191"/>
          <p:cNvSpPr/>
          <p:nvPr/>
        </p:nvSpPr>
        <p:spPr>
          <a:xfrm>
            <a:off x="4716016" y="2420888"/>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乘號 192"/>
          <p:cNvSpPr/>
          <p:nvPr/>
        </p:nvSpPr>
        <p:spPr>
          <a:xfrm>
            <a:off x="4932040" y="2276872"/>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2" name="流程圖: 接點 193"/>
          <p:cNvSpPr/>
          <p:nvPr/>
        </p:nvSpPr>
        <p:spPr>
          <a:xfrm>
            <a:off x="3923928" y="3212976"/>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93" name="流程圖: 接點 194"/>
          <p:cNvSpPr/>
          <p:nvPr/>
        </p:nvSpPr>
        <p:spPr>
          <a:xfrm>
            <a:off x="3779912" y="3068960"/>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94" name="流程圖: 接點 195"/>
          <p:cNvSpPr/>
          <p:nvPr/>
        </p:nvSpPr>
        <p:spPr>
          <a:xfrm>
            <a:off x="3851920" y="3373760"/>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95" name="乘號 196"/>
          <p:cNvSpPr/>
          <p:nvPr/>
        </p:nvSpPr>
        <p:spPr>
          <a:xfrm>
            <a:off x="6948264" y="4653136"/>
            <a:ext cx="216024" cy="216024"/>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流程圖: 接點 197"/>
          <p:cNvSpPr/>
          <p:nvPr/>
        </p:nvSpPr>
        <p:spPr>
          <a:xfrm>
            <a:off x="6372200" y="5157192"/>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97" name="手繪多邊形 198"/>
          <p:cNvSpPr/>
          <p:nvPr/>
        </p:nvSpPr>
        <p:spPr>
          <a:xfrm>
            <a:off x="1483940" y="3976812"/>
            <a:ext cx="559496" cy="1741118"/>
          </a:xfrm>
          <a:custGeom>
            <a:avLst/>
            <a:gdLst>
              <a:gd name="connsiteX0" fmla="*/ 164926 w 559496"/>
              <a:gd name="connsiteY0" fmla="*/ 0 h 1741118"/>
              <a:gd name="connsiteX1" fmla="*/ 540707 w 559496"/>
              <a:gd name="connsiteY1" fmla="*/ 363255 h 1741118"/>
              <a:gd name="connsiteX2" fmla="*/ 52192 w 559496"/>
              <a:gd name="connsiteY2" fmla="*/ 1189973 h 1741118"/>
              <a:gd name="connsiteX3" fmla="*/ 227556 w 559496"/>
              <a:gd name="connsiteY3" fmla="*/ 1741118 h 1741118"/>
            </a:gdLst>
            <a:ahLst/>
            <a:cxnLst>
              <a:cxn ang="0">
                <a:pos x="connsiteX0" y="connsiteY0"/>
              </a:cxn>
              <a:cxn ang="0">
                <a:pos x="connsiteX1" y="connsiteY1"/>
              </a:cxn>
              <a:cxn ang="0">
                <a:pos x="connsiteX2" y="connsiteY2"/>
              </a:cxn>
              <a:cxn ang="0">
                <a:pos x="connsiteX3" y="connsiteY3"/>
              </a:cxn>
            </a:cxnLst>
            <a:rect l="l" t="t" r="r" b="b"/>
            <a:pathLst>
              <a:path w="559496" h="1741118">
                <a:moveTo>
                  <a:pt x="164926" y="0"/>
                </a:moveTo>
                <a:cubicBezTo>
                  <a:pt x="362211" y="82463"/>
                  <a:pt x="559496" y="164926"/>
                  <a:pt x="540707" y="363255"/>
                </a:cubicBezTo>
                <a:cubicBezTo>
                  <a:pt x="521918" y="561584"/>
                  <a:pt x="104384" y="960329"/>
                  <a:pt x="52192" y="1189973"/>
                </a:cubicBezTo>
                <a:cubicBezTo>
                  <a:pt x="0" y="1419617"/>
                  <a:pt x="113778" y="1580367"/>
                  <a:pt x="227556" y="1741118"/>
                </a:cubicBezTo>
              </a:path>
            </a:pathLst>
          </a:custGeom>
          <a:ln w="25400">
            <a:solidFill>
              <a:schemeClr val="tx1">
                <a:lumMod val="65000"/>
                <a:lumOff val="35000"/>
              </a:schemeClr>
            </a:solidFill>
            <a:prstDash val="dash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98" name="手繪多邊形 199"/>
          <p:cNvSpPr/>
          <p:nvPr/>
        </p:nvSpPr>
        <p:spPr>
          <a:xfrm>
            <a:off x="6588224" y="4005064"/>
            <a:ext cx="559496" cy="1741118"/>
          </a:xfrm>
          <a:custGeom>
            <a:avLst/>
            <a:gdLst>
              <a:gd name="connsiteX0" fmla="*/ 164926 w 559496"/>
              <a:gd name="connsiteY0" fmla="*/ 0 h 1741118"/>
              <a:gd name="connsiteX1" fmla="*/ 540707 w 559496"/>
              <a:gd name="connsiteY1" fmla="*/ 363255 h 1741118"/>
              <a:gd name="connsiteX2" fmla="*/ 52192 w 559496"/>
              <a:gd name="connsiteY2" fmla="*/ 1189973 h 1741118"/>
              <a:gd name="connsiteX3" fmla="*/ 227556 w 559496"/>
              <a:gd name="connsiteY3" fmla="*/ 1741118 h 1741118"/>
            </a:gdLst>
            <a:ahLst/>
            <a:cxnLst>
              <a:cxn ang="0">
                <a:pos x="connsiteX0" y="connsiteY0"/>
              </a:cxn>
              <a:cxn ang="0">
                <a:pos x="connsiteX1" y="connsiteY1"/>
              </a:cxn>
              <a:cxn ang="0">
                <a:pos x="connsiteX2" y="connsiteY2"/>
              </a:cxn>
              <a:cxn ang="0">
                <a:pos x="connsiteX3" y="connsiteY3"/>
              </a:cxn>
            </a:cxnLst>
            <a:rect l="l" t="t" r="r" b="b"/>
            <a:pathLst>
              <a:path w="559496" h="1741118">
                <a:moveTo>
                  <a:pt x="164926" y="0"/>
                </a:moveTo>
                <a:cubicBezTo>
                  <a:pt x="362211" y="82463"/>
                  <a:pt x="559496" y="164926"/>
                  <a:pt x="540707" y="363255"/>
                </a:cubicBezTo>
                <a:cubicBezTo>
                  <a:pt x="521918" y="561584"/>
                  <a:pt x="104384" y="960329"/>
                  <a:pt x="52192" y="1189973"/>
                </a:cubicBezTo>
                <a:cubicBezTo>
                  <a:pt x="0" y="1419617"/>
                  <a:pt x="113778" y="1580367"/>
                  <a:pt x="227556" y="1741118"/>
                </a:cubicBezTo>
              </a:path>
            </a:pathLst>
          </a:custGeom>
          <a:ln w="25400">
            <a:solidFill>
              <a:schemeClr val="tx1">
                <a:lumMod val="65000"/>
                <a:lumOff val="35000"/>
              </a:schemeClr>
            </a:solidFill>
            <a:prstDash val="dash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99" name="流程圖: 接點 200"/>
          <p:cNvSpPr/>
          <p:nvPr/>
        </p:nvSpPr>
        <p:spPr>
          <a:xfrm>
            <a:off x="6372200" y="5373216"/>
            <a:ext cx="144016" cy="144016"/>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00" name="文字方塊 201"/>
          <p:cNvSpPr txBox="1"/>
          <p:nvPr/>
        </p:nvSpPr>
        <p:spPr>
          <a:xfrm>
            <a:off x="909846" y="2852936"/>
            <a:ext cx="1872208" cy="400110"/>
          </a:xfrm>
          <a:prstGeom prst="rect">
            <a:avLst/>
          </a:prstGeom>
          <a:noFill/>
          <a:ln>
            <a:solidFill>
              <a:schemeClr val="accent1"/>
            </a:solidFill>
          </a:ln>
        </p:spPr>
        <p:txBody>
          <a:bodyPr wrap="square" rtlCol="0">
            <a:spAutoFit/>
          </a:bodyPr>
          <a:lstStyle/>
          <a:p>
            <a:r>
              <a:rPr lang="en-US" altLang="zh-TW" sz="2000" dirty="0"/>
              <a:t>Data acquisition</a:t>
            </a:r>
            <a:endParaRPr lang="zh-TW" altLang="en-US" sz="2000" dirty="0"/>
          </a:p>
        </p:txBody>
      </p:sp>
      <p:sp>
        <p:nvSpPr>
          <p:cNvPr id="101" name="文字方塊 202"/>
          <p:cNvSpPr txBox="1"/>
          <p:nvPr/>
        </p:nvSpPr>
        <p:spPr>
          <a:xfrm>
            <a:off x="6516216" y="2852936"/>
            <a:ext cx="1728192" cy="400110"/>
          </a:xfrm>
          <a:prstGeom prst="rect">
            <a:avLst/>
          </a:prstGeom>
          <a:noFill/>
          <a:ln>
            <a:solidFill>
              <a:schemeClr val="accent1"/>
            </a:solidFill>
          </a:ln>
        </p:spPr>
        <p:txBody>
          <a:bodyPr wrap="square" rtlCol="0">
            <a:spAutoFit/>
          </a:bodyPr>
          <a:lstStyle/>
          <a:p>
            <a:r>
              <a:rPr lang="en-US" altLang="zh-TW" sz="2000" dirty="0"/>
              <a:t>Practical usage</a:t>
            </a:r>
            <a:endParaRPr lang="zh-TW" altLang="en-US" sz="2000" dirty="0"/>
          </a:p>
        </p:txBody>
      </p:sp>
    </p:spTree>
    <p:extLst>
      <p:ext uri="{BB962C8B-B14F-4D97-AF65-F5344CB8AC3E}">
        <p14:creationId xmlns:p14="http://schemas.microsoft.com/office/powerpoint/2010/main" val="39096621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Training and testing</a:t>
            </a:r>
            <a:endParaRPr lang="en-US" dirty="0"/>
          </a:p>
        </p:txBody>
      </p:sp>
      <p:sp>
        <p:nvSpPr>
          <p:cNvPr id="3" name="Content Placeholder 2"/>
          <p:cNvSpPr>
            <a:spLocks noGrp="1"/>
          </p:cNvSpPr>
          <p:nvPr>
            <p:ph sz="quarter" idx="1"/>
          </p:nvPr>
        </p:nvSpPr>
        <p:spPr/>
        <p:txBody>
          <a:bodyPr/>
          <a:lstStyle/>
          <a:p>
            <a:r>
              <a:rPr lang="en-US" altLang="zh-TW" dirty="0"/>
              <a:t>Training is the process of making the system able to learn.</a:t>
            </a:r>
          </a:p>
          <a:p>
            <a:pPr marL="0" indent="0">
              <a:buNone/>
            </a:pPr>
            <a:endParaRPr lang="en-US" altLang="zh-TW" dirty="0"/>
          </a:p>
          <a:p>
            <a:r>
              <a:rPr lang="en-US" altLang="zh-TW" dirty="0"/>
              <a:t>No free lunch rule:</a:t>
            </a:r>
          </a:p>
          <a:p>
            <a:pPr lvl="1"/>
            <a:r>
              <a:rPr lang="en-US" altLang="zh-TW" sz="2000" dirty="0"/>
              <a:t>Training set and testing set come from the same distribution</a:t>
            </a:r>
          </a:p>
          <a:p>
            <a:pPr lvl="1"/>
            <a:r>
              <a:rPr lang="en-US" altLang="zh-TW" sz="2000" dirty="0"/>
              <a:t>Need to make some assumptions or bias</a:t>
            </a:r>
          </a:p>
          <a:p>
            <a:endParaRPr lang="en-US" dirty="0"/>
          </a:p>
        </p:txBody>
      </p:sp>
      <p:sp>
        <p:nvSpPr>
          <p:cNvPr id="5" name="流程圖: 程序 50"/>
          <p:cNvSpPr/>
          <p:nvPr/>
        </p:nvSpPr>
        <p:spPr>
          <a:xfrm>
            <a:off x="6092622" y="4520208"/>
            <a:ext cx="1800200" cy="1728192"/>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流程圖: 程序 34"/>
          <p:cNvSpPr/>
          <p:nvPr/>
        </p:nvSpPr>
        <p:spPr>
          <a:xfrm>
            <a:off x="3788366" y="4520208"/>
            <a:ext cx="1800200" cy="1728192"/>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流程圖: 程序 18"/>
          <p:cNvSpPr/>
          <p:nvPr/>
        </p:nvSpPr>
        <p:spPr>
          <a:xfrm>
            <a:off x="875682" y="4520208"/>
            <a:ext cx="1800200" cy="1728192"/>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乘號 3"/>
          <p:cNvSpPr/>
          <p:nvPr/>
        </p:nvSpPr>
        <p:spPr>
          <a:xfrm>
            <a:off x="970834" y="4616218"/>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乘號 4"/>
          <p:cNvSpPr/>
          <p:nvPr/>
        </p:nvSpPr>
        <p:spPr>
          <a:xfrm>
            <a:off x="1186858" y="4760234"/>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乘號 5"/>
          <p:cNvSpPr/>
          <p:nvPr/>
        </p:nvSpPr>
        <p:spPr>
          <a:xfrm>
            <a:off x="1258866" y="4544210"/>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乘號 6"/>
          <p:cNvSpPr/>
          <p:nvPr/>
        </p:nvSpPr>
        <p:spPr>
          <a:xfrm>
            <a:off x="970834" y="4832242"/>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乘號 7"/>
          <p:cNvSpPr/>
          <p:nvPr/>
        </p:nvSpPr>
        <p:spPr>
          <a:xfrm>
            <a:off x="1474890" y="4760234"/>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乘號 8"/>
          <p:cNvSpPr/>
          <p:nvPr/>
        </p:nvSpPr>
        <p:spPr>
          <a:xfrm>
            <a:off x="1402882" y="4976258"/>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乘號 9"/>
          <p:cNvSpPr/>
          <p:nvPr/>
        </p:nvSpPr>
        <p:spPr>
          <a:xfrm>
            <a:off x="1114850" y="5048266"/>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流程圖: 接點 10"/>
          <p:cNvSpPr/>
          <p:nvPr/>
        </p:nvSpPr>
        <p:spPr>
          <a:xfrm>
            <a:off x="1827216" y="5328298"/>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6" name="流程圖: 接點 11"/>
          <p:cNvSpPr/>
          <p:nvPr/>
        </p:nvSpPr>
        <p:spPr>
          <a:xfrm>
            <a:off x="1611192" y="5544322"/>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7" name="流程圖: 接點 12"/>
          <p:cNvSpPr/>
          <p:nvPr/>
        </p:nvSpPr>
        <p:spPr>
          <a:xfrm>
            <a:off x="2115248" y="5328298"/>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8" name="流程圖: 接點 13"/>
          <p:cNvSpPr/>
          <p:nvPr/>
        </p:nvSpPr>
        <p:spPr>
          <a:xfrm>
            <a:off x="1899224" y="5544322"/>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9" name="流程圖: 接點 14"/>
          <p:cNvSpPr/>
          <p:nvPr/>
        </p:nvSpPr>
        <p:spPr>
          <a:xfrm>
            <a:off x="1755208" y="5760346"/>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20" name="流程圖: 接點 15"/>
          <p:cNvSpPr/>
          <p:nvPr/>
        </p:nvSpPr>
        <p:spPr>
          <a:xfrm>
            <a:off x="2187256" y="5544322"/>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21" name="流程圖: 接點 16"/>
          <p:cNvSpPr/>
          <p:nvPr/>
        </p:nvSpPr>
        <p:spPr>
          <a:xfrm>
            <a:off x="2043240" y="5760346"/>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22" name="流程圖: 接點 17"/>
          <p:cNvSpPr/>
          <p:nvPr/>
        </p:nvSpPr>
        <p:spPr>
          <a:xfrm>
            <a:off x="1899224" y="5904362"/>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23" name="乘號 19"/>
          <p:cNvSpPr/>
          <p:nvPr/>
        </p:nvSpPr>
        <p:spPr>
          <a:xfrm>
            <a:off x="3883518" y="4616218"/>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乘號 20"/>
          <p:cNvSpPr/>
          <p:nvPr/>
        </p:nvSpPr>
        <p:spPr>
          <a:xfrm>
            <a:off x="3860374" y="4808240"/>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乘號 21"/>
          <p:cNvSpPr/>
          <p:nvPr/>
        </p:nvSpPr>
        <p:spPr>
          <a:xfrm>
            <a:off x="4171550" y="4544210"/>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乘號 22"/>
          <p:cNvSpPr/>
          <p:nvPr/>
        </p:nvSpPr>
        <p:spPr>
          <a:xfrm>
            <a:off x="4027534" y="4832242"/>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乘號 23"/>
          <p:cNvSpPr/>
          <p:nvPr/>
        </p:nvSpPr>
        <p:spPr>
          <a:xfrm>
            <a:off x="4243558" y="4760234"/>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乘號 24"/>
          <p:cNvSpPr/>
          <p:nvPr/>
        </p:nvSpPr>
        <p:spPr>
          <a:xfrm>
            <a:off x="4459582" y="4592216"/>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乘號 25"/>
          <p:cNvSpPr/>
          <p:nvPr/>
        </p:nvSpPr>
        <p:spPr>
          <a:xfrm>
            <a:off x="4171550" y="4976258"/>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流程圖: 接點 26"/>
          <p:cNvSpPr/>
          <p:nvPr/>
        </p:nvSpPr>
        <p:spPr>
          <a:xfrm>
            <a:off x="4739900" y="5328298"/>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31" name="流程圖: 接點 27"/>
          <p:cNvSpPr/>
          <p:nvPr/>
        </p:nvSpPr>
        <p:spPr>
          <a:xfrm>
            <a:off x="4379860" y="5544322"/>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32" name="流程圖: 接點 28"/>
          <p:cNvSpPr/>
          <p:nvPr/>
        </p:nvSpPr>
        <p:spPr>
          <a:xfrm>
            <a:off x="5027932" y="5328298"/>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33" name="流程圖: 接點 29"/>
          <p:cNvSpPr/>
          <p:nvPr/>
        </p:nvSpPr>
        <p:spPr>
          <a:xfrm>
            <a:off x="5027932" y="5544322"/>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34" name="流程圖: 接點 30"/>
          <p:cNvSpPr/>
          <p:nvPr/>
        </p:nvSpPr>
        <p:spPr>
          <a:xfrm>
            <a:off x="4667892" y="5544322"/>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35" name="流程圖: 接點 31"/>
          <p:cNvSpPr/>
          <p:nvPr/>
        </p:nvSpPr>
        <p:spPr>
          <a:xfrm>
            <a:off x="5243956" y="5544322"/>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36" name="流程圖: 接點 32"/>
          <p:cNvSpPr/>
          <p:nvPr/>
        </p:nvSpPr>
        <p:spPr>
          <a:xfrm>
            <a:off x="5171948" y="5760346"/>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37" name="流程圖: 接點 33"/>
          <p:cNvSpPr/>
          <p:nvPr/>
        </p:nvSpPr>
        <p:spPr>
          <a:xfrm>
            <a:off x="4811908" y="5904362"/>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38" name="乘號 35"/>
          <p:cNvSpPr/>
          <p:nvPr/>
        </p:nvSpPr>
        <p:spPr>
          <a:xfrm>
            <a:off x="6259782" y="4544210"/>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乘號 36"/>
          <p:cNvSpPr/>
          <p:nvPr/>
        </p:nvSpPr>
        <p:spPr>
          <a:xfrm>
            <a:off x="6907854" y="4544210"/>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乘號 37"/>
          <p:cNvSpPr/>
          <p:nvPr/>
        </p:nvSpPr>
        <p:spPr>
          <a:xfrm>
            <a:off x="6475806" y="4616218"/>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乘號 38"/>
          <p:cNvSpPr/>
          <p:nvPr/>
        </p:nvSpPr>
        <p:spPr>
          <a:xfrm>
            <a:off x="6114986" y="4691032"/>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乘號 39"/>
          <p:cNvSpPr/>
          <p:nvPr/>
        </p:nvSpPr>
        <p:spPr>
          <a:xfrm>
            <a:off x="6691830" y="4544210"/>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乘號 40"/>
          <p:cNvSpPr/>
          <p:nvPr/>
        </p:nvSpPr>
        <p:spPr>
          <a:xfrm>
            <a:off x="7123878" y="4688226"/>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乘號 41"/>
          <p:cNvSpPr/>
          <p:nvPr/>
        </p:nvSpPr>
        <p:spPr>
          <a:xfrm>
            <a:off x="7339902" y="4544210"/>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流程圖: 接點 42"/>
          <p:cNvSpPr/>
          <p:nvPr/>
        </p:nvSpPr>
        <p:spPr>
          <a:xfrm>
            <a:off x="6170973" y="5840355"/>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6" name="流程圖: 接點 43"/>
          <p:cNvSpPr/>
          <p:nvPr/>
        </p:nvSpPr>
        <p:spPr>
          <a:xfrm>
            <a:off x="6252068" y="6048378"/>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7" name="流程圖: 接點 44"/>
          <p:cNvSpPr/>
          <p:nvPr/>
        </p:nvSpPr>
        <p:spPr>
          <a:xfrm>
            <a:off x="7476204" y="5328298"/>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8" name="流程圖: 接點 45"/>
          <p:cNvSpPr/>
          <p:nvPr/>
        </p:nvSpPr>
        <p:spPr>
          <a:xfrm>
            <a:off x="7188172" y="5616330"/>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49" name="流程圖: 接點 46"/>
          <p:cNvSpPr/>
          <p:nvPr/>
        </p:nvSpPr>
        <p:spPr>
          <a:xfrm>
            <a:off x="6972148" y="5760346"/>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0" name="流程圖: 接點 47"/>
          <p:cNvSpPr/>
          <p:nvPr/>
        </p:nvSpPr>
        <p:spPr>
          <a:xfrm>
            <a:off x="7548212" y="5544322"/>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1" name="流程圖: 接點 48"/>
          <p:cNvSpPr/>
          <p:nvPr/>
        </p:nvSpPr>
        <p:spPr>
          <a:xfrm>
            <a:off x="6900140" y="5976370"/>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2" name="流程圖: 接點 49"/>
          <p:cNvSpPr/>
          <p:nvPr/>
        </p:nvSpPr>
        <p:spPr>
          <a:xfrm>
            <a:off x="7116164" y="5904362"/>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53" name="向右箭號 51"/>
          <p:cNvSpPr/>
          <p:nvPr/>
        </p:nvSpPr>
        <p:spPr>
          <a:xfrm>
            <a:off x="2858925" y="4968258"/>
            <a:ext cx="707221" cy="7040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乘號 52"/>
          <p:cNvSpPr/>
          <p:nvPr/>
        </p:nvSpPr>
        <p:spPr>
          <a:xfrm>
            <a:off x="4459582" y="4832242"/>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乘號 53"/>
          <p:cNvSpPr/>
          <p:nvPr/>
        </p:nvSpPr>
        <p:spPr>
          <a:xfrm>
            <a:off x="4404342" y="5065034"/>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乘號 54"/>
          <p:cNvSpPr/>
          <p:nvPr/>
        </p:nvSpPr>
        <p:spPr>
          <a:xfrm>
            <a:off x="4652462" y="4880248"/>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乘號 55"/>
          <p:cNvSpPr/>
          <p:nvPr/>
        </p:nvSpPr>
        <p:spPr>
          <a:xfrm>
            <a:off x="4675606" y="4688226"/>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乘號 56"/>
          <p:cNvSpPr/>
          <p:nvPr/>
        </p:nvSpPr>
        <p:spPr>
          <a:xfrm>
            <a:off x="3883518" y="4976258"/>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乘號 57"/>
          <p:cNvSpPr/>
          <p:nvPr/>
        </p:nvSpPr>
        <p:spPr>
          <a:xfrm>
            <a:off x="4099542" y="5120274"/>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乘號 58"/>
          <p:cNvSpPr/>
          <p:nvPr/>
        </p:nvSpPr>
        <p:spPr>
          <a:xfrm>
            <a:off x="4404342" y="5065034"/>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乘號 59"/>
          <p:cNvSpPr/>
          <p:nvPr/>
        </p:nvSpPr>
        <p:spPr>
          <a:xfrm>
            <a:off x="4635745" y="5067979"/>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流程圖: 接點 60"/>
          <p:cNvSpPr/>
          <p:nvPr/>
        </p:nvSpPr>
        <p:spPr>
          <a:xfrm>
            <a:off x="4532260" y="5696722"/>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63" name="流程圖: 接點 61"/>
          <p:cNvSpPr/>
          <p:nvPr/>
        </p:nvSpPr>
        <p:spPr>
          <a:xfrm>
            <a:off x="4523876" y="5904362"/>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64" name="流程圖: 接點 62"/>
          <p:cNvSpPr/>
          <p:nvPr/>
        </p:nvSpPr>
        <p:spPr>
          <a:xfrm>
            <a:off x="4837060" y="5688338"/>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65" name="流程圖: 接點 63"/>
          <p:cNvSpPr/>
          <p:nvPr/>
        </p:nvSpPr>
        <p:spPr>
          <a:xfrm>
            <a:off x="5027932" y="5904362"/>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66" name="流程圖: 接點 64"/>
          <p:cNvSpPr/>
          <p:nvPr/>
        </p:nvSpPr>
        <p:spPr>
          <a:xfrm>
            <a:off x="4667892" y="6048378"/>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67" name="流程圖: 接點 65"/>
          <p:cNvSpPr/>
          <p:nvPr/>
        </p:nvSpPr>
        <p:spPr>
          <a:xfrm>
            <a:off x="4307852" y="5760346"/>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68" name="乘號 66"/>
          <p:cNvSpPr/>
          <p:nvPr/>
        </p:nvSpPr>
        <p:spPr>
          <a:xfrm>
            <a:off x="6259782" y="4832242"/>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乘號 67"/>
          <p:cNvSpPr/>
          <p:nvPr/>
        </p:nvSpPr>
        <p:spPr>
          <a:xfrm>
            <a:off x="6412182" y="4984642"/>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乘號 68"/>
          <p:cNvSpPr/>
          <p:nvPr/>
        </p:nvSpPr>
        <p:spPr>
          <a:xfrm>
            <a:off x="6259782" y="5192282"/>
            <a:ext cx="192879" cy="192021"/>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流程圖: 接點 69"/>
          <p:cNvSpPr/>
          <p:nvPr/>
        </p:nvSpPr>
        <p:spPr>
          <a:xfrm>
            <a:off x="7620220" y="5112274"/>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72" name="流程圖: 接點 70"/>
          <p:cNvSpPr/>
          <p:nvPr/>
        </p:nvSpPr>
        <p:spPr>
          <a:xfrm>
            <a:off x="7348956" y="5633098"/>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73" name="流程圖: 接點 71"/>
          <p:cNvSpPr/>
          <p:nvPr/>
        </p:nvSpPr>
        <p:spPr>
          <a:xfrm>
            <a:off x="6684116" y="6048378"/>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74" name="流程圖: 接點 72"/>
          <p:cNvSpPr/>
          <p:nvPr/>
        </p:nvSpPr>
        <p:spPr>
          <a:xfrm>
            <a:off x="6468092" y="5976370"/>
            <a:ext cx="128586" cy="128014"/>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Tree>
    <p:extLst>
      <p:ext uri="{BB962C8B-B14F-4D97-AF65-F5344CB8AC3E}">
        <p14:creationId xmlns:p14="http://schemas.microsoft.com/office/powerpoint/2010/main" val="9537918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in ML</a:t>
            </a:r>
            <a:br>
              <a:rPr lang="en-US" dirty="0"/>
            </a:br>
            <a:r>
              <a:rPr lang="en-US" dirty="0"/>
              <a:t>Overfitting vs underfitting</a:t>
            </a:r>
          </a:p>
        </p:txBody>
      </p:sp>
      <p:sp>
        <p:nvSpPr>
          <p:cNvPr id="3" name="Content Placeholder 2"/>
          <p:cNvSpPr>
            <a:spLocks noGrp="1"/>
          </p:cNvSpPr>
          <p:nvPr>
            <p:ph idx="1"/>
          </p:nvPr>
        </p:nvSpPr>
        <p:spPr/>
        <p:txBody>
          <a:bodyPr/>
          <a:lstStyle/>
          <a:p>
            <a:endParaRPr lang="en-US"/>
          </a:p>
        </p:txBody>
      </p:sp>
      <p:pic>
        <p:nvPicPr>
          <p:cNvPr id="4098" name="Picture 2" descr="https://miro.medium.com/1*_7OPgojau8hkiPUiHoGK_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894" y="2736024"/>
            <a:ext cx="8036719" cy="2793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77733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Bias in Data → Biased Predictions</a:t>
            </a:r>
          </a:p>
        </p:txBody>
      </p:sp>
      <p:pic>
        <p:nvPicPr>
          <p:cNvPr id="4" name="Picture 3"/>
          <p:cNvPicPr>
            <a:picLocks noChangeAspect="1"/>
          </p:cNvPicPr>
          <p:nvPr/>
        </p:nvPicPr>
        <p:blipFill>
          <a:blip r:embed="rId2"/>
          <a:stretch>
            <a:fillRect/>
          </a:stretch>
        </p:blipFill>
        <p:spPr>
          <a:xfrm>
            <a:off x="2285999" y="2601019"/>
            <a:ext cx="4572000" cy="2650331"/>
          </a:xfrm>
          <a:prstGeom prst="rect">
            <a:avLst/>
          </a:prstGeom>
        </p:spPr>
      </p:pic>
    </p:spTree>
    <p:extLst>
      <p:ext uri="{BB962C8B-B14F-4D97-AF65-F5344CB8AC3E}">
        <p14:creationId xmlns:p14="http://schemas.microsoft.com/office/powerpoint/2010/main" val="17045470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Bias in Data → Biased Predictions</a:t>
            </a:r>
          </a:p>
        </p:txBody>
      </p:sp>
      <p:sp>
        <p:nvSpPr>
          <p:cNvPr id="4" name="Rectangle 1"/>
          <p:cNvSpPr>
            <a:spLocks noGrp="1" noChangeArrowheads="1"/>
          </p:cNvSpPr>
          <p:nvPr>
            <p:ph idx="1"/>
          </p:nvPr>
        </p:nvSpPr>
        <p:spPr bwMode="auto">
          <a:xfrm>
            <a:off x="304800" y="1644134"/>
            <a:ext cx="8318624" cy="2654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marL="0" indent="0" defTabSz="685800" eaLnBrk="0" fontAlgn="base" hangingPunct="0">
              <a:spcBef>
                <a:spcPct val="0"/>
              </a:spcBef>
              <a:spcAft>
                <a:spcPct val="0"/>
              </a:spcAft>
              <a:buClrTx/>
              <a:buSzTx/>
              <a:buFontTx/>
              <a:buChar char="•"/>
            </a:pPr>
            <a:r>
              <a:rPr lang="en-US" altLang="en-US" dirty="0"/>
              <a:t>ML models mirror the data they are trained on</a:t>
            </a:r>
          </a:p>
          <a:p>
            <a:pPr marL="0" indent="0" defTabSz="685800" eaLnBrk="0" fontAlgn="base" hangingPunct="0">
              <a:spcBef>
                <a:spcPct val="0"/>
              </a:spcBef>
              <a:spcAft>
                <a:spcPct val="0"/>
              </a:spcAft>
              <a:buClrTx/>
              <a:buSzTx/>
              <a:buFontTx/>
              <a:buChar char="•"/>
            </a:pPr>
            <a:r>
              <a:rPr lang="en-US" altLang="en-US" dirty="0"/>
              <a:t>If data has </a:t>
            </a:r>
            <a:r>
              <a:rPr lang="en-US" altLang="en-US" b="1" dirty="0"/>
              <a:t>imbalance or prejudice</a:t>
            </a:r>
            <a:r>
              <a:rPr lang="en-US" altLang="en-US" dirty="0"/>
              <a:t>, predictions will </a:t>
            </a:r>
          </a:p>
          <a:p>
            <a:pPr marL="0" indent="0" defTabSz="685800" eaLnBrk="0" fontAlgn="base" hangingPunct="0">
              <a:spcBef>
                <a:spcPct val="0"/>
              </a:spcBef>
              <a:spcAft>
                <a:spcPct val="0"/>
              </a:spcAft>
              <a:buClrTx/>
              <a:buSzTx/>
              <a:buNone/>
            </a:pPr>
            <a:r>
              <a:rPr lang="en-US" altLang="en-US" dirty="0"/>
              <a:t>   also be biased</a:t>
            </a:r>
            <a:br>
              <a:rPr lang="en-US" altLang="en-US" dirty="0"/>
            </a:br>
            <a:endParaRPr lang="en-US" altLang="en-US" dirty="0"/>
          </a:p>
          <a:p>
            <a:pPr marL="0" indent="0" defTabSz="685800" eaLnBrk="0" fontAlgn="base" hangingPunct="0">
              <a:spcBef>
                <a:spcPct val="0"/>
              </a:spcBef>
              <a:spcAft>
                <a:spcPct val="0"/>
              </a:spcAft>
              <a:buClrTx/>
              <a:buSzTx/>
              <a:buNone/>
            </a:pPr>
            <a:r>
              <a:rPr lang="en-US" altLang="en-US" b="1" dirty="0"/>
              <a:t>Examples:</a:t>
            </a:r>
            <a:endParaRPr lang="en-US" altLang="en-US" dirty="0"/>
          </a:p>
          <a:p>
            <a:pPr marL="0" indent="0" defTabSz="685800" eaLnBrk="0" fontAlgn="base" hangingPunct="0">
              <a:spcBef>
                <a:spcPct val="0"/>
              </a:spcBef>
              <a:spcAft>
                <a:spcPct val="0"/>
              </a:spcAft>
              <a:buClrTx/>
              <a:buSzTx/>
              <a:buFontTx/>
              <a:buChar char="•"/>
            </a:pPr>
            <a:r>
              <a:rPr lang="en-US" altLang="en-US" dirty="0"/>
              <a:t>Hiring algorithms favoring one gender over another</a:t>
            </a:r>
          </a:p>
          <a:p>
            <a:pPr marL="0" indent="0" defTabSz="685800" eaLnBrk="0" fontAlgn="base" hangingPunct="0">
              <a:spcBef>
                <a:spcPct val="0"/>
              </a:spcBef>
              <a:spcAft>
                <a:spcPct val="0"/>
              </a:spcAft>
              <a:buClrTx/>
              <a:buSzTx/>
              <a:buFontTx/>
              <a:buChar char="•"/>
            </a:pPr>
            <a:r>
              <a:rPr lang="en-US" altLang="en-US" dirty="0"/>
              <a:t>Facial recognition less accurate on certain ethnic groups</a:t>
            </a:r>
          </a:p>
        </p:txBody>
      </p:sp>
    </p:spTree>
    <p:extLst>
      <p:ext uri="{BB962C8B-B14F-4D97-AF65-F5344CB8AC3E}">
        <p14:creationId xmlns:p14="http://schemas.microsoft.com/office/powerpoint/2010/main" val="40396028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Ethical Implications of ML</a:t>
            </a:r>
          </a:p>
        </p:txBody>
      </p:sp>
      <p:sp>
        <p:nvSpPr>
          <p:cNvPr id="3" name="Content Placeholder 2"/>
          <p:cNvSpPr>
            <a:spLocks noGrp="1"/>
          </p:cNvSpPr>
          <p:nvPr>
            <p:ph idx="1"/>
          </p:nvPr>
        </p:nvSpPr>
        <p:spPr/>
        <p:txBody>
          <a:bodyPr>
            <a:normAutofit/>
          </a:bodyPr>
          <a:lstStyle/>
          <a:p>
            <a:pPr marL="0" indent="0">
              <a:buNone/>
            </a:pPr>
            <a:r>
              <a:rPr lang="en-US" sz="2100" b="1" dirty="0"/>
              <a:t>Questions to ask:</a:t>
            </a:r>
            <a:endParaRPr lang="en-US" sz="2100" dirty="0"/>
          </a:p>
          <a:p>
            <a:r>
              <a:rPr lang="en-US" sz="2100" dirty="0"/>
              <a:t>Should all ML applications be pursued?</a:t>
            </a:r>
          </a:p>
          <a:p>
            <a:r>
              <a:rPr lang="en-US" sz="2100" dirty="0"/>
              <a:t>Who is accountable when AI makes mistakes?</a:t>
            </a:r>
          </a:p>
          <a:p>
            <a:r>
              <a:rPr lang="en-US" sz="2100" dirty="0"/>
              <a:t>How do we ensure fairness and transparency?</a:t>
            </a:r>
          </a:p>
          <a:p>
            <a:pPr marL="0" indent="0">
              <a:buNone/>
            </a:pPr>
            <a:r>
              <a:rPr lang="en-US" sz="2100" b="1" dirty="0"/>
              <a:t>Examples:</a:t>
            </a:r>
            <a:endParaRPr lang="en-US" sz="2100" dirty="0"/>
          </a:p>
          <a:p>
            <a:r>
              <a:rPr lang="en-US" sz="2100" dirty="0"/>
              <a:t>Predictive policing → may reinforce systemic bias</a:t>
            </a:r>
          </a:p>
          <a:p>
            <a:r>
              <a:rPr lang="en-US" sz="2100" dirty="0"/>
              <a:t>Healthcare AI → must work equally well for all patients</a:t>
            </a:r>
          </a:p>
          <a:p>
            <a:endParaRPr lang="en-US" dirty="0"/>
          </a:p>
        </p:txBody>
      </p:sp>
    </p:spTree>
    <p:extLst>
      <p:ext uri="{BB962C8B-B14F-4D97-AF65-F5344CB8AC3E}">
        <p14:creationId xmlns:p14="http://schemas.microsoft.com/office/powerpoint/2010/main" val="12842353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C842EB5B25AA94681E01C533BC4E547" ma:contentTypeVersion="0" ma:contentTypeDescription="Create a new document." ma:contentTypeScope="" ma:versionID="6d63cb74336b47024a8ebcecc4032381">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4BFD802-4A57-47BC-9FBE-4207C1C3ECD3}"/>
</file>

<file path=customXml/itemProps2.xml><?xml version="1.0" encoding="utf-8"?>
<ds:datastoreItem xmlns:ds="http://schemas.openxmlformats.org/officeDocument/2006/customXml" ds:itemID="{DC9F3BC6-BBE0-4A7B-A005-8820C42B7CDE}"/>
</file>

<file path=customXml/itemProps3.xml><?xml version="1.0" encoding="utf-8"?>
<ds:datastoreItem xmlns:ds="http://schemas.openxmlformats.org/officeDocument/2006/customXml" ds:itemID="{4637717C-CCAB-47D6-AD7B-52FCA73FD222}"/>
</file>

<file path=docProps/app.xml><?xml version="1.0" encoding="utf-8"?>
<Properties xmlns="http://schemas.openxmlformats.org/officeDocument/2006/extended-properties" xmlns:vt="http://schemas.openxmlformats.org/officeDocument/2006/docPropsVTypes">
  <Template>Oriel</Template>
  <TotalTime>1590</TotalTime>
  <Words>1175</Words>
  <Application>Microsoft Office PowerPoint</Application>
  <PresentationFormat>On-screen Show (4:3)</PresentationFormat>
  <Paragraphs>162</Paragraphs>
  <Slides>65</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Arial</vt:lpstr>
      <vt:lpstr>Calibri</vt:lpstr>
      <vt:lpstr>Cambria</vt:lpstr>
      <vt:lpstr>Century Schoolbook</vt:lpstr>
      <vt:lpstr>Wingdings</vt:lpstr>
      <vt:lpstr>Wingdings 2</vt:lpstr>
      <vt:lpstr>Oriel</vt:lpstr>
      <vt:lpstr>PowerPoint Presentation</vt:lpstr>
      <vt:lpstr>PowerPoint Presentation</vt:lpstr>
      <vt:lpstr>Overview of ML</vt:lpstr>
      <vt:lpstr>What is machine learning?</vt:lpstr>
      <vt:lpstr>PowerPoint Presentation</vt:lpstr>
      <vt:lpstr> Machine Learning Process Lifecycle </vt:lpstr>
      <vt:lpstr> Data  </vt:lpstr>
      <vt:lpstr>PowerPoint Presentation</vt:lpstr>
      <vt:lpstr>Algorithms</vt:lpstr>
      <vt:lpstr> Learning Dimensions </vt:lpstr>
      <vt:lpstr>PowerPoint Presentation</vt:lpstr>
      <vt:lpstr>Supervised Learning</vt:lpstr>
      <vt:lpstr>Supervised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Applications of Supervised Learning</vt:lpstr>
      <vt:lpstr>PowerPoint Presentation</vt:lpstr>
      <vt:lpstr>PowerPoint Presentation</vt:lpstr>
      <vt:lpstr>Unsupervised Learning</vt:lpstr>
      <vt:lpstr>PowerPoint Presentation</vt:lpstr>
      <vt:lpstr>PowerPoint Presentation</vt:lpstr>
      <vt:lpstr>PowerPoint Presentation</vt:lpstr>
      <vt:lpstr>PowerPoint Presentation</vt:lpstr>
      <vt:lpstr>PowerPoint Presentation</vt:lpstr>
      <vt:lpstr>PowerPoint Presentation</vt:lpstr>
      <vt:lpstr>Applications of Unsupervised Learning</vt:lpstr>
      <vt:lpstr>PowerPoint Presentation</vt:lpstr>
      <vt:lpstr>Reinforcement Learning</vt:lpstr>
      <vt:lpstr>Reinforcement Learning</vt:lpstr>
      <vt:lpstr>PowerPoint Presentation</vt:lpstr>
      <vt:lpstr>PowerPoint Presentation</vt:lpstr>
      <vt:lpstr>Applications of Reinforcement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Instance Based Learning Algorithms         </vt:lpstr>
      <vt:lpstr>PowerPoint Presentation</vt:lpstr>
      <vt:lpstr>PowerPoint Presentation</vt:lpstr>
      <vt:lpstr>PowerPoint Presentation</vt:lpstr>
      <vt:lpstr>Training and testing</vt:lpstr>
      <vt:lpstr>Training and testing</vt:lpstr>
      <vt:lpstr>Challenges in ML Overfitting vs underfitting</vt:lpstr>
      <vt:lpstr>Bias in Data → Biased Predictions</vt:lpstr>
      <vt:lpstr>Bias in Data → Biased Predictions</vt:lpstr>
      <vt:lpstr>Ethical Implications of ML</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dc:title>
  <dc:creator>Muhammad Yasin</dc:creator>
  <cp:lastModifiedBy>Usman Yaseen</cp:lastModifiedBy>
  <cp:revision>56</cp:revision>
  <dcterms:created xsi:type="dcterms:W3CDTF">2020-09-12T07:29:36Z</dcterms:created>
  <dcterms:modified xsi:type="dcterms:W3CDTF">2026-01-15T11:52:31Z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0x010100BC842EB5B25AA94681E01C533BC4E547</vt:lpwstr>
  </property>
  <property fmtid="{D5CDD505-2E9C-101B-9397-08002B2CF9AE}" pid="3" name="Order">
    <vt:r8>200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