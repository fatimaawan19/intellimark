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73.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47.xml" ContentType="application/vnd.openxmlformats-officedocument.presentationml.slide+xml"/>
  <Override PartName="/ppt/slides/slide46.xml" ContentType="application/vnd.openxmlformats-officedocument.presentationml.slide+xml"/>
  <Override PartName="/ppt/slides/slide45.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71.xml" ContentType="application/vnd.openxmlformats-officedocument.presentationml.slide+xml"/>
  <Override PartName="/ppt/slides/slide81.xml" ContentType="application/vnd.openxmlformats-officedocument.presentationml.slide+xml"/>
  <Override PartName="/ppt/slides/slide80.xml" ContentType="application/vnd.openxmlformats-officedocument.presentationml.slide+xml"/>
  <Override PartName="/ppt/slides/slide79.xml" ContentType="application/vnd.openxmlformats-officedocument.presentationml.slide+xml"/>
  <Override PartName="/ppt/slides/slide78.xml" ContentType="application/vnd.openxmlformats-officedocument.presentationml.slide+xml"/>
  <Override PartName="/ppt/slides/slide77.xml" ContentType="application/vnd.openxmlformats-officedocument.presentationml.slide+xml"/>
  <Override PartName="/ppt/slides/slide76.xml" ContentType="application/vnd.openxmlformats-officedocument.presentationml.slide+xml"/>
  <Override PartName="/ppt/slides/slide75.xml" ContentType="application/vnd.openxmlformats-officedocument.presentationml.slide+xml"/>
  <Override PartName="/ppt/slides/slide74.xml" ContentType="application/vnd.openxmlformats-officedocument.presentationml.slide+xml"/>
  <Override PartName="/ppt/slides/slide70.xml" ContentType="application/vnd.openxmlformats-officedocument.presentationml.slide+xml"/>
  <Override PartName="/ppt/slides/slide69.xml" ContentType="application/vnd.openxmlformats-officedocument.presentationml.slide+xml"/>
  <Override PartName="/ppt/slides/slide68.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7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16.xml" ContentType="application/vnd.openxmlformats-officedocument.presentationml.slide+xml"/>
  <Override PartName="/ppt/slides/slide12.xml" ContentType="application/vnd.openxmlformats-officedocument.presentationml.slide+xml"/>
  <Override PartName="/ppt/slides/slide18.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17.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27.xml" ContentType="application/vnd.openxmlformats-officedocument.presentationml.slide+xml"/>
  <Override PartName="/ppt/slides/slide31.xml" ContentType="application/vnd.openxmlformats-officedocument.presentationml.slide+xml"/>
  <Override PartName="/ppt/slides/slide25.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6.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4.xml" ContentType="application/vnd.openxmlformats-officedocument.presentationml.slide+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317" r:id="rId3"/>
    <p:sldId id="318" r:id="rId4"/>
    <p:sldId id="319" r:id="rId5"/>
    <p:sldId id="320" r:id="rId6"/>
    <p:sldId id="321" r:id="rId7"/>
    <p:sldId id="268" r:id="rId8"/>
    <p:sldId id="354" r:id="rId9"/>
    <p:sldId id="257" r:id="rId10"/>
    <p:sldId id="258" r:id="rId11"/>
    <p:sldId id="259" r:id="rId12"/>
    <p:sldId id="322" r:id="rId13"/>
    <p:sldId id="260" r:id="rId14"/>
    <p:sldId id="272" r:id="rId15"/>
    <p:sldId id="273" r:id="rId16"/>
    <p:sldId id="274" r:id="rId17"/>
    <p:sldId id="275" r:id="rId18"/>
    <p:sldId id="276" r:id="rId19"/>
    <p:sldId id="323" r:id="rId20"/>
    <p:sldId id="326" r:id="rId21"/>
    <p:sldId id="324" r:id="rId22"/>
    <p:sldId id="325" r:id="rId23"/>
    <p:sldId id="327" r:id="rId24"/>
    <p:sldId id="328" r:id="rId25"/>
    <p:sldId id="331" r:id="rId26"/>
    <p:sldId id="329" r:id="rId27"/>
    <p:sldId id="330" r:id="rId28"/>
    <p:sldId id="332" r:id="rId29"/>
    <p:sldId id="335" r:id="rId30"/>
    <p:sldId id="334" r:id="rId31"/>
    <p:sldId id="333" r:id="rId32"/>
    <p:sldId id="336" r:id="rId33"/>
    <p:sldId id="337" r:id="rId34"/>
    <p:sldId id="338" r:id="rId35"/>
    <p:sldId id="339" r:id="rId36"/>
    <p:sldId id="343" r:id="rId37"/>
    <p:sldId id="340" r:id="rId38"/>
    <p:sldId id="341" r:id="rId39"/>
    <p:sldId id="342" r:id="rId40"/>
    <p:sldId id="344" r:id="rId41"/>
    <p:sldId id="278" r:id="rId42"/>
    <p:sldId id="307" r:id="rId43"/>
    <p:sldId id="308" r:id="rId44"/>
    <p:sldId id="309" r:id="rId45"/>
    <p:sldId id="348" r:id="rId46"/>
    <p:sldId id="345" r:id="rId47"/>
    <p:sldId id="347" r:id="rId48"/>
    <p:sldId id="346" r:id="rId49"/>
    <p:sldId id="351" r:id="rId50"/>
    <p:sldId id="350" r:id="rId51"/>
    <p:sldId id="352" r:id="rId52"/>
    <p:sldId id="306" r:id="rId53"/>
    <p:sldId id="279" r:id="rId54"/>
    <p:sldId id="280" r:id="rId55"/>
    <p:sldId id="281" r:id="rId56"/>
    <p:sldId id="282" r:id="rId57"/>
    <p:sldId id="302" r:id="rId58"/>
    <p:sldId id="303" r:id="rId59"/>
    <p:sldId id="304" r:id="rId60"/>
    <p:sldId id="305" r:id="rId61"/>
    <p:sldId id="277" r:id="rId62"/>
    <p:sldId id="283" r:id="rId63"/>
    <p:sldId id="284" r:id="rId64"/>
    <p:sldId id="286" r:id="rId65"/>
    <p:sldId id="287" r:id="rId66"/>
    <p:sldId id="288" r:id="rId67"/>
    <p:sldId id="289" r:id="rId68"/>
    <p:sldId id="290" r:id="rId69"/>
    <p:sldId id="295" r:id="rId70"/>
    <p:sldId id="355" r:id="rId71"/>
    <p:sldId id="358" r:id="rId72"/>
    <p:sldId id="356" r:id="rId73"/>
    <p:sldId id="357" r:id="rId74"/>
    <p:sldId id="359" r:id="rId75"/>
    <p:sldId id="310" r:id="rId76"/>
    <p:sldId id="301" r:id="rId77"/>
    <p:sldId id="311" r:id="rId78"/>
    <p:sldId id="312" r:id="rId79"/>
    <p:sldId id="313" r:id="rId80"/>
    <p:sldId id="314" r:id="rId81"/>
    <p:sldId id="315" r:id="rId8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89" Type="http://schemas.openxmlformats.org/officeDocument/2006/relationships/customXml" Target="../customXml/item3.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88"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customXml" Target="../customXml/item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1D8BD707-D9CF-40AE-B4C6-C98DA3205C09}" type="datetimeFigureOut">
              <a:rPr lang="en-US" smtClean="0"/>
              <a:pPr/>
              <a:t>1/10/2023</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1D8BD707-D9CF-40AE-B4C6-C98DA3205C09}" type="datetimeFigureOut">
              <a:rPr lang="en-US" smtClean="0"/>
              <a:pPr/>
              <a:t>1/10/2023</a:t>
            </a:fld>
            <a:endParaRPr lang="en-US"/>
          </a:p>
        </p:txBody>
      </p:sp>
      <p:sp>
        <p:nvSpPr>
          <p:cNvPr id="9" name="Slide Number Placeholder 8"/>
          <p:cNvSpPr>
            <a:spLocks noGrp="1"/>
          </p:cNvSpPr>
          <p:nvPr>
            <p:ph type="sldNum" sz="quarter" idx="15"/>
          </p:nvPr>
        </p:nvSpPr>
        <p:spPr/>
        <p:txBody>
          <a:bodyPr rtlCol="0"/>
          <a:lstStyle/>
          <a:p>
            <a:fld id="{B6F15528-21DE-4FAA-801E-634DDDAF4B2B}" type="slidenum">
              <a:rPr lang="en-US" smtClean="0"/>
              <a:pPr/>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1D8BD707-D9CF-40AE-B4C6-C98DA3205C09}" type="datetimeFigureOut">
              <a:rPr lang="en-US" smtClean="0"/>
              <a:pPr/>
              <a:t>1/10/2023</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1/10/2023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1/10/2023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1D8BD707-D9CF-40AE-B4C6-C98DA3205C09}" type="datetimeFigureOut">
              <a:rPr lang="en-US" smtClean="0"/>
              <a:pPr/>
              <a:t>1/10/2023</a:t>
            </a:fld>
            <a:endParaRPr lang="en-US"/>
          </a:p>
        </p:txBody>
      </p:sp>
      <p:sp>
        <p:nvSpPr>
          <p:cNvPr id="7" name="Slide Number Placeholder 6"/>
          <p:cNvSpPr>
            <a:spLocks noGrp="1"/>
          </p:cNvSpPr>
          <p:nvPr>
            <p:ph type="sldNum" sz="quarter" idx="11"/>
          </p:nvPr>
        </p:nvSpPr>
        <p:spPr/>
        <p:txBody>
          <a:bodyPr rtlCol="0"/>
          <a:lstStyle/>
          <a:p>
            <a:fld id="{B6F15528-21DE-4FAA-801E-634DDDAF4B2B}" type="slidenum">
              <a:rPr lang="en-US" smtClean="0"/>
              <a:pPr/>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1D8BD707-D9CF-40AE-B4C6-C98DA3205C09}" type="datetimeFigureOut">
              <a:rPr lang="en-US" smtClean="0"/>
              <a:pPr/>
              <a:t>1/10/2023</a:t>
            </a:fld>
            <a:endParaRPr lang="en-US"/>
          </a:p>
        </p:txBody>
      </p:sp>
      <p:sp>
        <p:nvSpPr>
          <p:cNvPr id="22" name="Slide Number Placeholder 21"/>
          <p:cNvSpPr>
            <a:spLocks noGrp="1"/>
          </p:cNvSpPr>
          <p:nvPr>
            <p:ph type="sldNum" sz="quarter" idx="15"/>
          </p:nvPr>
        </p:nvSpPr>
        <p:spPr/>
        <p:txBody>
          <a:bodyPr rtlCol="0"/>
          <a:lstStyle/>
          <a:p>
            <a:fld id="{B6F15528-21DE-4FAA-801E-634DDDAF4B2B}" type="slidenum">
              <a:rPr lang="en-US" smtClean="0"/>
              <a:pPr/>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1D8BD707-D9CF-40AE-B4C6-C98DA3205C09}" type="datetimeFigureOut">
              <a:rPr lang="en-US" smtClean="0"/>
              <a:pPr/>
              <a:t>1/10/2023</a:t>
            </a:fld>
            <a:endParaRPr lang="en-US"/>
          </a:p>
        </p:txBody>
      </p:sp>
      <p:sp>
        <p:nvSpPr>
          <p:cNvPr id="18" name="Slide Number Placeholder 17"/>
          <p:cNvSpPr>
            <a:spLocks noGrp="1"/>
          </p:cNvSpPr>
          <p:nvPr>
            <p:ph type="sldNum" sz="quarter" idx="11"/>
          </p:nvPr>
        </p:nvSpPr>
        <p:spPr/>
        <p:txBody>
          <a:bodyPr rtlCol="0"/>
          <a:lstStyle/>
          <a:p>
            <a:fld id="{B6F15528-21DE-4FAA-801E-634DDDAF4B2B}" type="slidenum">
              <a:rPr lang="en-US" smtClean="0"/>
              <a:pPr/>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1D8BD707-D9CF-40AE-B4C6-C98DA3205C09}" type="datetimeFigureOut">
              <a:rPr lang="en-US" smtClean="0"/>
              <a:pPr/>
              <a:t>1/10/2023</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hyperlink" Target="https://www.statisticshowto.com/probability-and-statistics/correlation-coefficient-formula/"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Regression</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3236313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Slope</a:t>
            </a:r>
            <a:endParaRPr lang="en-US" dirty="0"/>
          </a:p>
        </p:txBody>
      </p:sp>
      <p:sp>
        <p:nvSpPr>
          <p:cNvPr id="3" name="Content Placeholder 2"/>
          <p:cNvSpPr>
            <a:spLocks noGrp="1"/>
          </p:cNvSpPr>
          <p:nvPr>
            <p:ph sz="quarter" idx="1"/>
          </p:nvPr>
        </p:nvSpPr>
        <p:spPr/>
        <p:txBody>
          <a:bodyPr>
            <a:normAutofit fontScale="92500"/>
          </a:bodyPr>
          <a:lstStyle/>
          <a:p>
            <a:pPr algn="just"/>
            <a:r>
              <a:rPr lang="en-US" dirty="0"/>
              <a:t>Slope of a linear regression line tells us </a:t>
            </a:r>
            <a:r>
              <a:rPr lang="en-US" b="1" dirty="0"/>
              <a:t>- how much change in y-variable is caused by a unit </a:t>
            </a:r>
            <a:r>
              <a:rPr lang="en-US" b="1" dirty="0" smtClean="0"/>
              <a:t>change </a:t>
            </a:r>
            <a:r>
              <a:rPr lang="en-US" b="1" dirty="0"/>
              <a:t>in x-variable</a:t>
            </a:r>
            <a:r>
              <a:rPr lang="en-US" dirty="0" smtClean="0"/>
              <a:t>.</a:t>
            </a:r>
          </a:p>
          <a:p>
            <a:pPr algn="just"/>
            <a:endParaRPr lang="en-US" dirty="0"/>
          </a:p>
          <a:p>
            <a:pPr algn="just"/>
            <a:r>
              <a:rPr lang="en-US" dirty="0"/>
              <a:t>The slope </a:t>
            </a:r>
            <a:r>
              <a:rPr lang="en-US" b="1" dirty="0"/>
              <a:t>indicates the steepness of a line</a:t>
            </a:r>
            <a:r>
              <a:rPr lang="en-US" dirty="0"/>
              <a:t> and the intercept indicates the location where it intersects an axis. The slope and the intercept define the linear relationship between two variables, and can be used to estimate an average rate of change</a:t>
            </a:r>
            <a:r>
              <a:rPr lang="en-US" dirty="0" smtClean="0"/>
              <a:t>.</a:t>
            </a:r>
          </a:p>
          <a:p>
            <a:pPr algn="just"/>
            <a:endParaRPr lang="en-US" dirty="0"/>
          </a:p>
          <a:p>
            <a:pPr algn="just"/>
            <a:r>
              <a:rPr lang="en-US" dirty="0"/>
              <a:t>The greater the magnitude of the slope, the steeper the line and the greater the rate of change.</a:t>
            </a:r>
          </a:p>
        </p:txBody>
      </p:sp>
      <p:sp>
        <p:nvSpPr>
          <p:cNvPr id="4" name="Title 1"/>
          <p:cNvSpPr txBox="1">
            <a:spLocks/>
          </p:cNvSpPr>
          <p:nvPr/>
        </p:nvSpPr>
        <p:spPr>
          <a:xfrm>
            <a:off x="2133600" y="92076"/>
            <a:ext cx="7467600" cy="579438"/>
          </a:xfrm>
          <a:prstGeom prst="rect">
            <a:avLst/>
          </a:prstGeom>
        </p:spPr>
        <p:txBody>
          <a:bodyPr vert="horz" anchor="b">
            <a:normAutofit/>
          </a:bodyPr>
          <a:lstStyle>
            <a:lvl1pPr algn="l" rtl="0" eaLnBrk="1" latinLnBrk="0" hangingPunct="1">
              <a:spcBef>
                <a:spcPct val="0"/>
              </a:spcBef>
              <a:buNone/>
              <a:defRPr kumimoji="0" sz="3000" b="0" kern="1200" cap="small" baseline="0">
                <a:solidFill>
                  <a:schemeClr val="tx2"/>
                </a:solidFill>
                <a:latin typeface="+mj-lt"/>
                <a:ea typeface="+mj-ea"/>
                <a:cs typeface="+mj-cs"/>
              </a:defRPr>
            </a:lvl1pPr>
          </a:lstStyle>
          <a:p>
            <a:r>
              <a:rPr lang="en-US" smtClean="0"/>
              <a:t>Recap of basic concepts</a:t>
            </a:r>
            <a:endParaRPr lang="en-US" dirty="0"/>
          </a:p>
        </p:txBody>
      </p:sp>
    </p:spTree>
    <p:extLst>
      <p:ext uri="{BB962C8B-B14F-4D97-AF65-F5344CB8AC3E}">
        <p14:creationId xmlns:p14="http://schemas.microsoft.com/office/powerpoint/2010/main" val="6328008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76200" y="17060"/>
            <a:ext cx="4572000" cy="6459940"/>
          </a:xfrm>
        </p:spPr>
        <p:txBody>
          <a:bodyPr>
            <a:normAutofit lnSpcReduction="10000"/>
          </a:bodyPr>
          <a:lstStyle/>
          <a:p>
            <a:endParaRPr lang="en-US" sz="1400" dirty="0" smtClean="0"/>
          </a:p>
          <a:p>
            <a:endParaRPr lang="en-US" sz="1400" dirty="0"/>
          </a:p>
          <a:p>
            <a:endParaRPr lang="en-US" sz="1400" dirty="0" smtClean="0"/>
          </a:p>
          <a:p>
            <a:endParaRPr lang="en-US" sz="1400" dirty="0"/>
          </a:p>
          <a:p>
            <a:r>
              <a:rPr lang="en-US" sz="1600" dirty="0" smtClean="0"/>
              <a:t>The </a:t>
            </a:r>
            <a:r>
              <a:rPr lang="en-US" sz="1600" dirty="0"/>
              <a:t>slope is positive 5. When x increases by 1, y increases by 5. The y-intercept is 2</a:t>
            </a:r>
            <a:r>
              <a:rPr lang="en-US" sz="1600" dirty="0" smtClean="0"/>
              <a:t>.</a:t>
            </a:r>
          </a:p>
          <a:p>
            <a:endParaRPr lang="en-US" sz="1600" dirty="0"/>
          </a:p>
          <a:p>
            <a:endParaRPr lang="en-US" sz="1600" dirty="0" smtClean="0"/>
          </a:p>
          <a:p>
            <a:endParaRPr lang="en-US" sz="1600" dirty="0"/>
          </a:p>
          <a:p>
            <a:endParaRPr lang="en-US" sz="1600" dirty="0" smtClean="0"/>
          </a:p>
          <a:p>
            <a:endParaRPr lang="en-US" sz="1600" dirty="0"/>
          </a:p>
          <a:p>
            <a:r>
              <a:rPr lang="en-US" sz="1600" dirty="0" smtClean="0"/>
              <a:t>The </a:t>
            </a:r>
            <a:r>
              <a:rPr lang="en-US" sz="1600" dirty="0"/>
              <a:t>slope is negative 0.4. When x increases by 1, y decreases by 0.4. The y-intercept is 7.2</a:t>
            </a:r>
            <a:r>
              <a:rPr lang="en-US" sz="1600" dirty="0" smtClean="0"/>
              <a:t>.</a:t>
            </a:r>
          </a:p>
          <a:p>
            <a:endParaRPr lang="en-US" sz="1600" dirty="0" smtClean="0"/>
          </a:p>
          <a:p>
            <a:endParaRPr lang="en-US" sz="1600" dirty="0" smtClean="0"/>
          </a:p>
          <a:p>
            <a:endParaRPr lang="en-US" sz="1600" dirty="0"/>
          </a:p>
          <a:p>
            <a:endParaRPr lang="en-US" sz="1600" dirty="0" smtClean="0"/>
          </a:p>
          <a:p>
            <a:endParaRPr lang="en-US" sz="1600" dirty="0"/>
          </a:p>
          <a:p>
            <a:r>
              <a:rPr lang="en-US" sz="1600" dirty="0" smtClean="0"/>
              <a:t>The </a:t>
            </a:r>
            <a:r>
              <a:rPr lang="en-US" sz="1600" dirty="0"/>
              <a:t>slope is 0. When x increases by 1, y neither increases or decreases. The y-intercept is -4.</a:t>
            </a:r>
          </a:p>
          <a:p>
            <a:endParaRPr lang="en-US" sz="1400" dirty="0"/>
          </a:p>
        </p:txBody>
      </p:sp>
      <p:pic>
        <p:nvPicPr>
          <p:cNvPr id="2050" name="Picture 2" descr="https://support.minitab.com/en-us/minitab-express/1/scatterplot_linear_equation_2_plus_5x.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0600" y="17061"/>
            <a:ext cx="3918045" cy="196414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ttps://support.minitab.com/en-us/minitab-express/1/scatterplot_linear_equation_7.2_minus_.4x.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600" y="2057400"/>
            <a:ext cx="3918045" cy="2286001"/>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https://support.minitab.com/en-us/minitab-express/1/scatterplot_linear_equation_negative_4.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0600" y="4419600"/>
            <a:ext cx="3918045" cy="228600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a:blip r:embed="rId5"/>
          <a:stretch>
            <a:fillRect/>
          </a:stretch>
        </p:blipFill>
        <p:spPr>
          <a:xfrm>
            <a:off x="762000" y="304800"/>
            <a:ext cx="3048000" cy="685800"/>
          </a:xfrm>
          <a:prstGeom prst="rect">
            <a:avLst/>
          </a:prstGeom>
        </p:spPr>
      </p:pic>
      <p:pic>
        <p:nvPicPr>
          <p:cNvPr id="4" name="Picture 3"/>
          <p:cNvPicPr>
            <a:picLocks noChangeAspect="1"/>
          </p:cNvPicPr>
          <p:nvPr/>
        </p:nvPicPr>
        <p:blipFill>
          <a:blip r:embed="rId6"/>
          <a:stretch>
            <a:fillRect/>
          </a:stretch>
        </p:blipFill>
        <p:spPr>
          <a:xfrm>
            <a:off x="862328" y="2438400"/>
            <a:ext cx="2999744" cy="633412"/>
          </a:xfrm>
          <a:prstGeom prst="rect">
            <a:avLst/>
          </a:prstGeom>
        </p:spPr>
      </p:pic>
      <p:pic>
        <p:nvPicPr>
          <p:cNvPr id="5" name="Picture 4"/>
          <p:cNvPicPr>
            <a:picLocks noChangeAspect="1"/>
          </p:cNvPicPr>
          <p:nvPr/>
        </p:nvPicPr>
        <p:blipFill>
          <a:blip r:embed="rId7"/>
          <a:stretch>
            <a:fillRect/>
          </a:stretch>
        </p:blipFill>
        <p:spPr>
          <a:xfrm>
            <a:off x="1181414" y="4648200"/>
            <a:ext cx="2323786" cy="657225"/>
          </a:xfrm>
          <a:prstGeom prst="rect">
            <a:avLst/>
          </a:prstGeom>
        </p:spPr>
      </p:pic>
    </p:spTree>
    <p:extLst>
      <p:ext uri="{BB962C8B-B14F-4D97-AF65-F5344CB8AC3E}">
        <p14:creationId xmlns:p14="http://schemas.microsoft.com/office/powerpoint/2010/main" val="21383702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Intercept</a:t>
            </a:r>
            <a:endParaRPr lang="en-US" dirty="0"/>
          </a:p>
        </p:txBody>
      </p:sp>
      <p:sp>
        <p:nvSpPr>
          <p:cNvPr id="3" name="Content Placeholder 2"/>
          <p:cNvSpPr>
            <a:spLocks noGrp="1"/>
          </p:cNvSpPr>
          <p:nvPr>
            <p:ph sz="quarter" idx="1"/>
          </p:nvPr>
        </p:nvSpPr>
        <p:spPr/>
        <p:txBody>
          <a:bodyPr/>
          <a:lstStyle/>
          <a:p>
            <a:r>
              <a:rPr lang="en-US" b="1" dirty="0"/>
              <a:t>The slope indicates the steepness of a line and the intercept indicates the location where it intersects an axis</a:t>
            </a:r>
            <a:r>
              <a:rPr lang="en-US" dirty="0"/>
              <a:t>. The slope and the intercept define the linear relationship between two variables, and can be used to estimate an average rate of change</a:t>
            </a:r>
            <a:r>
              <a:rPr lang="en-US" dirty="0" smtClean="0"/>
              <a:t>.</a:t>
            </a:r>
          </a:p>
          <a:p>
            <a:endParaRPr lang="en-US" dirty="0" smtClean="0"/>
          </a:p>
          <a:p>
            <a:r>
              <a:rPr lang="en-US" dirty="0"/>
              <a:t>The intercept (often labeled as constant) is </a:t>
            </a:r>
            <a:r>
              <a:rPr lang="en-US" b="1" dirty="0"/>
              <a:t>the point where the function crosses the y-axis</a:t>
            </a:r>
            <a:r>
              <a:rPr lang="en-US" dirty="0"/>
              <a:t>.</a:t>
            </a:r>
          </a:p>
        </p:txBody>
      </p:sp>
    </p:spTree>
    <p:extLst>
      <p:ext uri="{BB962C8B-B14F-4D97-AF65-F5344CB8AC3E}">
        <p14:creationId xmlns:p14="http://schemas.microsoft.com/office/powerpoint/2010/main" val="5776570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y-intercept</a:t>
            </a:r>
          </a:p>
        </p:txBody>
      </p:sp>
      <p:sp>
        <p:nvSpPr>
          <p:cNvPr id="3" name="Content Placeholder 2"/>
          <p:cNvSpPr>
            <a:spLocks noGrp="1"/>
          </p:cNvSpPr>
          <p:nvPr>
            <p:ph sz="quarter" idx="1"/>
          </p:nvPr>
        </p:nvSpPr>
        <p:spPr/>
        <p:txBody>
          <a:bodyPr/>
          <a:lstStyle/>
          <a:p>
            <a:r>
              <a:rPr lang="en-US" dirty="0"/>
              <a:t>A positive y-intercept means </a:t>
            </a:r>
            <a:r>
              <a:rPr lang="en-US" b="1" dirty="0"/>
              <a:t>the line crosses the y-axis above the origin</a:t>
            </a:r>
            <a:r>
              <a:rPr lang="en-US" dirty="0"/>
              <a:t>, while a negative y-intercept means that the line crosses below the origin. Simply by changing the values of m and b, we can define any straight line. That's how powerful and versatile the slope intercept formula is.</a:t>
            </a:r>
          </a:p>
        </p:txBody>
      </p:sp>
      <p:pic>
        <p:nvPicPr>
          <p:cNvPr id="3078" name="Picture 6" descr="How to Interpret the Constant (Y Intercept) in Regression Analysis -  Statistics By Ji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3921741"/>
            <a:ext cx="3989832" cy="2914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63877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Slope and intercept example</a:t>
            </a:r>
            <a:endParaRPr lang="en-US" dirty="0"/>
          </a:p>
        </p:txBody>
      </p:sp>
      <p:sp>
        <p:nvSpPr>
          <p:cNvPr id="3" name="Content Placeholder 2"/>
          <p:cNvSpPr>
            <a:spLocks noGrp="1"/>
          </p:cNvSpPr>
          <p:nvPr>
            <p:ph sz="quarter" idx="1"/>
          </p:nvPr>
        </p:nvSpPr>
        <p:spPr/>
        <p:txBody>
          <a:bodyPr/>
          <a:lstStyle/>
          <a:p>
            <a:pPr algn="just"/>
            <a:r>
              <a:rPr lang="en-US" dirty="0"/>
              <a:t>For example, a company determines that job performance for employees in a production department can be predicted using the regression model y = 130 + 4.3x, where x is the hours of in-house training they receive (from 0 to 20) and y is their score on a job skills test. </a:t>
            </a:r>
            <a:endParaRPr lang="en-US" dirty="0" smtClean="0"/>
          </a:p>
          <a:p>
            <a:pPr algn="just"/>
            <a:r>
              <a:rPr lang="en-US" dirty="0" smtClean="0"/>
              <a:t>The </a:t>
            </a:r>
            <a:r>
              <a:rPr lang="en-US" dirty="0"/>
              <a:t>value of the y-intercept (130) indicates the average job skill score for an employee with no training. </a:t>
            </a:r>
            <a:endParaRPr lang="en-US" dirty="0" smtClean="0"/>
          </a:p>
          <a:p>
            <a:pPr algn="just"/>
            <a:r>
              <a:rPr lang="en-US" dirty="0" smtClean="0"/>
              <a:t>The </a:t>
            </a:r>
            <a:r>
              <a:rPr lang="en-US" dirty="0"/>
              <a:t>value of the slope (4.3) indicates that for each hour of training, the job skill score increases, on average, by 4.3 points.</a:t>
            </a:r>
          </a:p>
        </p:txBody>
      </p:sp>
    </p:spTree>
    <p:extLst>
      <p:ext uri="{BB962C8B-B14F-4D97-AF65-F5344CB8AC3E}">
        <p14:creationId xmlns:p14="http://schemas.microsoft.com/office/powerpoint/2010/main" val="21055763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Marginal </a:t>
            </a:r>
            <a:r>
              <a:rPr lang="en-US" dirty="0" smtClean="0"/>
              <a:t>change / Slope</a:t>
            </a:r>
            <a:endParaRPr lang="en-US" dirty="0"/>
          </a:p>
        </p:txBody>
      </p:sp>
      <p:sp>
        <p:nvSpPr>
          <p:cNvPr id="3" name="Content Placeholder 2"/>
          <p:cNvSpPr>
            <a:spLocks noGrp="1"/>
          </p:cNvSpPr>
          <p:nvPr>
            <p:ph sz="quarter" idx="1"/>
          </p:nvPr>
        </p:nvSpPr>
        <p:spPr/>
        <p:txBody>
          <a:bodyPr/>
          <a:lstStyle/>
          <a:p>
            <a:pPr algn="just"/>
            <a:r>
              <a:rPr lang="en-US" dirty="0" smtClean="0"/>
              <a:t>Marginal </a:t>
            </a:r>
            <a:r>
              <a:rPr lang="en-US" dirty="0"/>
              <a:t>change – in working with two variables related by a regression equation, the marginal change in a variable is the amount that the variable changes when the other variable changes by exactly one unit </a:t>
            </a:r>
            <a:endParaRPr lang="en-US" dirty="0" smtClean="0"/>
          </a:p>
          <a:p>
            <a:pPr algn="just"/>
            <a:endParaRPr lang="en-US" dirty="0"/>
          </a:p>
          <a:p>
            <a:pPr lvl="1" algn="just"/>
            <a:r>
              <a:rPr lang="en-US" dirty="0" smtClean="0"/>
              <a:t>The </a:t>
            </a:r>
            <a:r>
              <a:rPr lang="en-US" dirty="0"/>
              <a:t>slope, 𝑏</a:t>
            </a:r>
            <a:r>
              <a:rPr lang="en-US" baseline="-25000" dirty="0"/>
              <a:t>1</a:t>
            </a:r>
            <a:r>
              <a:rPr lang="en-US" dirty="0"/>
              <a:t>, in the regression equation is the marginal change in 𝑦 when 𝑥 changes by one unit </a:t>
            </a:r>
          </a:p>
          <a:p>
            <a:pPr algn="just"/>
            <a:endParaRPr lang="en-US" dirty="0"/>
          </a:p>
        </p:txBody>
      </p:sp>
    </p:spTree>
    <p:extLst>
      <p:ext uri="{BB962C8B-B14F-4D97-AF65-F5344CB8AC3E}">
        <p14:creationId xmlns:p14="http://schemas.microsoft.com/office/powerpoint/2010/main" val="35080632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regression models</a:t>
            </a:r>
            <a:endParaRPr lang="en-US" dirty="0"/>
          </a:p>
        </p:txBody>
      </p:sp>
      <p:sp>
        <p:nvSpPr>
          <p:cNvPr id="3" name="Content Placeholder 2"/>
          <p:cNvSpPr>
            <a:spLocks noGrp="1"/>
          </p:cNvSpPr>
          <p:nvPr>
            <p:ph sz="quarter" idx="1"/>
          </p:nvPr>
        </p:nvSpPr>
        <p:spPr/>
        <p:txBody>
          <a:bodyPr/>
          <a:lstStyle/>
          <a:p>
            <a:r>
              <a:rPr lang="en-US" dirty="0" smtClean="0"/>
              <a:t>Simple linear regression</a:t>
            </a:r>
          </a:p>
          <a:p>
            <a:r>
              <a:rPr lang="en-US" dirty="0" smtClean="0"/>
              <a:t>Multiple regression</a:t>
            </a:r>
          </a:p>
          <a:p>
            <a:r>
              <a:rPr lang="en-US" dirty="0" smtClean="0"/>
              <a:t>Logistic regression</a:t>
            </a:r>
          </a:p>
          <a:p>
            <a:r>
              <a:rPr lang="en-US" dirty="0" smtClean="0"/>
              <a:t>Polynomial regression</a:t>
            </a:r>
            <a:endParaRPr lang="en-US" dirty="0"/>
          </a:p>
        </p:txBody>
      </p:sp>
    </p:spTree>
    <p:extLst>
      <p:ext uri="{BB962C8B-B14F-4D97-AF65-F5344CB8AC3E}">
        <p14:creationId xmlns:p14="http://schemas.microsoft.com/office/powerpoint/2010/main" val="13718450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Simple linear regression</a:t>
            </a:r>
            <a:endParaRPr lang="en-US" dirty="0"/>
          </a:p>
        </p:txBody>
      </p:sp>
      <p:sp>
        <p:nvSpPr>
          <p:cNvPr id="3" name="Content Placeholder 2"/>
          <p:cNvSpPr>
            <a:spLocks noGrp="1"/>
          </p:cNvSpPr>
          <p:nvPr>
            <p:ph sz="quarter" idx="1"/>
          </p:nvPr>
        </p:nvSpPr>
        <p:spPr/>
        <p:txBody>
          <a:bodyPr/>
          <a:lstStyle/>
          <a:p>
            <a:pPr algn="just"/>
            <a:r>
              <a:rPr lang="en-US" dirty="0" smtClean="0"/>
              <a:t>We </a:t>
            </a:r>
            <a:r>
              <a:rPr lang="en-US" dirty="0"/>
              <a:t>find the equation of the straight line that best fits the paired sample data. That equation algebraically describes the relationship between two variables. </a:t>
            </a:r>
          </a:p>
          <a:p>
            <a:pPr algn="just"/>
            <a:endParaRPr lang="en-US" dirty="0"/>
          </a:p>
          <a:p>
            <a:pPr algn="just"/>
            <a:r>
              <a:rPr lang="en-US" dirty="0" smtClean="0"/>
              <a:t>The </a:t>
            </a:r>
            <a:r>
              <a:rPr lang="en-US" dirty="0"/>
              <a:t>best-fitting straight line is called a regression line and its equation is called the regression equation. </a:t>
            </a:r>
          </a:p>
          <a:p>
            <a:pPr algn="just"/>
            <a:endParaRPr lang="en-US" dirty="0"/>
          </a:p>
        </p:txBody>
      </p:sp>
    </p:spTree>
    <p:extLst>
      <p:ext uri="{BB962C8B-B14F-4D97-AF65-F5344CB8AC3E}">
        <p14:creationId xmlns:p14="http://schemas.microsoft.com/office/powerpoint/2010/main" val="25226186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Simple linear regression</a:t>
            </a:r>
            <a:endParaRPr lang="en-US" dirty="0"/>
          </a:p>
        </p:txBody>
      </p:sp>
      <p:sp>
        <p:nvSpPr>
          <p:cNvPr id="3" name="Content Placeholder 2"/>
          <p:cNvSpPr>
            <a:spLocks noGrp="1"/>
          </p:cNvSpPr>
          <p:nvPr>
            <p:ph sz="quarter" idx="1"/>
          </p:nvPr>
        </p:nvSpPr>
        <p:spPr/>
        <p:txBody>
          <a:bodyPr>
            <a:normAutofit fontScale="92500" lnSpcReduction="10000"/>
          </a:bodyPr>
          <a:lstStyle/>
          <a:p>
            <a:pPr algn="just"/>
            <a:endParaRPr lang="en-US" dirty="0"/>
          </a:p>
          <a:p>
            <a:pPr algn="just"/>
            <a:r>
              <a:rPr lang="en-US" dirty="0"/>
              <a:t>Regression Equation – given a collection of paired sample data, the regression equation that algebraically describes the relationship between the two variables 𝑥 and 𝑦 is 𝑦 =𝑏</a:t>
            </a:r>
            <a:r>
              <a:rPr lang="en-US" baseline="-25000" dirty="0"/>
              <a:t>0</a:t>
            </a:r>
            <a:r>
              <a:rPr lang="en-US" dirty="0"/>
              <a:t>+𝑏</a:t>
            </a:r>
            <a:r>
              <a:rPr lang="en-US" baseline="-25000" dirty="0"/>
              <a:t>1</a:t>
            </a:r>
            <a:r>
              <a:rPr lang="en-US" dirty="0"/>
              <a:t>𝑥 </a:t>
            </a:r>
          </a:p>
          <a:p>
            <a:pPr lvl="1" algn="just"/>
            <a:r>
              <a:rPr lang="en-US" dirty="0" smtClean="0"/>
              <a:t>The </a:t>
            </a:r>
            <a:r>
              <a:rPr lang="en-US" dirty="0"/>
              <a:t>regression equation attempts to describe a relationship between two variables </a:t>
            </a:r>
          </a:p>
          <a:p>
            <a:pPr lvl="1" algn="just"/>
            <a:r>
              <a:rPr lang="en-US" dirty="0" smtClean="0"/>
              <a:t>Inherently</a:t>
            </a:r>
            <a:r>
              <a:rPr lang="en-US" dirty="0"/>
              <a:t>, the equation algebraically describes how the values of one variable are somehow associated with the values of the other variable </a:t>
            </a:r>
          </a:p>
          <a:p>
            <a:pPr algn="just"/>
            <a:endParaRPr lang="en-US" dirty="0"/>
          </a:p>
          <a:p>
            <a:pPr algn="just"/>
            <a:r>
              <a:rPr lang="en-US" dirty="0"/>
              <a:t>Regression line – the graph of the regression equation </a:t>
            </a:r>
          </a:p>
          <a:p>
            <a:pPr lvl="1" algn="just"/>
            <a:r>
              <a:rPr lang="en-US" dirty="0" smtClean="0"/>
              <a:t>Also </a:t>
            </a:r>
            <a:r>
              <a:rPr lang="en-US" dirty="0"/>
              <a:t>known as the “line of best fit” or the “least square line” </a:t>
            </a:r>
          </a:p>
          <a:p>
            <a:pPr lvl="1" algn="just"/>
            <a:r>
              <a:rPr lang="en-US" dirty="0" smtClean="0"/>
              <a:t>The </a:t>
            </a:r>
            <a:r>
              <a:rPr lang="en-US" dirty="0"/>
              <a:t>regression line fits the sample points best </a:t>
            </a:r>
          </a:p>
          <a:p>
            <a:pPr algn="just"/>
            <a:endParaRPr lang="en-US" dirty="0"/>
          </a:p>
        </p:txBody>
      </p:sp>
    </p:spTree>
    <p:extLst>
      <p:ext uri="{BB962C8B-B14F-4D97-AF65-F5344CB8AC3E}">
        <p14:creationId xmlns:p14="http://schemas.microsoft.com/office/powerpoint/2010/main" val="10771745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notation</a:t>
            </a:r>
            <a:endParaRPr lang="en-US" dirty="0"/>
          </a:p>
        </p:txBody>
      </p:sp>
      <p:sp>
        <p:nvSpPr>
          <p:cNvPr id="3" name="Content Placeholder 2"/>
          <p:cNvSpPr>
            <a:spLocks noGrp="1"/>
          </p:cNvSpPr>
          <p:nvPr>
            <p:ph sz="quarter" idx="1"/>
          </p:nvPr>
        </p:nvSpPr>
        <p:spPr>
          <a:xfrm>
            <a:off x="609600" y="4648200"/>
            <a:ext cx="7467600" cy="1828800"/>
          </a:xfrm>
        </p:spPr>
        <p:txBody>
          <a:bodyPr>
            <a:normAutofit/>
          </a:bodyPr>
          <a:lstStyle/>
          <a:p>
            <a:r>
              <a:rPr lang="en-US" dirty="0" smtClean="0"/>
              <a:t>Notice </a:t>
            </a:r>
            <a:r>
              <a:rPr lang="en-US" dirty="0"/>
              <a:t>the 𝑦 in the sample regression equation! </a:t>
            </a:r>
          </a:p>
          <a:p>
            <a:r>
              <a:rPr lang="en-US" dirty="0"/>
              <a:t>This implies that we are predicting something! </a:t>
            </a:r>
          </a:p>
          <a:p>
            <a:r>
              <a:rPr lang="en-US" dirty="0"/>
              <a:t>We are predicting values for 𝑦 based upon true and observed values of 𝑥. </a:t>
            </a:r>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3400" y="1524000"/>
            <a:ext cx="7820025"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125211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274638"/>
            <a:ext cx="7467600" cy="1143000"/>
          </a:xfrm>
        </p:spPr>
        <p:txBody>
          <a:bodyPr/>
          <a:lstStyle/>
          <a:p>
            <a:r>
              <a:rPr lang="en-US" dirty="0"/>
              <a:t>Simple linear regression</a:t>
            </a:r>
            <a:endParaRPr lang="en-US" dirty="0"/>
          </a:p>
        </p:txBody>
      </p:sp>
      <p:pic>
        <p:nvPicPr>
          <p:cNvPr id="6" name="Picture 5"/>
          <p:cNvPicPr>
            <a:picLocks noChangeAspect="1"/>
          </p:cNvPicPr>
          <p:nvPr/>
        </p:nvPicPr>
        <p:blipFill>
          <a:blip r:embed="rId2"/>
          <a:stretch>
            <a:fillRect/>
          </a:stretch>
        </p:blipFill>
        <p:spPr>
          <a:xfrm>
            <a:off x="1102056" y="1828800"/>
            <a:ext cx="6177887" cy="4289310"/>
          </a:xfrm>
          <a:prstGeom prst="rect">
            <a:avLst/>
          </a:prstGeom>
        </p:spPr>
      </p:pic>
    </p:spTree>
    <p:extLst>
      <p:ext uri="{BB962C8B-B14F-4D97-AF65-F5344CB8AC3E}">
        <p14:creationId xmlns:p14="http://schemas.microsoft.com/office/powerpoint/2010/main" val="6673857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for simple linear regression</a:t>
            </a:r>
            <a:endParaRPr lang="en-US" dirty="0"/>
          </a:p>
        </p:txBody>
      </p:sp>
      <p:sp>
        <p:nvSpPr>
          <p:cNvPr id="3" name="Content Placeholder 2"/>
          <p:cNvSpPr>
            <a:spLocks noGrp="1"/>
          </p:cNvSpPr>
          <p:nvPr>
            <p:ph sz="quarter" idx="1"/>
          </p:nvPr>
        </p:nvSpPr>
        <p:spPr/>
        <p:txBody>
          <a:bodyPr>
            <a:normAutofit/>
          </a:bodyPr>
          <a:lstStyle/>
          <a:p>
            <a:r>
              <a:rPr lang="en-US" dirty="0" smtClean="0"/>
              <a:t>1.The </a:t>
            </a:r>
            <a:r>
              <a:rPr lang="en-US" dirty="0"/>
              <a:t>sample of paired data is a simple random sample of quantitative data </a:t>
            </a:r>
            <a:endParaRPr lang="en-US" dirty="0" smtClean="0"/>
          </a:p>
          <a:p>
            <a:endParaRPr lang="en-US" dirty="0"/>
          </a:p>
          <a:p>
            <a:r>
              <a:rPr lang="en-US" dirty="0"/>
              <a:t>2.The pairs of data </a:t>
            </a:r>
            <a:r>
              <a:rPr lang="en-US" dirty="0" smtClean="0"/>
              <a:t>(𝑥</a:t>
            </a:r>
            <a:r>
              <a:rPr lang="en-US" dirty="0"/>
              <a:t>,</a:t>
            </a:r>
            <a:r>
              <a:rPr lang="en-US" dirty="0" smtClean="0"/>
              <a:t>𝑦) </a:t>
            </a:r>
            <a:r>
              <a:rPr lang="en-US" dirty="0"/>
              <a:t>have a </a:t>
            </a:r>
            <a:r>
              <a:rPr lang="en-US" b="1" dirty="0"/>
              <a:t>bivariate normal distribution</a:t>
            </a:r>
            <a:r>
              <a:rPr lang="en-US" dirty="0"/>
              <a:t>, meaning the following: </a:t>
            </a:r>
          </a:p>
          <a:p>
            <a:pPr lvl="1"/>
            <a:r>
              <a:rPr lang="en-US" dirty="0" smtClean="0"/>
              <a:t>Visual </a:t>
            </a:r>
            <a:r>
              <a:rPr lang="en-US" dirty="0"/>
              <a:t>examination of the scatter plot(s) confirms that the sample points follow an approximately straight line(s) </a:t>
            </a:r>
          </a:p>
          <a:p>
            <a:pPr lvl="1"/>
            <a:r>
              <a:rPr lang="en-US" dirty="0" smtClean="0"/>
              <a:t>Because </a:t>
            </a:r>
            <a:r>
              <a:rPr lang="en-US" dirty="0"/>
              <a:t>results can be strongly affected by the presence of outliers, any outliers should be removed if they are known to be errors (Note: Use caution when removing data points) </a:t>
            </a:r>
          </a:p>
          <a:p>
            <a:endParaRPr lang="en-US" dirty="0"/>
          </a:p>
        </p:txBody>
      </p:sp>
    </p:spTree>
    <p:extLst>
      <p:ext uri="{BB962C8B-B14F-4D97-AF65-F5344CB8AC3E}">
        <p14:creationId xmlns:p14="http://schemas.microsoft.com/office/powerpoint/2010/main" val="34290642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533400" y="2057400"/>
            <a:ext cx="7467600" cy="3276600"/>
          </a:xfrm>
        </p:spPr>
        <p:txBody>
          <a:bodyPr/>
          <a:lstStyle/>
          <a:p>
            <a:endParaRPr lang="en-US" dirty="0"/>
          </a:p>
          <a:p>
            <a:r>
              <a:rPr lang="en-US" dirty="0" smtClean="0"/>
              <a:t>Outlier </a:t>
            </a:r>
            <a:r>
              <a:rPr lang="en-US" dirty="0"/>
              <a:t>– in a scatter plot, an outlier is a point lying far away from the other data points </a:t>
            </a:r>
            <a:endParaRPr lang="en-US" dirty="0" smtClean="0"/>
          </a:p>
          <a:p>
            <a:endParaRPr lang="en-US" dirty="0"/>
          </a:p>
          <a:p>
            <a:r>
              <a:rPr lang="en-US" dirty="0" smtClean="0"/>
              <a:t>Influential </a:t>
            </a:r>
            <a:r>
              <a:rPr lang="en-US" dirty="0"/>
              <a:t>point – a point that strongly affects the graph of the regression line </a:t>
            </a:r>
          </a:p>
          <a:p>
            <a:endParaRPr lang="en-US" dirty="0"/>
          </a:p>
        </p:txBody>
      </p:sp>
      <p:sp>
        <p:nvSpPr>
          <p:cNvPr id="6" name="Title 1"/>
          <p:cNvSpPr>
            <a:spLocks noGrp="1"/>
          </p:cNvSpPr>
          <p:nvPr>
            <p:ph type="title"/>
          </p:nvPr>
        </p:nvSpPr>
        <p:spPr>
          <a:xfrm>
            <a:off x="457200" y="274638"/>
            <a:ext cx="7467600" cy="1143000"/>
          </a:xfrm>
        </p:spPr>
        <p:txBody>
          <a:bodyPr/>
          <a:lstStyle/>
          <a:p>
            <a:r>
              <a:rPr lang="en-US" dirty="0"/>
              <a:t>Simple linear regression</a:t>
            </a:r>
            <a:endParaRPr lang="en-US" dirty="0"/>
          </a:p>
        </p:txBody>
      </p:sp>
    </p:spTree>
    <p:extLst>
      <p:ext uri="{BB962C8B-B14F-4D97-AF65-F5344CB8AC3E}">
        <p14:creationId xmlns:p14="http://schemas.microsoft.com/office/powerpoint/2010/main" val="19870453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 y="1905000"/>
            <a:ext cx="8458200"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itle 1"/>
          <p:cNvSpPr>
            <a:spLocks noGrp="1"/>
          </p:cNvSpPr>
          <p:nvPr>
            <p:ph type="title"/>
          </p:nvPr>
        </p:nvSpPr>
        <p:spPr>
          <a:xfrm>
            <a:off x="457200" y="152400"/>
            <a:ext cx="7467600" cy="655638"/>
          </a:xfrm>
        </p:spPr>
        <p:txBody>
          <a:bodyPr/>
          <a:lstStyle/>
          <a:p>
            <a:r>
              <a:rPr lang="en-US" dirty="0"/>
              <a:t>Simple linear regression</a:t>
            </a:r>
            <a:endParaRPr lang="en-US" dirty="0"/>
          </a:p>
        </p:txBody>
      </p:sp>
    </p:spTree>
    <p:extLst>
      <p:ext uri="{BB962C8B-B14F-4D97-AF65-F5344CB8AC3E}">
        <p14:creationId xmlns:p14="http://schemas.microsoft.com/office/powerpoint/2010/main" val="8923533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lstStyle/>
          <a:p>
            <a:pPr algn="just"/>
            <a:endParaRPr lang="en-US" dirty="0"/>
          </a:p>
          <a:p>
            <a:pPr algn="just"/>
            <a:r>
              <a:rPr lang="en-US" dirty="0"/>
              <a:t>The additional point is an influential point because the graph of the regression line because the graph of the regression line did change considerably. </a:t>
            </a:r>
            <a:endParaRPr lang="en-US" dirty="0" smtClean="0"/>
          </a:p>
          <a:p>
            <a:pPr algn="just"/>
            <a:endParaRPr lang="en-US" dirty="0"/>
          </a:p>
          <a:p>
            <a:pPr algn="just"/>
            <a:r>
              <a:rPr lang="en-US" dirty="0"/>
              <a:t>The additional point is also an outlier because it is far from the other points. </a:t>
            </a:r>
          </a:p>
        </p:txBody>
      </p:sp>
      <p:sp>
        <p:nvSpPr>
          <p:cNvPr id="4" name="Title 1"/>
          <p:cNvSpPr>
            <a:spLocks noGrp="1"/>
          </p:cNvSpPr>
          <p:nvPr>
            <p:ph type="title"/>
          </p:nvPr>
        </p:nvSpPr>
        <p:spPr>
          <a:xfrm>
            <a:off x="457200" y="152400"/>
            <a:ext cx="7467600" cy="655638"/>
          </a:xfrm>
        </p:spPr>
        <p:txBody>
          <a:bodyPr/>
          <a:lstStyle/>
          <a:p>
            <a:r>
              <a:rPr lang="en-US" dirty="0"/>
              <a:t>Simple linear regression</a:t>
            </a:r>
            <a:endParaRPr lang="en-US" dirty="0"/>
          </a:p>
        </p:txBody>
      </p:sp>
    </p:spTree>
    <p:extLst>
      <p:ext uri="{BB962C8B-B14F-4D97-AF65-F5344CB8AC3E}">
        <p14:creationId xmlns:p14="http://schemas.microsoft.com/office/powerpoint/2010/main" val="31305171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Residual and the least squares property</a:t>
            </a:r>
            <a:endParaRPr lang="en-US" dirty="0"/>
          </a:p>
        </p:txBody>
      </p:sp>
      <p:sp>
        <p:nvSpPr>
          <p:cNvPr id="3" name="Content Placeholder 2"/>
          <p:cNvSpPr>
            <a:spLocks noGrp="1"/>
          </p:cNvSpPr>
          <p:nvPr>
            <p:ph sz="quarter" idx="1"/>
          </p:nvPr>
        </p:nvSpPr>
        <p:spPr/>
        <p:txBody>
          <a:bodyPr>
            <a:normAutofit fontScale="92500" lnSpcReduction="10000"/>
          </a:bodyPr>
          <a:lstStyle/>
          <a:p>
            <a:pPr algn="just"/>
            <a:endParaRPr lang="en-US" dirty="0"/>
          </a:p>
          <a:p>
            <a:pPr algn="just"/>
            <a:r>
              <a:rPr lang="en-US" dirty="0"/>
              <a:t>Residual – for a pair of sample 𝑥 and 𝑦 values, the difference between the observed sample value of 𝑦 (a true value observed) and the y-value that is predicted by using the regression equation </a:t>
            </a:r>
            <a:r>
              <a:rPr lang="en-US" dirty="0" smtClean="0"/>
              <a:t>𝑦^ </a:t>
            </a:r>
            <a:r>
              <a:rPr lang="en-US" dirty="0"/>
              <a:t>is the residual </a:t>
            </a:r>
            <a:endParaRPr lang="en-US" dirty="0" smtClean="0"/>
          </a:p>
          <a:p>
            <a:pPr algn="just"/>
            <a:endParaRPr lang="en-US" dirty="0"/>
          </a:p>
          <a:p>
            <a:pPr lvl="1" algn="just"/>
            <a:r>
              <a:rPr lang="en-US" dirty="0" smtClean="0"/>
              <a:t>𝑅𝑒𝑠𝑖𝑑𝑢𝑎𝑙 = 𝑂𝑏𝑠𝑒𝑟𝑣𝑒𝑑 − 𝑃𝑟𝑒𝑑𝑖𝑐𝑡𝑒𝑑 = 𝑦 − 𝑦^ </a:t>
            </a:r>
            <a:endParaRPr lang="en-US" dirty="0"/>
          </a:p>
          <a:p>
            <a:pPr lvl="1" algn="just"/>
            <a:r>
              <a:rPr lang="en-US" dirty="0" smtClean="0"/>
              <a:t>A </a:t>
            </a:r>
            <a:r>
              <a:rPr lang="en-US" dirty="0"/>
              <a:t>residual represents a type of inherent prediction error </a:t>
            </a:r>
          </a:p>
          <a:p>
            <a:pPr lvl="1" algn="just"/>
            <a:r>
              <a:rPr lang="en-US" dirty="0" smtClean="0"/>
              <a:t>The </a:t>
            </a:r>
            <a:r>
              <a:rPr lang="en-US" dirty="0"/>
              <a:t>regression equation does not, typically, pass through all the observed data values that we have </a:t>
            </a:r>
          </a:p>
          <a:p>
            <a:pPr algn="just"/>
            <a:endParaRPr lang="en-US" dirty="0"/>
          </a:p>
          <a:p>
            <a:pPr algn="just"/>
            <a:r>
              <a:rPr lang="en-US" dirty="0"/>
              <a:t>The Least Squares Property – a straight line satisfies this property if the sum of the squares of the residuals is the smallest sum possible </a:t>
            </a:r>
          </a:p>
        </p:txBody>
      </p:sp>
    </p:spTree>
    <p:extLst>
      <p:ext uri="{BB962C8B-B14F-4D97-AF65-F5344CB8AC3E}">
        <p14:creationId xmlns:p14="http://schemas.microsoft.com/office/powerpoint/2010/main" val="26589090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427038"/>
          </a:xfrm>
        </p:spPr>
        <p:txBody>
          <a:bodyPr>
            <a:normAutofit fontScale="90000"/>
          </a:bodyPr>
          <a:lstStyle/>
          <a:p>
            <a:r>
              <a:rPr lang="en-US" dirty="0" smtClean="0"/>
              <a:t>residuals</a:t>
            </a:r>
            <a:endParaRPr lang="en-US" dirty="0"/>
          </a:p>
        </p:txBody>
      </p:sp>
      <p:pic>
        <p:nvPicPr>
          <p:cNvPr id="1024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4004" y="717933"/>
            <a:ext cx="7440796" cy="55876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568929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 Home price prediction</a:t>
            </a:r>
            <a:endParaRPr lang="en-US" dirty="0"/>
          </a:p>
        </p:txBody>
      </p:sp>
      <p:sp>
        <p:nvSpPr>
          <p:cNvPr id="3" name="Content Placeholder 2"/>
          <p:cNvSpPr>
            <a:spLocks noGrp="1"/>
          </p:cNvSpPr>
          <p:nvPr>
            <p:ph sz="quarter" idx="1"/>
          </p:nvPr>
        </p:nvSpPr>
        <p:spPr/>
        <p:txBody>
          <a:bodyPr/>
          <a:lstStyle/>
          <a:p>
            <a:endParaRPr lang="en-US"/>
          </a:p>
        </p:txBody>
      </p:sp>
      <p:pic>
        <p:nvPicPr>
          <p:cNvPr id="4" name="Picture 3"/>
          <p:cNvPicPr>
            <a:picLocks noChangeAspect="1"/>
          </p:cNvPicPr>
          <p:nvPr/>
        </p:nvPicPr>
        <p:blipFill>
          <a:blip r:embed="rId2"/>
          <a:stretch>
            <a:fillRect/>
          </a:stretch>
        </p:blipFill>
        <p:spPr>
          <a:xfrm>
            <a:off x="228600" y="1730374"/>
            <a:ext cx="8458200" cy="4743577"/>
          </a:xfrm>
          <a:prstGeom prst="rect">
            <a:avLst/>
          </a:prstGeom>
        </p:spPr>
      </p:pic>
    </p:spTree>
    <p:extLst>
      <p:ext uri="{BB962C8B-B14F-4D97-AF65-F5344CB8AC3E}">
        <p14:creationId xmlns:p14="http://schemas.microsoft.com/office/powerpoint/2010/main" val="16834313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 Home price prediction</a:t>
            </a:r>
          </a:p>
        </p:txBody>
      </p:sp>
      <p:sp>
        <p:nvSpPr>
          <p:cNvPr id="3" name="Content Placeholder 2"/>
          <p:cNvSpPr>
            <a:spLocks noGrp="1"/>
          </p:cNvSpPr>
          <p:nvPr>
            <p:ph sz="quarter" idx="1"/>
          </p:nvPr>
        </p:nvSpPr>
        <p:spPr/>
        <p:txBody>
          <a:bodyPr/>
          <a:lstStyle/>
          <a:p>
            <a:endParaRPr lang="en-US"/>
          </a:p>
        </p:txBody>
      </p:sp>
      <p:pic>
        <p:nvPicPr>
          <p:cNvPr id="4" name="Picture 3"/>
          <p:cNvPicPr>
            <a:picLocks noChangeAspect="1"/>
          </p:cNvPicPr>
          <p:nvPr/>
        </p:nvPicPr>
        <p:blipFill>
          <a:blip r:embed="rId2"/>
          <a:stretch>
            <a:fillRect/>
          </a:stretch>
        </p:blipFill>
        <p:spPr>
          <a:xfrm>
            <a:off x="454925" y="1600200"/>
            <a:ext cx="7454734" cy="4729265"/>
          </a:xfrm>
          <a:prstGeom prst="rect">
            <a:avLst/>
          </a:prstGeom>
        </p:spPr>
      </p:pic>
    </p:spTree>
    <p:extLst>
      <p:ext uri="{BB962C8B-B14F-4D97-AF65-F5344CB8AC3E}">
        <p14:creationId xmlns:p14="http://schemas.microsoft.com/office/powerpoint/2010/main" val="17113937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 Home price prediction</a:t>
            </a:r>
          </a:p>
        </p:txBody>
      </p:sp>
      <p:sp>
        <p:nvSpPr>
          <p:cNvPr id="3" name="Content Placeholder 2"/>
          <p:cNvSpPr>
            <a:spLocks noGrp="1"/>
          </p:cNvSpPr>
          <p:nvPr>
            <p:ph sz="quarter" idx="1"/>
          </p:nvPr>
        </p:nvSpPr>
        <p:spPr/>
        <p:txBody>
          <a:bodyPr/>
          <a:lstStyle/>
          <a:p>
            <a:endParaRPr lang="en-US"/>
          </a:p>
        </p:txBody>
      </p:sp>
      <p:pic>
        <p:nvPicPr>
          <p:cNvPr id="4" name="Picture 3"/>
          <p:cNvPicPr>
            <a:picLocks noChangeAspect="1"/>
          </p:cNvPicPr>
          <p:nvPr/>
        </p:nvPicPr>
        <p:blipFill>
          <a:blip r:embed="rId2"/>
          <a:stretch>
            <a:fillRect/>
          </a:stretch>
        </p:blipFill>
        <p:spPr>
          <a:xfrm>
            <a:off x="380999" y="1600200"/>
            <a:ext cx="8254341" cy="4873752"/>
          </a:xfrm>
          <a:prstGeom prst="rect">
            <a:avLst/>
          </a:prstGeom>
        </p:spPr>
      </p:pic>
    </p:spTree>
    <p:extLst>
      <p:ext uri="{BB962C8B-B14F-4D97-AF65-F5344CB8AC3E}">
        <p14:creationId xmlns:p14="http://schemas.microsoft.com/office/powerpoint/2010/main" val="29605935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 Home price prediction</a:t>
            </a:r>
          </a:p>
        </p:txBody>
      </p:sp>
      <p:sp>
        <p:nvSpPr>
          <p:cNvPr id="3" name="Content Placeholder 2"/>
          <p:cNvSpPr>
            <a:spLocks noGrp="1"/>
          </p:cNvSpPr>
          <p:nvPr>
            <p:ph sz="quarter" idx="1"/>
          </p:nvPr>
        </p:nvSpPr>
        <p:spPr/>
        <p:txBody>
          <a:bodyPr/>
          <a:lstStyle/>
          <a:p>
            <a:endParaRPr lang="en-US"/>
          </a:p>
        </p:txBody>
      </p:sp>
      <p:pic>
        <p:nvPicPr>
          <p:cNvPr id="4" name="Picture 3"/>
          <p:cNvPicPr>
            <a:picLocks noChangeAspect="1"/>
          </p:cNvPicPr>
          <p:nvPr/>
        </p:nvPicPr>
        <p:blipFill>
          <a:blip r:embed="rId2"/>
          <a:stretch>
            <a:fillRect/>
          </a:stretch>
        </p:blipFill>
        <p:spPr>
          <a:xfrm>
            <a:off x="381000" y="1600200"/>
            <a:ext cx="7620000" cy="4841219"/>
          </a:xfrm>
          <a:prstGeom prst="rect">
            <a:avLst/>
          </a:prstGeom>
        </p:spPr>
      </p:pic>
    </p:spTree>
    <p:extLst>
      <p:ext uri="{BB962C8B-B14F-4D97-AF65-F5344CB8AC3E}">
        <p14:creationId xmlns:p14="http://schemas.microsoft.com/office/powerpoint/2010/main" val="6738962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 Home price prediction</a:t>
            </a:r>
          </a:p>
        </p:txBody>
      </p:sp>
      <p:sp>
        <p:nvSpPr>
          <p:cNvPr id="3" name="Content Placeholder 2"/>
          <p:cNvSpPr>
            <a:spLocks noGrp="1"/>
          </p:cNvSpPr>
          <p:nvPr>
            <p:ph sz="quarter" idx="1"/>
          </p:nvPr>
        </p:nvSpPr>
        <p:spPr/>
        <p:txBody>
          <a:bodyPr/>
          <a:lstStyle/>
          <a:p>
            <a:endParaRPr lang="en-US"/>
          </a:p>
        </p:txBody>
      </p:sp>
      <p:pic>
        <p:nvPicPr>
          <p:cNvPr id="4" name="Picture 3"/>
          <p:cNvPicPr>
            <a:picLocks noChangeAspect="1"/>
          </p:cNvPicPr>
          <p:nvPr/>
        </p:nvPicPr>
        <p:blipFill>
          <a:blip r:embed="rId2"/>
          <a:stretch>
            <a:fillRect/>
          </a:stretch>
        </p:blipFill>
        <p:spPr>
          <a:xfrm>
            <a:off x="228600" y="1627496"/>
            <a:ext cx="8458200" cy="4660143"/>
          </a:xfrm>
          <a:prstGeom prst="rect">
            <a:avLst/>
          </a:prstGeom>
        </p:spPr>
      </p:pic>
    </p:spTree>
    <p:extLst>
      <p:ext uri="{BB962C8B-B14F-4D97-AF65-F5344CB8AC3E}">
        <p14:creationId xmlns:p14="http://schemas.microsoft.com/office/powerpoint/2010/main" val="39471458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 Home price prediction</a:t>
            </a:r>
          </a:p>
        </p:txBody>
      </p:sp>
      <p:sp>
        <p:nvSpPr>
          <p:cNvPr id="3" name="Content Placeholder 2"/>
          <p:cNvSpPr>
            <a:spLocks noGrp="1"/>
          </p:cNvSpPr>
          <p:nvPr>
            <p:ph sz="quarter" idx="1"/>
          </p:nvPr>
        </p:nvSpPr>
        <p:spPr/>
        <p:txBody>
          <a:bodyPr/>
          <a:lstStyle/>
          <a:p>
            <a:r>
              <a:rPr lang="en-US" dirty="0" smtClean="0"/>
              <a:t>Find sum of squared errors for all the possible lines.</a:t>
            </a:r>
          </a:p>
          <a:p>
            <a:r>
              <a:rPr lang="en-US" dirty="0" smtClean="0"/>
              <a:t>Blue line gives the minimum error.</a:t>
            </a:r>
          </a:p>
          <a:p>
            <a:endParaRPr lang="en-US" dirty="0"/>
          </a:p>
        </p:txBody>
      </p:sp>
      <p:pic>
        <p:nvPicPr>
          <p:cNvPr id="4" name="Picture 3"/>
          <p:cNvPicPr>
            <a:picLocks noChangeAspect="1"/>
          </p:cNvPicPr>
          <p:nvPr/>
        </p:nvPicPr>
        <p:blipFill>
          <a:blip r:embed="rId2"/>
          <a:stretch>
            <a:fillRect/>
          </a:stretch>
        </p:blipFill>
        <p:spPr>
          <a:xfrm>
            <a:off x="2895600" y="3505200"/>
            <a:ext cx="4548187" cy="2806797"/>
          </a:xfrm>
          <a:prstGeom prst="rect">
            <a:avLst/>
          </a:prstGeom>
        </p:spPr>
      </p:pic>
    </p:spTree>
    <p:extLst>
      <p:ext uri="{BB962C8B-B14F-4D97-AF65-F5344CB8AC3E}">
        <p14:creationId xmlns:p14="http://schemas.microsoft.com/office/powerpoint/2010/main" val="30570857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 Home price prediction</a:t>
            </a:r>
          </a:p>
        </p:txBody>
      </p:sp>
      <p:sp>
        <p:nvSpPr>
          <p:cNvPr id="3" name="Content Placeholder 2"/>
          <p:cNvSpPr>
            <a:spLocks noGrp="1"/>
          </p:cNvSpPr>
          <p:nvPr>
            <p:ph sz="quarter" idx="1"/>
          </p:nvPr>
        </p:nvSpPr>
        <p:spPr/>
        <p:txBody>
          <a:bodyPr/>
          <a:lstStyle/>
          <a:p>
            <a:endParaRPr lang="en-US"/>
          </a:p>
        </p:txBody>
      </p:sp>
      <p:pic>
        <p:nvPicPr>
          <p:cNvPr id="4" name="Picture 3"/>
          <p:cNvPicPr>
            <a:picLocks noChangeAspect="1"/>
          </p:cNvPicPr>
          <p:nvPr/>
        </p:nvPicPr>
        <p:blipFill>
          <a:blip r:embed="rId2"/>
          <a:stretch>
            <a:fillRect/>
          </a:stretch>
        </p:blipFill>
        <p:spPr>
          <a:xfrm>
            <a:off x="257175" y="1417638"/>
            <a:ext cx="7867650" cy="3609975"/>
          </a:xfrm>
          <a:prstGeom prst="rect">
            <a:avLst/>
          </a:prstGeom>
        </p:spPr>
      </p:pic>
      <p:pic>
        <p:nvPicPr>
          <p:cNvPr id="5" name="Picture 4"/>
          <p:cNvPicPr>
            <a:picLocks noChangeAspect="1"/>
          </p:cNvPicPr>
          <p:nvPr/>
        </p:nvPicPr>
        <p:blipFill>
          <a:blip r:embed="rId3"/>
          <a:stretch>
            <a:fillRect/>
          </a:stretch>
        </p:blipFill>
        <p:spPr>
          <a:xfrm>
            <a:off x="733425" y="5199939"/>
            <a:ext cx="7391400" cy="1540829"/>
          </a:xfrm>
          <a:prstGeom prst="rect">
            <a:avLst/>
          </a:prstGeom>
        </p:spPr>
      </p:pic>
    </p:spTree>
    <p:extLst>
      <p:ext uri="{BB962C8B-B14F-4D97-AF65-F5344CB8AC3E}">
        <p14:creationId xmlns:p14="http://schemas.microsoft.com/office/powerpoint/2010/main" val="16112924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Simple linear regression</a:t>
            </a:r>
            <a:endParaRPr lang="en-US" dirty="0"/>
          </a:p>
        </p:txBody>
      </p:sp>
      <p:sp>
        <p:nvSpPr>
          <p:cNvPr id="3" name="Content Placeholder 2"/>
          <p:cNvSpPr>
            <a:spLocks noGrp="1"/>
          </p:cNvSpPr>
          <p:nvPr>
            <p:ph sz="quarter" idx="1"/>
          </p:nvPr>
        </p:nvSpPr>
        <p:spPr/>
        <p:txBody>
          <a:bodyPr/>
          <a:lstStyle/>
          <a:p>
            <a:endParaRPr lang="en-US"/>
          </a:p>
        </p:txBody>
      </p:sp>
      <p:pic>
        <p:nvPicPr>
          <p:cNvPr id="4" name="Picture 3"/>
          <p:cNvPicPr>
            <a:picLocks noChangeAspect="1"/>
          </p:cNvPicPr>
          <p:nvPr/>
        </p:nvPicPr>
        <p:blipFill>
          <a:blip r:embed="rId2"/>
          <a:stretch>
            <a:fillRect/>
          </a:stretch>
        </p:blipFill>
        <p:spPr>
          <a:xfrm>
            <a:off x="457200" y="1752600"/>
            <a:ext cx="7467600" cy="4721352"/>
          </a:xfrm>
          <a:prstGeom prst="rect">
            <a:avLst/>
          </a:prstGeom>
        </p:spPr>
      </p:pic>
    </p:spTree>
    <p:extLst>
      <p:ext uri="{BB962C8B-B14F-4D97-AF65-F5344CB8AC3E}">
        <p14:creationId xmlns:p14="http://schemas.microsoft.com/office/powerpoint/2010/main" val="7935286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Simple linear regression</a:t>
            </a:r>
          </a:p>
        </p:txBody>
      </p:sp>
      <p:sp>
        <p:nvSpPr>
          <p:cNvPr id="3" name="Content Placeholder 2"/>
          <p:cNvSpPr>
            <a:spLocks noGrp="1"/>
          </p:cNvSpPr>
          <p:nvPr>
            <p:ph sz="quarter" idx="1"/>
          </p:nvPr>
        </p:nvSpPr>
        <p:spPr/>
        <p:txBody>
          <a:bodyPr/>
          <a:lstStyle/>
          <a:p>
            <a:endParaRPr lang="en-US"/>
          </a:p>
        </p:txBody>
      </p:sp>
      <p:pic>
        <p:nvPicPr>
          <p:cNvPr id="5" name="Picture 4"/>
          <p:cNvPicPr>
            <a:picLocks noChangeAspect="1"/>
          </p:cNvPicPr>
          <p:nvPr/>
        </p:nvPicPr>
        <p:blipFill>
          <a:blip r:embed="rId2"/>
          <a:stretch>
            <a:fillRect/>
          </a:stretch>
        </p:blipFill>
        <p:spPr>
          <a:xfrm>
            <a:off x="457199" y="1600200"/>
            <a:ext cx="7574377" cy="4873752"/>
          </a:xfrm>
          <a:prstGeom prst="rect">
            <a:avLst/>
          </a:prstGeom>
        </p:spPr>
      </p:pic>
    </p:spTree>
    <p:extLst>
      <p:ext uri="{BB962C8B-B14F-4D97-AF65-F5344CB8AC3E}">
        <p14:creationId xmlns:p14="http://schemas.microsoft.com/office/powerpoint/2010/main" val="39636465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 Exam Grades</a:t>
            </a:r>
            <a:endParaRPr lang="en-US" dirty="0"/>
          </a:p>
        </p:txBody>
      </p:sp>
      <p:sp>
        <p:nvSpPr>
          <p:cNvPr id="3" name="Content Placeholder 2"/>
          <p:cNvSpPr>
            <a:spLocks noGrp="1"/>
          </p:cNvSpPr>
          <p:nvPr>
            <p:ph sz="quarter" idx="1"/>
          </p:nvPr>
        </p:nvSpPr>
        <p:spPr/>
        <p:txBody>
          <a:bodyPr/>
          <a:lstStyle/>
          <a:p>
            <a:endParaRPr lang="en-US"/>
          </a:p>
        </p:txBody>
      </p:sp>
      <p:pic>
        <p:nvPicPr>
          <p:cNvPr id="4" name="Picture 3"/>
          <p:cNvPicPr>
            <a:picLocks noChangeAspect="1"/>
          </p:cNvPicPr>
          <p:nvPr/>
        </p:nvPicPr>
        <p:blipFill>
          <a:blip r:embed="rId2"/>
          <a:stretch>
            <a:fillRect/>
          </a:stretch>
        </p:blipFill>
        <p:spPr>
          <a:xfrm>
            <a:off x="459475" y="1600200"/>
            <a:ext cx="7646252" cy="4953000"/>
          </a:xfrm>
          <a:prstGeom prst="rect">
            <a:avLst/>
          </a:prstGeom>
        </p:spPr>
      </p:pic>
    </p:spTree>
    <p:extLst>
      <p:ext uri="{BB962C8B-B14F-4D97-AF65-F5344CB8AC3E}">
        <p14:creationId xmlns:p14="http://schemas.microsoft.com/office/powerpoint/2010/main" val="29520305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Least Squares method</a:t>
            </a:r>
            <a:endParaRPr lang="en-US" dirty="0"/>
          </a:p>
        </p:txBody>
      </p:sp>
      <p:sp>
        <p:nvSpPr>
          <p:cNvPr id="3" name="Content Placeholder 2"/>
          <p:cNvSpPr>
            <a:spLocks noGrp="1"/>
          </p:cNvSpPr>
          <p:nvPr>
            <p:ph sz="quarter" idx="1"/>
          </p:nvPr>
        </p:nvSpPr>
        <p:spPr/>
        <p:txBody>
          <a:bodyPr/>
          <a:lstStyle/>
          <a:p>
            <a:endParaRPr lang="en-US"/>
          </a:p>
        </p:txBody>
      </p:sp>
      <p:pic>
        <p:nvPicPr>
          <p:cNvPr id="4" name="Picture 3"/>
          <p:cNvPicPr>
            <a:picLocks noChangeAspect="1"/>
          </p:cNvPicPr>
          <p:nvPr/>
        </p:nvPicPr>
        <p:blipFill>
          <a:blip r:embed="rId2"/>
          <a:stretch>
            <a:fillRect/>
          </a:stretch>
        </p:blipFill>
        <p:spPr>
          <a:xfrm>
            <a:off x="457200" y="1600200"/>
            <a:ext cx="7552267" cy="4648200"/>
          </a:xfrm>
          <a:prstGeom prst="rect">
            <a:avLst/>
          </a:prstGeom>
        </p:spPr>
      </p:pic>
    </p:spTree>
    <p:extLst>
      <p:ext uri="{BB962C8B-B14F-4D97-AF65-F5344CB8AC3E}">
        <p14:creationId xmlns:p14="http://schemas.microsoft.com/office/powerpoint/2010/main" val="11567729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Least Squares method</a:t>
            </a:r>
          </a:p>
        </p:txBody>
      </p:sp>
      <p:sp>
        <p:nvSpPr>
          <p:cNvPr id="3" name="Content Placeholder 2"/>
          <p:cNvSpPr>
            <a:spLocks noGrp="1"/>
          </p:cNvSpPr>
          <p:nvPr>
            <p:ph sz="quarter" idx="1"/>
          </p:nvPr>
        </p:nvSpPr>
        <p:spPr/>
        <p:txBody>
          <a:bodyPr/>
          <a:lstStyle/>
          <a:p>
            <a:endParaRPr lang="en-US"/>
          </a:p>
        </p:txBody>
      </p:sp>
      <p:pic>
        <p:nvPicPr>
          <p:cNvPr id="4" name="Picture 3"/>
          <p:cNvPicPr>
            <a:picLocks noChangeAspect="1"/>
          </p:cNvPicPr>
          <p:nvPr/>
        </p:nvPicPr>
        <p:blipFill>
          <a:blip r:embed="rId2"/>
          <a:stretch>
            <a:fillRect/>
          </a:stretch>
        </p:blipFill>
        <p:spPr>
          <a:xfrm>
            <a:off x="239973" y="1595650"/>
            <a:ext cx="8382000" cy="5060863"/>
          </a:xfrm>
          <a:prstGeom prst="rect">
            <a:avLst/>
          </a:prstGeom>
        </p:spPr>
      </p:pic>
    </p:spTree>
    <p:extLst>
      <p:ext uri="{BB962C8B-B14F-4D97-AF65-F5344CB8AC3E}">
        <p14:creationId xmlns:p14="http://schemas.microsoft.com/office/powerpoint/2010/main" val="5162715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Least Squares method</a:t>
            </a:r>
          </a:p>
        </p:txBody>
      </p:sp>
      <p:sp>
        <p:nvSpPr>
          <p:cNvPr id="3" name="Content Placeholder 2"/>
          <p:cNvSpPr>
            <a:spLocks noGrp="1"/>
          </p:cNvSpPr>
          <p:nvPr>
            <p:ph sz="quarter" idx="1"/>
          </p:nvPr>
        </p:nvSpPr>
        <p:spPr/>
        <p:txBody>
          <a:bodyPr/>
          <a:lstStyle/>
          <a:p>
            <a:endParaRPr lang="en-US"/>
          </a:p>
        </p:txBody>
      </p:sp>
      <p:pic>
        <p:nvPicPr>
          <p:cNvPr id="4" name="Picture 3"/>
          <p:cNvPicPr>
            <a:picLocks noChangeAspect="1"/>
          </p:cNvPicPr>
          <p:nvPr/>
        </p:nvPicPr>
        <p:blipFill>
          <a:blip r:embed="rId2"/>
          <a:stretch>
            <a:fillRect/>
          </a:stretch>
        </p:blipFill>
        <p:spPr>
          <a:xfrm>
            <a:off x="457200" y="1600200"/>
            <a:ext cx="8188894" cy="4873752"/>
          </a:xfrm>
          <a:prstGeom prst="rect">
            <a:avLst/>
          </a:prstGeom>
        </p:spPr>
      </p:pic>
    </p:spTree>
    <p:extLst>
      <p:ext uri="{BB962C8B-B14F-4D97-AF65-F5344CB8AC3E}">
        <p14:creationId xmlns:p14="http://schemas.microsoft.com/office/powerpoint/2010/main" val="8597142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Least Squares method</a:t>
            </a:r>
          </a:p>
        </p:txBody>
      </p:sp>
      <p:sp>
        <p:nvSpPr>
          <p:cNvPr id="3" name="Content Placeholder 2"/>
          <p:cNvSpPr>
            <a:spLocks noGrp="1"/>
          </p:cNvSpPr>
          <p:nvPr>
            <p:ph sz="quarter" idx="1"/>
          </p:nvPr>
        </p:nvSpPr>
        <p:spPr/>
        <p:txBody>
          <a:bodyPr/>
          <a:lstStyle/>
          <a:p>
            <a:endParaRPr lang="en-US"/>
          </a:p>
        </p:txBody>
      </p:sp>
      <p:pic>
        <p:nvPicPr>
          <p:cNvPr id="4" name="Picture 3"/>
          <p:cNvPicPr>
            <a:picLocks noChangeAspect="1"/>
          </p:cNvPicPr>
          <p:nvPr/>
        </p:nvPicPr>
        <p:blipFill>
          <a:blip r:embed="rId2"/>
          <a:stretch>
            <a:fillRect/>
          </a:stretch>
        </p:blipFill>
        <p:spPr>
          <a:xfrm>
            <a:off x="467435" y="1600200"/>
            <a:ext cx="7654969" cy="4873752"/>
          </a:xfrm>
          <a:prstGeom prst="rect">
            <a:avLst/>
          </a:prstGeom>
        </p:spPr>
      </p:pic>
    </p:spTree>
    <p:extLst>
      <p:ext uri="{BB962C8B-B14F-4D97-AF65-F5344CB8AC3E}">
        <p14:creationId xmlns:p14="http://schemas.microsoft.com/office/powerpoint/2010/main" val="39513853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Least Squares method</a:t>
            </a:r>
          </a:p>
        </p:txBody>
      </p:sp>
      <p:sp>
        <p:nvSpPr>
          <p:cNvPr id="3" name="Content Placeholder 2"/>
          <p:cNvSpPr>
            <a:spLocks noGrp="1"/>
          </p:cNvSpPr>
          <p:nvPr>
            <p:ph sz="quarter" idx="1"/>
          </p:nvPr>
        </p:nvSpPr>
        <p:spPr/>
        <p:txBody>
          <a:bodyPr/>
          <a:lstStyle/>
          <a:p>
            <a:endParaRPr lang="en-US"/>
          </a:p>
        </p:txBody>
      </p:sp>
      <p:pic>
        <p:nvPicPr>
          <p:cNvPr id="4" name="Picture 3"/>
          <p:cNvPicPr>
            <a:picLocks noChangeAspect="1"/>
          </p:cNvPicPr>
          <p:nvPr/>
        </p:nvPicPr>
        <p:blipFill>
          <a:blip r:embed="rId2"/>
          <a:stretch>
            <a:fillRect/>
          </a:stretch>
        </p:blipFill>
        <p:spPr>
          <a:xfrm>
            <a:off x="457199" y="1600200"/>
            <a:ext cx="7860695" cy="5105400"/>
          </a:xfrm>
          <a:prstGeom prst="rect">
            <a:avLst/>
          </a:prstGeom>
        </p:spPr>
      </p:pic>
    </p:spTree>
    <p:extLst>
      <p:ext uri="{BB962C8B-B14F-4D97-AF65-F5344CB8AC3E}">
        <p14:creationId xmlns:p14="http://schemas.microsoft.com/office/powerpoint/2010/main" val="2535014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Least Squares method</a:t>
            </a:r>
          </a:p>
        </p:txBody>
      </p:sp>
      <p:sp>
        <p:nvSpPr>
          <p:cNvPr id="3" name="Content Placeholder 2"/>
          <p:cNvSpPr>
            <a:spLocks noGrp="1"/>
          </p:cNvSpPr>
          <p:nvPr>
            <p:ph sz="quarter" idx="1"/>
          </p:nvPr>
        </p:nvSpPr>
        <p:spPr/>
        <p:txBody>
          <a:bodyPr/>
          <a:lstStyle/>
          <a:p>
            <a:endParaRPr lang="en-US"/>
          </a:p>
        </p:txBody>
      </p:sp>
      <p:pic>
        <p:nvPicPr>
          <p:cNvPr id="4" name="Picture 3"/>
          <p:cNvPicPr>
            <a:picLocks noChangeAspect="1"/>
          </p:cNvPicPr>
          <p:nvPr/>
        </p:nvPicPr>
        <p:blipFill>
          <a:blip r:embed="rId2"/>
          <a:stretch>
            <a:fillRect/>
          </a:stretch>
        </p:blipFill>
        <p:spPr>
          <a:xfrm>
            <a:off x="475397" y="1584278"/>
            <a:ext cx="7666526" cy="4889674"/>
          </a:xfrm>
          <a:prstGeom prst="rect">
            <a:avLst/>
          </a:prstGeom>
        </p:spPr>
      </p:pic>
    </p:spTree>
    <p:extLst>
      <p:ext uri="{BB962C8B-B14F-4D97-AF65-F5344CB8AC3E}">
        <p14:creationId xmlns:p14="http://schemas.microsoft.com/office/powerpoint/2010/main" val="13656854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98"/>
            <a:ext cx="7467600" cy="579438"/>
          </a:xfrm>
        </p:spPr>
        <p:txBody>
          <a:bodyPr/>
          <a:lstStyle/>
          <a:p>
            <a:r>
              <a:rPr lang="en-US" dirty="0" smtClean="0"/>
              <a:t>How good is the prediction?</a:t>
            </a:r>
            <a:endParaRPr lang="en-US" dirty="0"/>
          </a:p>
        </p:txBody>
      </p:sp>
      <p:sp>
        <p:nvSpPr>
          <p:cNvPr id="3" name="Content Placeholder 2"/>
          <p:cNvSpPr>
            <a:spLocks noGrp="1"/>
          </p:cNvSpPr>
          <p:nvPr>
            <p:ph sz="quarter" idx="1"/>
          </p:nvPr>
        </p:nvSpPr>
        <p:spPr>
          <a:xfrm>
            <a:off x="470941" y="576940"/>
            <a:ext cx="7467600" cy="4873752"/>
          </a:xfrm>
        </p:spPr>
        <p:txBody>
          <a:bodyPr/>
          <a:lstStyle/>
          <a:p>
            <a:r>
              <a:rPr lang="en-US" dirty="0" smtClean="0"/>
              <a:t>The depends how good the regression line fits the data</a:t>
            </a:r>
          </a:p>
          <a:p>
            <a:r>
              <a:rPr lang="en-US" dirty="0" smtClean="0"/>
              <a:t>The measurement the tells how good the regression line fits the data is Coefficient of Determination.</a:t>
            </a:r>
            <a:endParaRPr lang="en-US" dirty="0"/>
          </a:p>
        </p:txBody>
      </p:sp>
      <p:pic>
        <p:nvPicPr>
          <p:cNvPr id="4" name="Picture 3"/>
          <p:cNvPicPr>
            <a:picLocks noChangeAspect="1"/>
          </p:cNvPicPr>
          <p:nvPr/>
        </p:nvPicPr>
        <p:blipFill>
          <a:blip r:embed="rId2"/>
          <a:stretch>
            <a:fillRect/>
          </a:stretch>
        </p:blipFill>
        <p:spPr>
          <a:xfrm>
            <a:off x="335280" y="2590800"/>
            <a:ext cx="8199120" cy="4114800"/>
          </a:xfrm>
          <a:prstGeom prst="rect">
            <a:avLst/>
          </a:prstGeom>
        </p:spPr>
      </p:pic>
    </p:spTree>
    <p:extLst>
      <p:ext uri="{BB962C8B-B14F-4D97-AF65-F5344CB8AC3E}">
        <p14:creationId xmlns:p14="http://schemas.microsoft.com/office/powerpoint/2010/main" val="38528664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Coefficient of </a:t>
            </a:r>
            <a:r>
              <a:rPr lang="en-US" dirty="0" smtClean="0"/>
              <a:t>Determination</a:t>
            </a:r>
            <a:endParaRPr lang="en-US" dirty="0"/>
          </a:p>
        </p:txBody>
      </p:sp>
      <p:sp>
        <p:nvSpPr>
          <p:cNvPr id="3" name="Content Placeholder 2"/>
          <p:cNvSpPr>
            <a:spLocks noGrp="1"/>
          </p:cNvSpPr>
          <p:nvPr>
            <p:ph sz="quarter" idx="1"/>
          </p:nvPr>
        </p:nvSpPr>
        <p:spPr/>
        <p:txBody>
          <a:bodyPr/>
          <a:lstStyle/>
          <a:p>
            <a:endParaRPr lang="en-US"/>
          </a:p>
        </p:txBody>
      </p:sp>
      <p:pic>
        <p:nvPicPr>
          <p:cNvPr id="5" name="Picture 4"/>
          <p:cNvPicPr>
            <a:picLocks noChangeAspect="1"/>
          </p:cNvPicPr>
          <p:nvPr/>
        </p:nvPicPr>
        <p:blipFill>
          <a:blip r:embed="rId2"/>
          <a:stretch>
            <a:fillRect/>
          </a:stretch>
        </p:blipFill>
        <p:spPr>
          <a:xfrm>
            <a:off x="457200" y="1600200"/>
            <a:ext cx="7692887" cy="4873752"/>
          </a:xfrm>
          <a:prstGeom prst="rect">
            <a:avLst/>
          </a:prstGeom>
        </p:spPr>
      </p:pic>
    </p:spTree>
    <p:extLst>
      <p:ext uri="{BB962C8B-B14F-4D97-AF65-F5344CB8AC3E}">
        <p14:creationId xmlns:p14="http://schemas.microsoft.com/office/powerpoint/2010/main" val="1331209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 square</a:t>
            </a:r>
            <a:endParaRPr lang="en-US" dirty="0"/>
          </a:p>
        </p:txBody>
      </p:sp>
      <p:sp>
        <p:nvSpPr>
          <p:cNvPr id="3" name="Content Placeholder 2"/>
          <p:cNvSpPr>
            <a:spLocks noGrp="1"/>
          </p:cNvSpPr>
          <p:nvPr>
            <p:ph sz="quarter" idx="1"/>
          </p:nvPr>
        </p:nvSpPr>
        <p:spPr/>
        <p:txBody>
          <a:bodyPr/>
          <a:lstStyle/>
          <a:p>
            <a:endParaRPr lang="en-US"/>
          </a:p>
        </p:txBody>
      </p:sp>
      <p:pic>
        <p:nvPicPr>
          <p:cNvPr id="4" name="Picture 3"/>
          <p:cNvPicPr>
            <a:picLocks noChangeAspect="1"/>
          </p:cNvPicPr>
          <p:nvPr/>
        </p:nvPicPr>
        <p:blipFill>
          <a:blip r:embed="rId2"/>
          <a:stretch>
            <a:fillRect/>
          </a:stretch>
        </p:blipFill>
        <p:spPr>
          <a:xfrm>
            <a:off x="457201" y="1626358"/>
            <a:ext cx="7696200" cy="4698242"/>
          </a:xfrm>
          <a:prstGeom prst="rect">
            <a:avLst/>
          </a:prstGeom>
        </p:spPr>
      </p:pic>
    </p:spTree>
    <p:extLst>
      <p:ext uri="{BB962C8B-B14F-4D97-AF65-F5344CB8AC3E}">
        <p14:creationId xmlns:p14="http://schemas.microsoft.com/office/powerpoint/2010/main" val="34054444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Correlation coefficient</a:t>
            </a:r>
            <a:endParaRPr lang="en-US" dirty="0"/>
          </a:p>
        </p:txBody>
      </p:sp>
      <p:sp>
        <p:nvSpPr>
          <p:cNvPr id="3" name="Content Placeholder 2"/>
          <p:cNvSpPr>
            <a:spLocks noGrp="1"/>
          </p:cNvSpPr>
          <p:nvPr>
            <p:ph sz="quarter" idx="1"/>
          </p:nvPr>
        </p:nvSpPr>
        <p:spPr/>
        <p:txBody>
          <a:bodyPr/>
          <a:lstStyle/>
          <a:p>
            <a:endParaRPr lang="en-US"/>
          </a:p>
        </p:txBody>
      </p:sp>
      <p:pic>
        <p:nvPicPr>
          <p:cNvPr id="5" name="Picture 4"/>
          <p:cNvPicPr>
            <a:picLocks noChangeAspect="1"/>
          </p:cNvPicPr>
          <p:nvPr/>
        </p:nvPicPr>
        <p:blipFill>
          <a:blip r:embed="rId2"/>
          <a:stretch>
            <a:fillRect/>
          </a:stretch>
        </p:blipFill>
        <p:spPr>
          <a:xfrm>
            <a:off x="457200" y="1600200"/>
            <a:ext cx="7880570" cy="4873752"/>
          </a:xfrm>
          <a:prstGeom prst="rect">
            <a:avLst/>
          </a:prstGeom>
        </p:spPr>
      </p:pic>
    </p:spTree>
    <p:extLst>
      <p:ext uri="{BB962C8B-B14F-4D97-AF65-F5344CB8AC3E}">
        <p14:creationId xmlns:p14="http://schemas.microsoft.com/office/powerpoint/2010/main" val="1473417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Correlation coefficient</a:t>
            </a:r>
          </a:p>
        </p:txBody>
      </p:sp>
      <p:sp>
        <p:nvSpPr>
          <p:cNvPr id="3" name="Content Placeholder 2"/>
          <p:cNvSpPr>
            <a:spLocks noGrp="1"/>
          </p:cNvSpPr>
          <p:nvPr>
            <p:ph sz="quarter" idx="1"/>
          </p:nvPr>
        </p:nvSpPr>
        <p:spPr/>
        <p:txBody>
          <a:bodyPr/>
          <a:lstStyle/>
          <a:p>
            <a:endParaRPr lang="en-US"/>
          </a:p>
        </p:txBody>
      </p:sp>
      <p:pic>
        <p:nvPicPr>
          <p:cNvPr id="4" name="Picture 3"/>
          <p:cNvPicPr>
            <a:picLocks noChangeAspect="1"/>
          </p:cNvPicPr>
          <p:nvPr/>
        </p:nvPicPr>
        <p:blipFill>
          <a:blip r:embed="rId2"/>
          <a:stretch>
            <a:fillRect/>
          </a:stretch>
        </p:blipFill>
        <p:spPr>
          <a:xfrm>
            <a:off x="381000" y="1417638"/>
            <a:ext cx="8154537" cy="5056314"/>
          </a:xfrm>
          <a:prstGeom prst="rect">
            <a:avLst/>
          </a:prstGeom>
        </p:spPr>
      </p:pic>
    </p:spTree>
    <p:extLst>
      <p:ext uri="{BB962C8B-B14F-4D97-AF65-F5344CB8AC3E}">
        <p14:creationId xmlns:p14="http://schemas.microsoft.com/office/powerpoint/2010/main" val="116686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hlinkClick r:id="rId2"/>
              </a:rPr>
              <a:t>Pearson’s correlation coefficient</a:t>
            </a:r>
            <a:endParaRPr lang="en-US" dirty="0"/>
          </a:p>
        </p:txBody>
      </p:sp>
      <p:sp>
        <p:nvSpPr>
          <p:cNvPr id="3" name="Content Placeholder 2"/>
          <p:cNvSpPr>
            <a:spLocks noGrp="1"/>
          </p:cNvSpPr>
          <p:nvPr>
            <p:ph sz="quarter" idx="1"/>
          </p:nvPr>
        </p:nvSpPr>
        <p:spPr/>
        <p:txBody>
          <a:bodyPr/>
          <a:lstStyle/>
          <a:p>
            <a:endParaRPr lang="en-US" dirty="0"/>
          </a:p>
        </p:txBody>
      </p:sp>
      <p:pic>
        <p:nvPicPr>
          <p:cNvPr id="1026" name="Picture 2" descr="https://www.statisticshowto.com/wp-content/uploads/2009/11/linearregressionequations.bm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362200"/>
            <a:ext cx="6836004" cy="289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53321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Multiple Linear Regression</a:t>
            </a:r>
            <a:endParaRPr lang="en-US" dirty="0"/>
          </a:p>
        </p:txBody>
      </p:sp>
    </p:spTree>
    <p:extLst>
      <p:ext uri="{BB962C8B-B14F-4D97-AF65-F5344CB8AC3E}">
        <p14:creationId xmlns:p14="http://schemas.microsoft.com/office/powerpoint/2010/main" val="13236313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Multiple Linear Regression</a:t>
            </a:r>
            <a:endParaRPr lang="en-US" dirty="0"/>
          </a:p>
        </p:txBody>
      </p:sp>
      <p:sp>
        <p:nvSpPr>
          <p:cNvPr id="3" name="Content Placeholder 2"/>
          <p:cNvSpPr>
            <a:spLocks noGrp="1"/>
          </p:cNvSpPr>
          <p:nvPr>
            <p:ph sz="quarter" idx="1"/>
          </p:nvPr>
        </p:nvSpPr>
        <p:spPr/>
        <p:txBody>
          <a:bodyPr/>
          <a:lstStyle/>
          <a:p>
            <a:pPr algn="just"/>
            <a:r>
              <a:rPr lang="en-US" dirty="0"/>
              <a:t>Multiple linear regression (MLR), also known simply as multiple regression, is a statistical technique that uses several explanatory variables to predict the outcome of a response variable. </a:t>
            </a:r>
            <a:endParaRPr lang="en-US" dirty="0" smtClean="0"/>
          </a:p>
          <a:p>
            <a:pPr algn="just"/>
            <a:endParaRPr lang="en-US" dirty="0"/>
          </a:p>
          <a:p>
            <a:pPr algn="just"/>
            <a:r>
              <a:rPr lang="en-US" dirty="0" smtClean="0"/>
              <a:t>The </a:t>
            </a:r>
            <a:r>
              <a:rPr lang="en-US" dirty="0"/>
              <a:t>goal of multiple linear regression is to model the linear relationship between the explanatory (independent) variables and response (dependent) variables. </a:t>
            </a:r>
          </a:p>
        </p:txBody>
      </p:sp>
    </p:spTree>
    <p:extLst>
      <p:ext uri="{BB962C8B-B14F-4D97-AF65-F5344CB8AC3E}">
        <p14:creationId xmlns:p14="http://schemas.microsoft.com/office/powerpoint/2010/main" val="33361867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Multiple Linear Regression</a:t>
            </a:r>
            <a:endParaRPr lang="en-US" dirty="0"/>
          </a:p>
        </p:txBody>
      </p:sp>
      <p:sp>
        <p:nvSpPr>
          <p:cNvPr id="3" name="Content Placeholder 2"/>
          <p:cNvSpPr>
            <a:spLocks noGrp="1"/>
          </p:cNvSpPr>
          <p:nvPr>
            <p:ph sz="quarter" idx="1"/>
          </p:nvPr>
        </p:nvSpPr>
        <p:spPr>
          <a:xfrm>
            <a:off x="457200" y="1600200"/>
            <a:ext cx="7467600" cy="5257800"/>
          </a:xfrm>
        </p:spPr>
        <p:txBody>
          <a:bodyPr>
            <a:normAutofit lnSpcReduction="10000"/>
          </a:bodyPr>
          <a:lstStyle/>
          <a:p>
            <a:pPr algn="just" fontAlgn="base"/>
            <a:r>
              <a:rPr lang="en-US" b="1" dirty="0"/>
              <a:t>What Multiple Linear Regression Can Tell You</a:t>
            </a:r>
            <a:endParaRPr lang="en-US" dirty="0"/>
          </a:p>
          <a:p>
            <a:pPr algn="just" fontAlgn="base"/>
            <a:r>
              <a:rPr lang="en-US" dirty="0"/>
              <a:t>Simple linear regression is a function that allows an analyst or statistician to make predictions about one variable based on the information that is known about another variable. </a:t>
            </a:r>
            <a:endParaRPr lang="en-US" dirty="0" smtClean="0"/>
          </a:p>
          <a:p>
            <a:pPr algn="just" fontAlgn="base"/>
            <a:r>
              <a:rPr lang="en-US" dirty="0" smtClean="0"/>
              <a:t>Linear </a:t>
            </a:r>
            <a:r>
              <a:rPr lang="en-US" dirty="0"/>
              <a:t>regression can only be used when one has two continuous variables—an independent variable and a dependent variable. </a:t>
            </a:r>
            <a:endParaRPr lang="en-US" dirty="0" smtClean="0"/>
          </a:p>
          <a:p>
            <a:pPr algn="just" fontAlgn="base"/>
            <a:r>
              <a:rPr lang="en-US" dirty="0" smtClean="0"/>
              <a:t>The </a:t>
            </a:r>
            <a:r>
              <a:rPr lang="en-US" dirty="0"/>
              <a:t>independent variable is the parameter that is used to calculate the dependent variable or outcome. </a:t>
            </a:r>
            <a:endParaRPr lang="en-US" dirty="0" smtClean="0"/>
          </a:p>
          <a:p>
            <a:pPr algn="just" fontAlgn="base"/>
            <a:r>
              <a:rPr lang="en-US" dirty="0" smtClean="0"/>
              <a:t>A </a:t>
            </a:r>
            <a:r>
              <a:rPr lang="en-US" dirty="0"/>
              <a:t>multiple regression model extends to several explanatory variables.</a:t>
            </a:r>
          </a:p>
          <a:p>
            <a:pPr algn="just"/>
            <a:endParaRPr lang="en-US" dirty="0"/>
          </a:p>
        </p:txBody>
      </p:sp>
    </p:spTree>
    <p:extLst>
      <p:ext uri="{BB962C8B-B14F-4D97-AF65-F5344CB8AC3E}">
        <p14:creationId xmlns:p14="http://schemas.microsoft.com/office/powerpoint/2010/main" val="18118042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Multiple Linear Regression</a:t>
            </a:r>
            <a:endParaRPr lang="en-US" dirty="0"/>
          </a:p>
        </p:txBody>
      </p:sp>
      <p:sp>
        <p:nvSpPr>
          <p:cNvPr id="3" name="Content Placeholder 2"/>
          <p:cNvSpPr>
            <a:spLocks noGrp="1"/>
          </p:cNvSpPr>
          <p:nvPr>
            <p:ph sz="quarter" idx="1"/>
          </p:nvPr>
        </p:nvSpPr>
        <p:spPr/>
        <p:txBody>
          <a:bodyPr/>
          <a:lstStyle/>
          <a:p>
            <a:pPr fontAlgn="base"/>
            <a:r>
              <a:rPr lang="en-US" dirty="0"/>
              <a:t>The multiple regression model is based on the following assumptions</a:t>
            </a:r>
            <a:r>
              <a:rPr lang="en-US" dirty="0" smtClean="0"/>
              <a:t>:</a:t>
            </a:r>
          </a:p>
          <a:p>
            <a:pPr fontAlgn="base"/>
            <a:endParaRPr lang="en-US" dirty="0"/>
          </a:p>
          <a:p>
            <a:pPr lvl="0" fontAlgn="base"/>
            <a:r>
              <a:rPr lang="en-US" dirty="0"/>
              <a:t>There is a linear relationship between the dependent variables and the independent </a:t>
            </a:r>
            <a:r>
              <a:rPr lang="en-US" dirty="0" smtClean="0"/>
              <a:t>variables</a:t>
            </a:r>
          </a:p>
          <a:p>
            <a:pPr lvl="0" fontAlgn="base"/>
            <a:endParaRPr lang="en-US" dirty="0"/>
          </a:p>
          <a:p>
            <a:pPr lvl="0" fontAlgn="base"/>
            <a:r>
              <a:rPr lang="en-US" dirty="0"/>
              <a:t>The independent variables are not too highly correlated with each other</a:t>
            </a:r>
          </a:p>
          <a:p>
            <a:endParaRPr lang="en-US" dirty="0"/>
          </a:p>
        </p:txBody>
      </p:sp>
    </p:spTree>
    <p:extLst>
      <p:ext uri="{BB962C8B-B14F-4D97-AF65-F5344CB8AC3E}">
        <p14:creationId xmlns:p14="http://schemas.microsoft.com/office/powerpoint/2010/main" val="31330149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Multiple Linear Regression</a:t>
            </a:r>
          </a:p>
        </p:txBody>
      </p:sp>
      <p:sp>
        <p:nvSpPr>
          <p:cNvPr id="3" name="Content Placeholder 2"/>
          <p:cNvSpPr>
            <a:spLocks noGrp="1"/>
          </p:cNvSpPr>
          <p:nvPr>
            <p:ph sz="quarter" idx="1"/>
          </p:nvPr>
        </p:nvSpPr>
        <p:spPr/>
        <p:txBody>
          <a:bodyPr/>
          <a:lstStyle/>
          <a:p>
            <a:endParaRPr lang="en-US"/>
          </a:p>
        </p:txBody>
      </p:sp>
      <p:pic>
        <p:nvPicPr>
          <p:cNvPr id="4" name="Picture 3"/>
          <p:cNvPicPr>
            <a:picLocks noChangeAspect="1"/>
          </p:cNvPicPr>
          <p:nvPr/>
        </p:nvPicPr>
        <p:blipFill>
          <a:blip r:embed="rId2"/>
          <a:stretch>
            <a:fillRect/>
          </a:stretch>
        </p:blipFill>
        <p:spPr>
          <a:xfrm>
            <a:off x="445827" y="1600200"/>
            <a:ext cx="7872636" cy="4495800"/>
          </a:xfrm>
          <a:prstGeom prst="rect">
            <a:avLst/>
          </a:prstGeom>
        </p:spPr>
      </p:pic>
    </p:spTree>
    <p:extLst>
      <p:ext uri="{BB962C8B-B14F-4D97-AF65-F5344CB8AC3E}">
        <p14:creationId xmlns:p14="http://schemas.microsoft.com/office/powerpoint/2010/main" val="23818236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Multiple Linear Regression</a:t>
            </a:r>
          </a:p>
        </p:txBody>
      </p:sp>
      <p:sp>
        <p:nvSpPr>
          <p:cNvPr id="3" name="Content Placeholder 2"/>
          <p:cNvSpPr>
            <a:spLocks noGrp="1"/>
          </p:cNvSpPr>
          <p:nvPr>
            <p:ph sz="quarter" idx="1"/>
          </p:nvPr>
        </p:nvSpPr>
        <p:spPr/>
        <p:txBody>
          <a:bodyPr/>
          <a:lstStyle/>
          <a:p>
            <a:endParaRPr lang="en-US"/>
          </a:p>
        </p:txBody>
      </p:sp>
      <p:pic>
        <p:nvPicPr>
          <p:cNvPr id="4" name="Picture 3"/>
          <p:cNvPicPr>
            <a:picLocks noChangeAspect="1"/>
          </p:cNvPicPr>
          <p:nvPr/>
        </p:nvPicPr>
        <p:blipFill>
          <a:blip r:embed="rId2"/>
          <a:stretch>
            <a:fillRect/>
          </a:stretch>
        </p:blipFill>
        <p:spPr>
          <a:xfrm>
            <a:off x="478809" y="1602475"/>
            <a:ext cx="7453303" cy="4871477"/>
          </a:xfrm>
          <a:prstGeom prst="rect">
            <a:avLst/>
          </a:prstGeom>
        </p:spPr>
      </p:pic>
    </p:spTree>
    <p:extLst>
      <p:ext uri="{BB962C8B-B14F-4D97-AF65-F5344CB8AC3E}">
        <p14:creationId xmlns:p14="http://schemas.microsoft.com/office/powerpoint/2010/main" val="6078452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sz="quarter" idx="1"/>
          </p:nvPr>
        </p:nvSpPr>
        <p:spPr/>
        <p:txBody>
          <a:bodyPr/>
          <a:lstStyle/>
          <a:p>
            <a:r>
              <a:rPr lang="en-US" dirty="0" smtClean="0"/>
              <a:t>Dataset</a:t>
            </a:r>
            <a:endParaRPr lang="en-US" dirty="0"/>
          </a:p>
        </p:txBody>
      </p:sp>
      <p:pic>
        <p:nvPicPr>
          <p:cNvPr id="4" name="Picture 3"/>
          <p:cNvPicPr>
            <a:picLocks noChangeAspect="1"/>
          </p:cNvPicPr>
          <p:nvPr/>
        </p:nvPicPr>
        <p:blipFill>
          <a:blip r:embed="rId2"/>
          <a:stretch>
            <a:fillRect/>
          </a:stretch>
        </p:blipFill>
        <p:spPr>
          <a:xfrm>
            <a:off x="304801" y="2418738"/>
            <a:ext cx="8001000" cy="4237775"/>
          </a:xfrm>
          <a:prstGeom prst="rect">
            <a:avLst/>
          </a:prstGeom>
        </p:spPr>
      </p:pic>
    </p:spTree>
    <p:extLst>
      <p:ext uri="{BB962C8B-B14F-4D97-AF65-F5344CB8AC3E}">
        <p14:creationId xmlns:p14="http://schemas.microsoft.com/office/powerpoint/2010/main" val="41669675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Output from excel</a:t>
            </a:r>
            <a:br>
              <a:rPr lang="en-US" dirty="0"/>
            </a:br>
            <a:endParaRPr lang="en-US" dirty="0"/>
          </a:p>
        </p:txBody>
      </p:sp>
      <p:sp>
        <p:nvSpPr>
          <p:cNvPr id="3" name="Content Placeholder 2"/>
          <p:cNvSpPr>
            <a:spLocks noGrp="1"/>
          </p:cNvSpPr>
          <p:nvPr>
            <p:ph sz="quarter"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381000" y="1553508"/>
            <a:ext cx="8391525" cy="5075892"/>
          </a:xfrm>
          <a:prstGeom prst="rect">
            <a:avLst/>
          </a:prstGeom>
        </p:spPr>
      </p:pic>
      <p:pic>
        <p:nvPicPr>
          <p:cNvPr id="5" name="Picture 4"/>
          <p:cNvPicPr>
            <a:picLocks noChangeAspect="1"/>
          </p:cNvPicPr>
          <p:nvPr/>
        </p:nvPicPr>
        <p:blipFill>
          <a:blip r:embed="rId3"/>
          <a:stretch>
            <a:fillRect/>
          </a:stretch>
        </p:blipFill>
        <p:spPr>
          <a:xfrm>
            <a:off x="7226683" y="1752600"/>
            <a:ext cx="1396234" cy="2076450"/>
          </a:xfrm>
          <a:prstGeom prst="rect">
            <a:avLst/>
          </a:prstGeom>
        </p:spPr>
      </p:pic>
    </p:spTree>
    <p:extLst>
      <p:ext uri="{BB962C8B-B14F-4D97-AF65-F5344CB8AC3E}">
        <p14:creationId xmlns:p14="http://schemas.microsoft.com/office/powerpoint/2010/main" val="195323828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Multiple Linear Regression</a:t>
            </a:r>
          </a:p>
        </p:txBody>
      </p:sp>
      <p:sp>
        <p:nvSpPr>
          <p:cNvPr id="3" name="Content Placeholder 2"/>
          <p:cNvSpPr>
            <a:spLocks noGrp="1"/>
          </p:cNvSpPr>
          <p:nvPr>
            <p:ph sz="quarter" idx="1"/>
          </p:nvPr>
        </p:nvSpPr>
        <p:spPr/>
        <p:txBody>
          <a:bodyPr/>
          <a:lstStyle/>
          <a:p>
            <a:endParaRPr lang="en-US"/>
          </a:p>
        </p:txBody>
      </p:sp>
      <p:pic>
        <p:nvPicPr>
          <p:cNvPr id="4" name="Picture 3"/>
          <p:cNvPicPr>
            <a:picLocks noChangeAspect="1"/>
          </p:cNvPicPr>
          <p:nvPr/>
        </p:nvPicPr>
        <p:blipFill>
          <a:blip r:embed="rId2"/>
          <a:stretch>
            <a:fillRect/>
          </a:stretch>
        </p:blipFill>
        <p:spPr>
          <a:xfrm>
            <a:off x="304800" y="1618903"/>
            <a:ext cx="8153400" cy="4855049"/>
          </a:xfrm>
          <a:prstGeom prst="rect">
            <a:avLst/>
          </a:prstGeom>
        </p:spPr>
      </p:pic>
    </p:spTree>
    <p:extLst>
      <p:ext uri="{BB962C8B-B14F-4D97-AF65-F5344CB8AC3E}">
        <p14:creationId xmlns:p14="http://schemas.microsoft.com/office/powerpoint/2010/main" val="245872962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Multiple Linear Regression</a:t>
            </a:r>
          </a:p>
        </p:txBody>
      </p:sp>
      <p:sp>
        <p:nvSpPr>
          <p:cNvPr id="3" name="Content Placeholder 2"/>
          <p:cNvSpPr>
            <a:spLocks noGrp="1"/>
          </p:cNvSpPr>
          <p:nvPr>
            <p:ph sz="quarter" idx="1"/>
          </p:nvPr>
        </p:nvSpPr>
        <p:spPr/>
        <p:txBody>
          <a:bodyPr/>
          <a:lstStyle/>
          <a:p>
            <a:endParaRPr lang="en-US"/>
          </a:p>
        </p:txBody>
      </p:sp>
      <p:pic>
        <p:nvPicPr>
          <p:cNvPr id="4" name="Picture 3"/>
          <p:cNvPicPr>
            <a:picLocks noChangeAspect="1"/>
          </p:cNvPicPr>
          <p:nvPr/>
        </p:nvPicPr>
        <p:blipFill>
          <a:blip r:embed="rId2"/>
          <a:stretch>
            <a:fillRect/>
          </a:stretch>
        </p:blipFill>
        <p:spPr>
          <a:xfrm>
            <a:off x="304800" y="1618397"/>
            <a:ext cx="8458200" cy="4521679"/>
          </a:xfrm>
          <a:prstGeom prst="rect">
            <a:avLst/>
          </a:prstGeom>
        </p:spPr>
      </p:pic>
    </p:spTree>
    <p:extLst>
      <p:ext uri="{BB962C8B-B14F-4D97-AF65-F5344CB8AC3E}">
        <p14:creationId xmlns:p14="http://schemas.microsoft.com/office/powerpoint/2010/main" val="42750928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Multiple Linear Regression</a:t>
            </a:r>
          </a:p>
        </p:txBody>
      </p:sp>
      <p:sp>
        <p:nvSpPr>
          <p:cNvPr id="3" name="Content Placeholder 2"/>
          <p:cNvSpPr>
            <a:spLocks noGrp="1"/>
          </p:cNvSpPr>
          <p:nvPr>
            <p:ph sz="quarter" idx="1"/>
          </p:nvPr>
        </p:nvSpPr>
        <p:spPr/>
        <p:txBody>
          <a:bodyPr/>
          <a:lstStyle/>
          <a:p>
            <a:endParaRPr lang="en-US"/>
          </a:p>
        </p:txBody>
      </p:sp>
      <p:pic>
        <p:nvPicPr>
          <p:cNvPr id="4" name="Picture 3"/>
          <p:cNvPicPr>
            <a:picLocks noChangeAspect="1"/>
          </p:cNvPicPr>
          <p:nvPr/>
        </p:nvPicPr>
        <p:blipFill>
          <a:blip r:embed="rId2"/>
          <a:stretch>
            <a:fillRect/>
          </a:stretch>
        </p:blipFill>
        <p:spPr>
          <a:xfrm>
            <a:off x="457200" y="1600200"/>
            <a:ext cx="6934200" cy="5145978"/>
          </a:xfrm>
          <a:prstGeom prst="rect">
            <a:avLst/>
          </a:prstGeom>
        </p:spPr>
      </p:pic>
    </p:spTree>
    <p:extLst>
      <p:ext uri="{BB962C8B-B14F-4D97-AF65-F5344CB8AC3E}">
        <p14:creationId xmlns:p14="http://schemas.microsoft.com/office/powerpoint/2010/main" val="26232593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Logistic Regression</a:t>
            </a:r>
            <a:endParaRPr lang="en-US" dirty="0"/>
          </a:p>
        </p:txBody>
      </p:sp>
    </p:spTree>
    <p:extLst>
      <p:ext uri="{BB962C8B-B14F-4D97-AF65-F5344CB8AC3E}">
        <p14:creationId xmlns:p14="http://schemas.microsoft.com/office/powerpoint/2010/main" val="389091303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AIMS</a:t>
            </a:r>
            <a:endParaRPr lang="en-US" dirty="0"/>
          </a:p>
        </p:txBody>
      </p:sp>
      <p:sp>
        <p:nvSpPr>
          <p:cNvPr id="3" name="Content Placeholder 2"/>
          <p:cNvSpPr>
            <a:spLocks noGrp="1"/>
          </p:cNvSpPr>
          <p:nvPr>
            <p:ph sz="quarter" idx="1"/>
          </p:nvPr>
        </p:nvSpPr>
        <p:spPr/>
        <p:txBody>
          <a:bodyPr/>
          <a:lstStyle/>
          <a:p>
            <a:r>
              <a:rPr lang="en-US" dirty="0" smtClean="0"/>
              <a:t>When and Why do we Use Logistic Regression?</a:t>
            </a:r>
          </a:p>
          <a:p>
            <a:r>
              <a:rPr lang="en-US" dirty="0" smtClean="0"/>
              <a:t>	 Binary</a:t>
            </a:r>
          </a:p>
          <a:p>
            <a:r>
              <a:rPr lang="en-US" dirty="0" smtClean="0"/>
              <a:t> 	Multinomial</a:t>
            </a:r>
          </a:p>
          <a:p>
            <a:r>
              <a:rPr lang="en-US" dirty="0" smtClean="0"/>
              <a:t> Theory Behind Logistic Regression</a:t>
            </a:r>
          </a:p>
          <a:p>
            <a:r>
              <a:rPr lang="en-US" dirty="0" smtClean="0"/>
              <a:t> 	Assessing the Model</a:t>
            </a:r>
          </a:p>
          <a:p>
            <a:r>
              <a:rPr lang="en-US" dirty="0" smtClean="0"/>
              <a:t> 	Assessing predictors</a:t>
            </a:r>
          </a:p>
          <a:p>
            <a:r>
              <a:rPr lang="en-US" dirty="0" smtClean="0"/>
              <a:t> 	Things that can go Wrong</a:t>
            </a:r>
          </a:p>
          <a:p>
            <a:r>
              <a:rPr lang="en-US" dirty="0" smtClean="0"/>
              <a:t> Interpreting Logistic Regression</a:t>
            </a:r>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When and why</a:t>
            </a:r>
            <a:endParaRPr lang="en-US" dirty="0"/>
          </a:p>
        </p:txBody>
      </p:sp>
      <p:sp>
        <p:nvSpPr>
          <p:cNvPr id="3" name="Content Placeholder 2"/>
          <p:cNvSpPr>
            <a:spLocks noGrp="1"/>
          </p:cNvSpPr>
          <p:nvPr>
            <p:ph sz="quarter" idx="1"/>
          </p:nvPr>
        </p:nvSpPr>
        <p:spPr/>
        <p:txBody>
          <a:bodyPr/>
          <a:lstStyle/>
          <a:p>
            <a:r>
              <a:rPr lang="en-US" dirty="0" smtClean="0"/>
              <a:t>To predict an outcome variable that is categorical from one or more categorical or continuous predictor variables.</a:t>
            </a:r>
          </a:p>
          <a:p>
            <a:endParaRPr lang="en-US" dirty="0" smtClean="0"/>
          </a:p>
          <a:p>
            <a:r>
              <a:rPr lang="en-US" dirty="0" smtClean="0"/>
              <a:t>Used because having a categorical outcome variable violates the assumption of linearity in normal regression.</a:t>
            </a:r>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When and why</a:t>
            </a:r>
            <a:endParaRPr lang="en-US" dirty="0"/>
          </a:p>
        </p:txBody>
      </p:sp>
      <p:sp>
        <p:nvSpPr>
          <p:cNvPr id="3" name="Content Placeholder 2"/>
          <p:cNvSpPr>
            <a:spLocks noGrp="1"/>
          </p:cNvSpPr>
          <p:nvPr>
            <p:ph sz="quarter" idx="1"/>
          </p:nvPr>
        </p:nvSpPr>
        <p:spPr/>
        <p:txBody>
          <a:bodyPr>
            <a:normAutofit/>
          </a:bodyPr>
          <a:lstStyle/>
          <a:p>
            <a:r>
              <a:rPr lang="en-US" dirty="0" smtClean="0"/>
              <a:t>No assumptions about the distributions of the predictor variables.</a:t>
            </a:r>
          </a:p>
          <a:p>
            <a:r>
              <a:rPr lang="en-US" dirty="0" smtClean="0"/>
              <a:t>Predictors do not have to be normally distributed</a:t>
            </a:r>
          </a:p>
          <a:p>
            <a:r>
              <a:rPr lang="en-US" dirty="0" smtClean="0"/>
              <a:t>Logistic regression does not make any assumptions of normality, linearity, and homogeneity of variance for the independent variables.</a:t>
            </a:r>
          </a:p>
          <a:p>
            <a:r>
              <a:rPr lang="en-US" dirty="0" smtClean="0"/>
              <a:t>Because it does not impose these requirements, it is preferred to </a:t>
            </a:r>
            <a:r>
              <a:rPr lang="en-US" dirty="0" err="1" smtClean="0"/>
              <a:t>discriminant</a:t>
            </a:r>
            <a:r>
              <a:rPr lang="en-US" dirty="0" smtClean="0"/>
              <a:t> analysis when the data does not satisfy these assumptions.</a:t>
            </a:r>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Logistic Regression</a:t>
            </a:r>
            <a:endParaRPr lang="en-US" dirty="0"/>
          </a:p>
        </p:txBody>
      </p:sp>
      <p:sp>
        <p:nvSpPr>
          <p:cNvPr id="3" name="Content Placeholder 2"/>
          <p:cNvSpPr>
            <a:spLocks noGrp="1"/>
          </p:cNvSpPr>
          <p:nvPr>
            <p:ph sz="quarter" idx="1"/>
          </p:nvPr>
        </p:nvSpPr>
        <p:spPr/>
        <p:txBody>
          <a:bodyPr>
            <a:normAutofit fontScale="85000" lnSpcReduction="10000"/>
          </a:bodyPr>
          <a:lstStyle/>
          <a:p>
            <a:r>
              <a:rPr lang="en-US" dirty="0" smtClean="0"/>
              <a:t>Logistic regression is used to analyze relationships between a dichotomous dependent variable and continue or dichotomous independent variables.</a:t>
            </a:r>
          </a:p>
          <a:p>
            <a:endParaRPr lang="en-US" dirty="0" smtClean="0"/>
          </a:p>
          <a:p>
            <a:r>
              <a:rPr lang="en-US" dirty="0"/>
              <a:t>A dichotomous variable is one that takes on one of only two possible values when observed or measured. ... For example, a dichotomous variable may be used to indicate whether a piece of legislation passed. The dichotomous variable (pass/fail) is </a:t>
            </a:r>
            <a:r>
              <a:rPr lang="en-US" b="1" dirty="0"/>
              <a:t>a representation of the actual, and observable, vote on the legislation</a:t>
            </a:r>
            <a:r>
              <a:rPr lang="en-US" dirty="0" smtClean="0"/>
              <a:t>.</a:t>
            </a:r>
          </a:p>
          <a:p>
            <a:endParaRPr lang="en-US" dirty="0" smtClean="0"/>
          </a:p>
          <a:p>
            <a:r>
              <a:rPr lang="en-US" dirty="0" smtClean="0"/>
              <a:t>Logistic regression combines the independent variables to estimate the probability that a particular event will occur, i.e. a subject will be a member of one of the groups defined by the dichotomous dependent variable.</a:t>
            </a:r>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Logistic Regression</a:t>
            </a:r>
            <a:endParaRPr lang="en-US" dirty="0"/>
          </a:p>
        </p:txBody>
      </p:sp>
      <p:sp>
        <p:nvSpPr>
          <p:cNvPr id="3" name="Content Placeholder 2"/>
          <p:cNvSpPr>
            <a:spLocks noGrp="1"/>
          </p:cNvSpPr>
          <p:nvPr>
            <p:ph sz="quarter" idx="1"/>
          </p:nvPr>
        </p:nvSpPr>
        <p:spPr/>
        <p:txBody>
          <a:bodyPr/>
          <a:lstStyle/>
          <a:p>
            <a:r>
              <a:rPr lang="en-US" dirty="0"/>
              <a:t>Logistic regression is a type of binary classification machine learning algorithm used to predict the probability of something happening, in our </a:t>
            </a:r>
            <a:r>
              <a:rPr lang="en-US" dirty="0" smtClean="0"/>
              <a:t>case </a:t>
            </a:r>
            <a:r>
              <a:rPr lang="en-US" dirty="0"/>
              <a:t>whether or not an event will occur</a:t>
            </a:r>
            <a:r>
              <a:rPr lang="en-US" dirty="0" smtClean="0"/>
              <a:t>.</a:t>
            </a:r>
          </a:p>
          <a:p>
            <a:endParaRPr lang="en-US" dirty="0"/>
          </a:p>
          <a:p>
            <a:r>
              <a:rPr lang="en-US" dirty="0"/>
              <a:t>The name “logistic regression” is derived from the concept of the logistic function that it uses. The logistic function is also known as the sigmoid function. The value of this logistic function lies between zero and one.</a:t>
            </a:r>
          </a:p>
        </p:txBody>
      </p:sp>
    </p:spTree>
    <p:extLst>
      <p:ext uri="{BB962C8B-B14F-4D97-AF65-F5344CB8AC3E}">
        <p14:creationId xmlns:p14="http://schemas.microsoft.com/office/powerpoint/2010/main" val="392615226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228600"/>
            <a:ext cx="7467600" cy="4873752"/>
          </a:xfrm>
        </p:spPr>
        <p:txBody>
          <a:bodyPr/>
          <a:lstStyle/>
          <a:p>
            <a:r>
              <a:rPr lang="en-US" dirty="0"/>
              <a:t>The following is an example of a logistic function we can use to find the probability of a vehicle breaking down, depending on how many years it has been since it was serviced last.</a:t>
            </a:r>
          </a:p>
        </p:txBody>
      </p:sp>
      <p:pic>
        <p:nvPicPr>
          <p:cNvPr id="1026" name="Picture 2" descr="year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828800"/>
            <a:ext cx="6493008" cy="464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461674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endParaRPr lang="en-US"/>
          </a:p>
        </p:txBody>
      </p:sp>
      <p:pic>
        <p:nvPicPr>
          <p:cNvPr id="2050" name="Picture 2" descr="years-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417638"/>
            <a:ext cx="8345714" cy="4953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443961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Logistic Regression</a:t>
            </a:r>
            <a:endParaRPr lang="en-US" dirty="0"/>
          </a:p>
        </p:txBody>
      </p:sp>
      <p:sp>
        <p:nvSpPr>
          <p:cNvPr id="3" name="Content Placeholder 2"/>
          <p:cNvSpPr>
            <a:spLocks noGrp="1"/>
          </p:cNvSpPr>
          <p:nvPr>
            <p:ph sz="quarter" idx="1"/>
          </p:nvPr>
        </p:nvSpPr>
        <p:spPr/>
        <p:txBody>
          <a:bodyPr/>
          <a:lstStyle/>
          <a:p>
            <a:r>
              <a:rPr lang="en-US" dirty="0"/>
              <a:t>Logistic regression aims to solve classification problems. It does this by predicting categorical outcomes, unlike linear regression that predicts a continuous outcome.</a:t>
            </a:r>
          </a:p>
          <a:p>
            <a:r>
              <a:rPr lang="en-US" dirty="0"/>
              <a:t>In the simplest case there are two outcomes, which is called binomial, an example of which is predicting if a tumor is malignant or benign. Other cases have more than two outcomes to classify, in this case it is called multinomial. A common example for multinomial logistic regression would be predicting the class of an iris flower between 3 different species.</a:t>
            </a:r>
          </a:p>
          <a:p>
            <a:endParaRPr lang="en-US" dirty="0"/>
          </a:p>
        </p:txBody>
      </p:sp>
    </p:spTree>
    <p:extLst>
      <p:ext uri="{BB962C8B-B14F-4D97-AF65-F5344CB8AC3E}">
        <p14:creationId xmlns:p14="http://schemas.microsoft.com/office/powerpoint/2010/main" val="246640995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cstate="print"/>
          <a:srcRect/>
          <a:stretch>
            <a:fillRect/>
          </a:stretch>
        </p:blipFill>
        <p:spPr bwMode="auto">
          <a:xfrm>
            <a:off x="152400" y="762000"/>
            <a:ext cx="8610600" cy="5562600"/>
          </a:xfrm>
          <a:prstGeom prst="rect">
            <a:avLst/>
          </a:prstGeom>
          <a:noFill/>
          <a:ln w="9525">
            <a:noFill/>
            <a:miter lim="800000"/>
            <a:headEnd/>
            <a:tailEnd/>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228600" y="838200"/>
            <a:ext cx="8440792" cy="5410200"/>
          </a:xfrm>
          <a:prstGeom prst="rect">
            <a:avLst/>
          </a:prstGeom>
          <a:noFill/>
          <a:ln w="9525">
            <a:noFill/>
            <a:miter lim="800000"/>
            <a:headEnd/>
            <a:tailEnd/>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cstate="print"/>
          <a:srcRect/>
          <a:stretch>
            <a:fillRect/>
          </a:stretch>
        </p:blipFill>
        <p:spPr bwMode="auto">
          <a:xfrm>
            <a:off x="152400" y="914400"/>
            <a:ext cx="8582025" cy="5257800"/>
          </a:xfrm>
          <a:prstGeom prst="rect">
            <a:avLst/>
          </a:prstGeom>
          <a:noFill/>
          <a:ln w="9525">
            <a:noFill/>
            <a:miter lim="800000"/>
            <a:headEnd/>
            <a:tailEnd/>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Objectives Of logistic regression</a:t>
            </a:r>
            <a:br>
              <a:rPr lang="en-US" b="1" dirty="0" smtClean="0"/>
            </a:br>
            <a:endParaRPr lang="en-US" dirty="0"/>
          </a:p>
        </p:txBody>
      </p:sp>
      <p:sp>
        <p:nvSpPr>
          <p:cNvPr id="3" name="Content Placeholder 2"/>
          <p:cNvSpPr>
            <a:spLocks noGrp="1"/>
          </p:cNvSpPr>
          <p:nvPr>
            <p:ph sz="quarter" idx="1"/>
          </p:nvPr>
        </p:nvSpPr>
        <p:spPr>
          <a:xfrm>
            <a:off x="457200" y="1600200"/>
            <a:ext cx="7924800" cy="4873752"/>
          </a:xfrm>
        </p:spPr>
        <p:txBody>
          <a:bodyPr/>
          <a:lstStyle/>
          <a:p>
            <a:r>
              <a:rPr lang="en-US" dirty="0" smtClean="0"/>
              <a:t>Identify the independent variable that impact in the dependent variable</a:t>
            </a:r>
          </a:p>
          <a:p>
            <a:endParaRPr lang="en-US" dirty="0" smtClean="0"/>
          </a:p>
          <a:p>
            <a:r>
              <a:rPr lang="en-US" dirty="0" smtClean="0"/>
              <a:t>Establishing classification system based on the logistic model for determining the group membership</a:t>
            </a:r>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Types of logistic regression</a:t>
            </a:r>
            <a:endParaRPr lang="en-US" dirty="0"/>
          </a:p>
        </p:txBody>
      </p:sp>
      <p:sp>
        <p:nvSpPr>
          <p:cNvPr id="3" name="Content Placeholder 2"/>
          <p:cNvSpPr>
            <a:spLocks noGrp="1"/>
          </p:cNvSpPr>
          <p:nvPr>
            <p:ph sz="quarter" idx="1"/>
          </p:nvPr>
        </p:nvSpPr>
        <p:spPr/>
        <p:txBody>
          <a:bodyPr/>
          <a:lstStyle/>
          <a:p>
            <a:r>
              <a:rPr lang="en-US" b="1" i="1" dirty="0" smtClean="0"/>
              <a:t>BINARY LOGISTIC REGRESSION</a:t>
            </a:r>
          </a:p>
          <a:p>
            <a:endParaRPr lang="en-US" b="1" i="1" dirty="0" smtClean="0"/>
          </a:p>
          <a:p>
            <a:pPr lvl="1"/>
            <a:r>
              <a:rPr lang="en-US" dirty="0" smtClean="0"/>
              <a:t>It is used when the dependent variable is dichotomous.</a:t>
            </a:r>
          </a:p>
          <a:p>
            <a:pPr lvl="1"/>
            <a:endParaRPr lang="en-US" dirty="0" smtClean="0"/>
          </a:p>
          <a:p>
            <a:r>
              <a:rPr lang="en-US" b="1" i="1" dirty="0" smtClean="0"/>
              <a:t>MULTINOMIAL LOGISTIC REGRESSION</a:t>
            </a:r>
          </a:p>
          <a:p>
            <a:pPr lvl="1"/>
            <a:endParaRPr lang="en-US" dirty="0" smtClean="0"/>
          </a:p>
          <a:p>
            <a:pPr lvl="1"/>
            <a:r>
              <a:rPr lang="en-US" dirty="0" smtClean="0"/>
              <a:t>It is used when the dependent or outcomes variable has more than two categories.</a:t>
            </a:r>
            <a:endParaRPr 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endParaRPr lang="en-US"/>
          </a:p>
        </p:txBody>
      </p:sp>
      <p:pic>
        <p:nvPicPr>
          <p:cNvPr id="5122" name="Picture 2"/>
          <p:cNvPicPr>
            <a:picLocks noChangeAspect="1" noChangeArrowheads="1"/>
          </p:cNvPicPr>
          <p:nvPr/>
        </p:nvPicPr>
        <p:blipFill>
          <a:blip r:embed="rId2" cstate="print"/>
          <a:srcRect/>
          <a:stretch>
            <a:fillRect/>
          </a:stretch>
        </p:blipFill>
        <p:spPr bwMode="auto">
          <a:xfrm>
            <a:off x="133350" y="1228725"/>
            <a:ext cx="8877300" cy="4400550"/>
          </a:xfrm>
          <a:prstGeom prst="rect">
            <a:avLst/>
          </a:prstGeom>
          <a:noFill/>
          <a:ln w="9525">
            <a:noFill/>
            <a:miter lim="800000"/>
            <a:headEnd/>
            <a:tailEnd/>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cstate="print"/>
          <a:srcRect/>
          <a:stretch>
            <a:fillRect/>
          </a:stretch>
        </p:blipFill>
        <p:spPr bwMode="auto">
          <a:xfrm>
            <a:off x="190500" y="381000"/>
            <a:ext cx="8496300" cy="5181600"/>
          </a:xfrm>
          <a:prstGeom prst="rect">
            <a:avLst/>
          </a:prstGeom>
          <a:noFill/>
          <a:ln w="9525">
            <a:noFill/>
            <a:miter lim="800000"/>
            <a:headEnd/>
            <a:tailEnd/>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cstate="print"/>
          <a:srcRect/>
          <a:stretch>
            <a:fillRect/>
          </a:stretch>
        </p:blipFill>
        <p:spPr bwMode="auto">
          <a:xfrm>
            <a:off x="228600" y="228600"/>
            <a:ext cx="8382000" cy="5181600"/>
          </a:xfrm>
          <a:prstGeom prst="rect">
            <a:avLst/>
          </a:prstGeom>
          <a:noFill/>
          <a:ln w="9525">
            <a:noFill/>
            <a:miter lim="800000"/>
            <a:headEnd/>
            <a:tailEnd/>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cstate="print"/>
          <a:srcRect/>
          <a:stretch>
            <a:fillRect/>
          </a:stretch>
        </p:blipFill>
        <p:spPr bwMode="auto">
          <a:xfrm>
            <a:off x="304800" y="76200"/>
            <a:ext cx="7467600" cy="6698685"/>
          </a:xfrm>
          <a:prstGeom prst="rect">
            <a:avLst/>
          </a:prstGeom>
          <a:noFill/>
          <a:ln w="9525">
            <a:noFill/>
            <a:miter lim="800000"/>
            <a:headEnd/>
            <a:tailEnd/>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Logistic regression – Binary classification</a:t>
            </a:r>
            <a:endParaRPr lang="en-US" dirty="0"/>
          </a:p>
        </p:txBody>
      </p:sp>
      <p:sp>
        <p:nvSpPr>
          <p:cNvPr id="3" name="Content Placeholder 2"/>
          <p:cNvSpPr>
            <a:spLocks noGrp="1"/>
          </p:cNvSpPr>
          <p:nvPr>
            <p:ph sz="quarter" idx="1"/>
          </p:nvPr>
        </p:nvSpPr>
        <p:spPr/>
        <p:txBody>
          <a:bodyPr/>
          <a:lstStyle/>
          <a:p>
            <a:endParaRPr lang="en-US"/>
          </a:p>
        </p:txBody>
      </p:sp>
      <p:pic>
        <p:nvPicPr>
          <p:cNvPr id="4" name="Picture 3"/>
          <p:cNvPicPr>
            <a:picLocks noChangeAspect="1"/>
          </p:cNvPicPr>
          <p:nvPr/>
        </p:nvPicPr>
        <p:blipFill>
          <a:blip r:embed="rId2"/>
          <a:stretch>
            <a:fillRect/>
          </a:stretch>
        </p:blipFill>
        <p:spPr>
          <a:xfrm>
            <a:off x="5791200" y="1600200"/>
            <a:ext cx="2305050" cy="3352800"/>
          </a:xfrm>
          <a:prstGeom prst="rect">
            <a:avLst/>
          </a:prstGeom>
        </p:spPr>
      </p:pic>
      <p:pic>
        <p:nvPicPr>
          <p:cNvPr id="5" name="Picture 4"/>
          <p:cNvPicPr>
            <a:picLocks noChangeAspect="1"/>
          </p:cNvPicPr>
          <p:nvPr/>
        </p:nvPicPr>
        <p:blipFill>
          <a:blip r:embed="rId3"/>
          <a:stretch>
            <a:fillRect/>
          </a:stretch>
        </p:blipFill>
        <p:spPr>
          <a:xfrm>
            <a:off x="528638" y="3154568"/>
            <a:ext cx="5191125" cy="3295650"/>
          </a:xfrm>
          <a:prstGeom prst="rect">
            <a:avLst/>
          </a:prstGeom>
        </p:spPr>
      </p:pic>
    </p:spTree>
    <p:extLst>
      <p:ext uri="{BB962C8B-B14F-4D97-AF65-F5344CB8AC3E}">
        <p14:creationId xmlns:p14="http://schemas.microsoft.com/office/powerpoint/2010/main" val="7632990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Logistic regression – Binary classification</a:t>
            </a:r>
          </a:p>
        </p:txBody>
      </p:sp>
      <p:sp>
        <p:nvSpPr>
          <p:cNvPr id="3" name="Content Placeholder 2"/>
          <p:cNvSpPr>
            <a:spLocks noGrp="1"/>
          </p:cNvSpPr>
          <p:nvPr>
            <p:ph sz="quarter" idx="1"/>
          </p:nvPr>
        </p:nvSpPr>
        <p:spPr/>
        <p:txBody>
          <a:bodyPr/>
          <a:lstStyle/>
          <a:p>
            <a:r>
              <a:rPr lang="en-US" dirty="0"/>
              <a:t>With linear regression</a:t>
            </a:r>
          </a:p>
        </p:txBody>
      </p:sp>
      <p:pic>
        <p:nvPicPr>
          <p:cNvPr id="4" name="Picture 3"/>
          <p:cNvPicPr>
            <a:picLocks noChangeAspect="1"/>
          </p:cNvPicPr>
          <p:nvPr/>
        </p:nvPicPr>
        <p:blipFill>
          <a:blip r:embed="rId2"/>
          <a:stretch>
            <a:fillRect/>
          </a:stretch>
        </p:blipFill>
        <p:spPr>
          <a:xfrm>
            <a:off x="609600" y="2590800"/>
            <a:ext cx="6489164" cy="3733800"/>
          </a:xfrm>
          <a:prstGeom prst="rect">
            <a:avLst/>
          </a:prstGeom>
        </p:spPr>
      </p:pic>
    </p:spTree>
    <p:extLst>
      <p:ext uri="{BB962C8B-B14F-4D97-AF65-F5344CB8AC3E}">
        <p14:creationId xmlns:p14="http://schemas.microsoft.com/office/powerpoint/2010/main" val="35150089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Logistic regression – Binary classification</a:t>
            </a:r>
          </a:p>
        </p:txBody>
      </p:sp>
      <p:sp>
        <p:nvSpPr>
          <p:cNvPr id="3" name="Content Placeholder 2"/>
          <p:cNvSpPr>
            <a:spLocks noGrp="1"/>
          </p:cNvSpPr>
          <p:nvPr>
            <p:ph sz="quarter" idx="1"/>
          </p:nvPr>
        </p:nvSpPr>
        <p:spPr/>
        <p:txBody>
          <a:bodyPr/>
          <a:lstStyle/>
          <a:p>
            <a:r>
              <a:rPr lang="en-US" dirty="0"/>
              <a:t>With </a:t>
            </a:r>
            <a:r>
              <a:rPr lang="en-US" dirty="0" smtClean="0"/>
              <a:t>logistic regression</a:t>
            </a:r>
            <a:endParaRPr lang="en-US" dirty="0"/>
          </a:p>
          <a:p>
            <a:endParaRPr lang="en-US" dirty="0"/>
          </a:p>
        </p:txBody>
      </p:sp>
      <p:pic>
        <p:nvPicPr>
          <p:cNvPr id="5" name="Picture 4"/>
          <p:cNvPicPr>
            <a:picLocks noChangeAspect="1"/>
          </p:cNvPicPr>
          <p:nvPr/>
        </p:nvPicPr>
        <p:blipFill>
          <a:blip r:embed="rId2"/>
          <a:stretch>
            <a:fillRect/>
          </a:stretch>
        </p:blipFill>
        <p:spPr>
          <a:xfrm>
            <a:off x="914400" y="2323505"/>
            <a:ext cx="5957887" cy="4333009"/>
          </a:xfrm>
          <a:prstGeom prst="rect">
            <a:avLst/>
          </a:prstGeom>
        </p:spPr>
      </p:pic>
    </p:spTree>
    <p:extLst>
      <p:ext uri="{BB962C8B-B14F-4D97-AF65-F5344CB8AC3E}">
        <p14:creationId xmlns:p14="http://schemas.microsoft.com/office/powerpoint/2010/main" val="172173137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Logistic regression – Binary classification</a:t>
            </a:r>
          </a:p>
        </p:txBody>
      </p:sp>
      <p:sp>
        <p:nvSpPr>
          <p:cNvPr id="3" name="Content Placeholder 2"/>
          <p:cNvSpPr>
            <a:spLocks noGrp="1"/>
          </p:cNvSpPr>
          <p:nvPr>
            <p:ph sz="quarter" idx="1"/>
          </p:nvPr>
        </p:nvSpPr>
        <p:spPr/>
        <p:txBody>
          <a:bodyPr/>
          <a:lstStyle/>
          <a:p>
            <a:endParaRPr lang="en-US"/>
          </a:p>
        </p:txBody>
      </p:sp>
      <p:pic>
        <p:nvPicPr>
          <p:cNvPr id="4" name="Picture 3"/>
          <p:cNvPicPr>
            <a:picLocks noChangeAspect="1"/>
          </p:cNvPicPr>
          <p:nvPr/>
        </p:nvPicPr>
        <p:blipFill>
          <a:blip r:embed="rId2"/>
          <a:stretch>
            <a:fillRect/>
          </a:stretch>
        </p:blipFill>
        <p:spPr>
          <a:xfrm>
            <a:off x="457200" y="1600200"/>
            <a:ext cx="7896225" cy="4972050"/>
          </a:xfrm>
          <a:prstGeom prst="rect">
            <a:avLst/>
          </a:prstGeom>
        </p:spPr>
      </p:pic>
    </p:spTree>
    <p:extLst>
      <p:ext uri="{BB962C8B-B14F-4D97-AF65-F5344CB8AC3E}">
        <p14:creationId xmlns:p14="http://schemas.microsoft.com/office/powerpoint/2010/main" val="57577714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Logistic regression – Binary classification</a:t>
            </a:r>
          </a:p>
        </p:txBody>
      </p:sp>
      <p:sp>
        <p:nvSpPr>
          <p:cNvPr id="3" name="Content Placeholder 2"/>
          <p:cNvSpPr>
            <a:spLocks noGrp="1"/>
          </p:cNvSpPr>
          <p:nvPr>
            <p:ph sz="quarter" idx="1"/>
          </p:nvPr>
        </p:nvSpPr>
        <p:spPr/>
        <p:txBody>
          <a:bodyPr/>
          <a:lstStyle/>
          <a:p>
            <a:endParaRPr lang="en-US"/>
          </a:p>
        </p:txBody>
      </p:sp>
      <p:pic>
        <p:nvPicPr>
          <p:cNvPr id="4" name="Picture 3"/>
          <p:cNvPicPr>
            <a:picLocks noChangeAspect="1"/>
          </p:cNvPicPr>
          <p:nvPr/>
        </p:nvPicPr>
        <p:blipFill>
          <a:blip r:embed="rId2"/>
          <a:stretch>
            <a:fillRect/>
          </a:stretch>
        </p:blipFill>
        <p:spPr>
          <a:xfrm>
            <a:off x="228600" y="1752600"/>
            <a:ext cx="8229600" cy="4191000"/>
          </a:xfrm>
          <a:prstGeom prst="rect">
            <a:avLst/>
          </a:prstGeom>
        </p:spPr>
      </p:pic>
    </p:spTree>
    <p:extLst>
      <p:ext uri="{BB962C8B-B14F-4D97-AF65-F5344CB8AC3E}">
        <p14:creationId xmlns:p14="http://schemas.microsoft.com/office/powerpoint/2010/main" val="35326749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Non-linear Regression</a:t>
            </a:r>
            <a:endParaRPr lang="en-US" dirty="0"/>
          </a:p>
        </p:txBody>
      </p:sp>
    </p:spTree>
    <p:extLst>
      <p:ext uri="{BB962C8B-B14F-4D97-AF65-F5344CB8AC3E}">
        <p14:creationId xmlns:p14="http://schemas.microsoft.com/office/powerpoint/2010/main" val="337889419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Non-linear Regression</a:t>
            </a:r>
            <a:endParaRPr lang="en-US" dirty="0"/>
          </a:p>
        </p:txBody>
      </p:sp>
      <p:sp>
        <p:nvSpPr>
          <p:cNvPr id="3" name="Content Placeholder 2"/>
          <p:cNvSpPr>
            <a:spLocks noGrp="1"/>
          </p:cNvSpPr>
          <p:nvPr>
            <p:ph sz="quarter" idx="1"/>
          </p:nvPr>
        </p:nvSpPr>
        <p:spPr/>
        <p:txBody>
          <a:bodyPr/>
          <a:lstStyle/>
          <a:p>
            <a:pPr algn="just"/>
            <a:r>
              <a:rPr lang="en-US" dirty="0"/>
              <a:t>In simple linear regression algorithm only works when the relationship between the data is linear </a:t>
            </a:r>
            <a:endParaRPr lang="en-US" dirty="0" smtClean="0"/>
          </a:p>
          <a:p>
            <a:pPr algn="just"/>
            <a:endParaRPr lang="en-US" dirty="0"/>
          </a:p>
          <a:p>
            <a:pPr algn="just"/>
            <a:r>
              <a:rPr lang="en-US" dirty="0" smtClean="0"/>
              <a:t>But </a:t>
            </a:r>
            <a:r>
              <a:rPr lang="en-US" dirty="0"/>
              <a:t>suppose if we have non-linear data then Linear regression will not capable to draw a best-fit line and It fails in such conditions. </a:t>
            </a:r>
            <a:endParaRPr lang="en-US" dirty="0" smtClean="0"/>
          </a:p>
          <a:p>
            <a:pPr algn="just"/>
            <a:endParaRPr lang="en-US" dirty="0" smtClean="0"/>
          </a:p>
          <a:p>
            <a:pPr algn="just"/>
            <a:r>
              <a:rPr lang="en-US" dirty="0" smtClean="0"/>
              <a:t>Hence</a:t>
            </a:r>
            <a:r>
              <a:rPr lang="en-US" dirty="0"/>
              <a:t>, we introduce polynomial regression to overcome this problem, which helps identify the curvilinear relationship between independent and dependent variables.</a:t>
            </a:r>
          </a:p>
          <a:p>
            <a:pPr algn="just"/>
            <a:endParaRPr lang="en-US" dirty="0"/>
          </a:p>
        </p:txBody>
      </p:sp>
    </p:spTree>
    <p:extLst>
      <p:ext uri="{BB962C8B-B14F-4D97-AF65-F5344CB8AC3E}">
        <p14:creationId xmlns:p14="http://schemas.microsoft.com/office/powerpoint/2010/main" val="292302613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Non-linear Regression</a:t>
            </a:r>
            <a:endParaRPr lang="en-US" dirty="0"/>
          </a:p>
        </p:txBody>
      </p:sp>
      <p:sp>
        <p:nvSpPr>
          <p:cNvPr id="3" name="Content Placeholder 2"/>
          <p:cNvSpPr>
            <a:spLocks noGrp="1"/>
          </p:cNvSpPr>
          <p:nvPr>
            <p:ph sz="quarter" idx="1"/>
          </p:nvPr>
        </p:nvSpPr>
        <p:spPr/>
        <p:txBody>
          <a:bodyPr>
            <a:normAutofit fontScale="92500"/>
          </a:bodyPr>
          <a:lstStyle/>
          <a:p>
            <a:pPr algn="just"/>
            <a:r>
              <a:rPr lang="en-US" b="1" dirty="0"/>
              <a:t>How Polynomial Regression Overcomes the problem of Non-Linear data</a:t>
            </a:r>
            <a:r>
              <a:rPr lang="en-US" b="1" dirty="0" smtClean="0"/>
              <a:t>?</a:t>
            </a:r>
          </a:p>
          <a:p>
            <a:pPr algn="just"/>
            <a:endParaRPr lang="en-US" b="1" dirty="0"/>
          </a:p>
          <a:p>
            <a:pPr algn="just"/>
            <a:r>
              <a:rPr lang="en-US" dirty="0"/>
              <a:t>Polynomial regression is a form of Linear regression where only due to the Non-linear relationship between dependent and independent variables we add some polynomial terms to linear regression to convert it into Polynomial regression. </a:t>
            </a:r>
            <a:endParaRPr lang="en-US" dirty="0" smtClean="0"/>
          </a:p>
          <a:p>
            <a:pPr algn="just"/>
            <a:endParaRPr lang="en-US" dirty="0" smtClean="0"/>
          </a:p>
          <a:p>
            <a:pPr algn="just"/>
            <a:r>
              <a:rPr lang="en-US" dirty="0" smtClean="0"/>
              <a:t>Suppose </a:t>
            </a:r>
            <a:r>
              <a:rPr lang="en-US" dirty="0"/>
              <a:t>we have X as Independent data and Y as dependent data. Before feeding data to a mode in preprocessing stage we convert the input variables into polynomial terms using some degree.</a:t>
            </a:r>
          </a:p>
          <a:p>
            <a:pPr algn="just"/>
            <a:endParaRPr lang="en-US" dirty="0"/>
          </a:p>
        </p:txBody>
      </p:sp>
    </p:spTree>
    <p:extLst>
      <p:ext uri="{BB962C8B-B14F-4D97-AF65-F5344CB8AC3E}">
        <p14:creationId xmlns:p14="http://schemas.microsoft.com/office/powerpoint/2010/main" val="228569388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Non-linear Regression</a:t>
            </a:r>
            <a:endParaRPr lang="en-US" dirty="0"/>
          </a:p>
        </p:txBody>
      </p:sp>
      <p:sp>
        <p:nvSpPr>
          <p:cNvPr id="3" name="Content Placeholder 2"/>
          <p:cNvSpPr>
            <a:spLocks noGrp="1"/>
          </p:cNvSpPr>
          <p:nvPr>
            <p:ph sz="quarter" idx="1"/>
          </p:nvPr>
        </p:nvSpPr>
        <p:spPr/>
        <p:txBody>
          <a:bodyPr/>
          <a:lstStyle/>
          <a:p>
            <a:endParaRPr lang="en-US"/>
          </a:p>
        </p:txBody>
      </p:sp>
      <p:pic>
        <p:nvPicPr>
          <p:cNvPr id="4" name="Picture 3"/>
          <p:cNvPicPr>
            <a:picLocks noChangeAspect="1"/>
          </p:cNvPicPr>
          <p:nvPr/>
        </p:nvPicPr>
        <p:blipFill>
          <a:blip r:embed="rId2"/>
          <a:stretch>
            <a:fillRect/>
          </a:stretch>
        </p:blipFill>
        <p:spPr>
          <a:xfrm>
            <a:off x="490182" y="1676400"/>
            <a:ext cx="7434618" cy="4724400"/>
          </a:xfrm>
          <a:prstGeom prst="rect">
            <a:avLst/>
          </a:prstGeom>
        </p:spPr>
      </p:pic>
    </p:spTree>
    <p:extLst>
      <p:ext uri="{BB962C8B-B14F-4D97-AF65-F5344CB8AC3E}">
        <p14:creationId xmlns:p14="http://schemas.microsoft.com/office/powerpoint/2010/main" val="30784191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Non-linear Regression</a:t>
            </a:r>
            <a:endParaRPr lang="en-US" dirty="0"/>
          </a:p>
        </p:txBody>
      </p:sp>
      <p:sp>
        <p:nvSpPr>
          <p:cNvPr id="3" name="Content Placeholder 2"/>
          <p:cNvSpPr>
            <a:spLocks noGrp="1"/>
          </p:cNvSpPr>
          <p:nvPr>
            <p:ph sz="quarter" idx="1"/>
          </p:nvPr>
        </p:nvSpPr>
        <p:spPr/>
        <p:txBody>
          <a:bodyPr/>
          <a:lstStyle/>
          <a:p>
            <a:endParaRPr lang="en-US"/>
          </a:p>
        </p:txBody>
      </p:sp>
      <p:pic>
        <p:nvPicPr>
          <p:cNvPr id="4" name="Picture 3"/>
          <p:cNvPicPr>
            <a:picLocks noChangeAspect="1"/>
          </p:cNvPicPr>
          <p:nvPr/>
        </p:nvPicPr>
        <p:blipFill>
          <a:blip r:embed="rId2"/>
          <a:stretch>
            <a:fillRect/>
          </a:stretch>
        </p:blipFill>
        <p:spPr>
          <a:xfrm>
            <a:off x="457200" y="1600200"/>
            <a:ext cx="7924800" cy="4873752"/>
          </a:xfrm>
          <a:prstGeom prst="rect">
            <a:avLst/>
          </a:prstGeom>
        </p:spPr>
      </p:pic>
    </p:spTree>
    <p:extLst>
      <p:ext uri="{BB962C8B-B14F-4D97-AF65-F5344CB8AC3E}">
        <p14:creationId xmlns:p14="http://schemas.microsoft.com/office/powerpoint/2010/main" val="373497016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Non-linear Regression</a:t>
            </a:r>
            <a:endParaRPr lang="en-US" dirty="0"/>
          </a:p>
        </p:txBody>
      </p:sp>
      <p:sp>
        <p:nvSpPr>
          <p:cNvPr id="3" name="Content Placeholder 2"/>
          <p:cNvSpPr>
            <a:spLocks noGrp="1"/>
          </p:cNvSpPr>
          <p:nvPr>
            <p:ph sz="quarter" idx="1"/>
          </p:nvPr>
        </p:nvSpPr>
        <p:spPr/>
        <p:txBody>
          <a:bodyPr/>
          <a:lstStyle/>
          <a:p>
            <a:endParaRPr lang="en-US"/>
          </a:p>
        </p:txBody>
      </p:sp>
      <p:pic>
        <p:nvPicPr>
          <p:cNvPr id="4" name="Picture 3"/>
          <p:cNvPicPr>
            <a:picLocks noChangeAspect="1"/>
          </p:cNvPicPr>
          <p:nvPr/>
        </p:nvPicPr>
        <p:blipFill>
          <a:blip r:embed="rId2"/>
          <a:stretch>
            <a:fillRect/>
          </a:stretch>
        </p:blipFill>
        <p:spPr>
          <a:xfrm>
            <a:off x="228600" y="1625221"/>
            <a:ext cx="8262538" cy="5156579"/>
          </a:xfrm>
          <a:prstGeom prst="rect">
            <a:avLst/>
          </a:prstGeom>
        </p:spPr>
      </p:pic>
    </p:spTree>
    <p:extLst>
      <p:ext uri="{BB962C8B-B14F-4D97-AF65-F5344CB8AC3E}">
        <p14:creationId xmlns:p14="http://schemas.microsoft.com/office/powerpoint/2010/main" val="163060707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Basis Function Regression</a:t>
            </a:r>
          </a:p>
        </p:txBody>
      </p:sp>
      <p:sp>
        <p:nvSpPr>
          <p:cNvPr id="3" name="Content Placeholder 2"/>
          <p:cNvSpPr>
            <a:spLocks noGrp="1"/>
          </p:cNvSpPr>
          <p:nvPr>
            <p:ph sz="quarter" idx="1"/>
          </p:nvPr>
        </p:nvSpPr>
        <p:spPr/>
        <p:txBody>
          <a:bodyPr/>
          <a:lstStyle/>
          <a:p>
            <a:r>
              <a:rPr lang="en-US" dirty="0" smtClean="0"/>
              <a:t>Polynomial </a:t>
            </a:r>
            <a:r>
              <a:rPr lang="en-US" dirty="0"/>
              <a:t>basis </a:t>
            </a:r>
            <a:r>
              <a:rPr lang="en-US" dirty="0" smtClean="0"/>
              <a:t>functions</a:t>
            </a:r>
          </a:p>
          <a:p>
            <a:endParaRPr lang="en-US" dirty="0"/>
          </a:p>
          <a:p>
            <a:endParaRPr lang="en-US" dirty="0" smtClean="0"/>
          </a:p>
          <a:p>
            <a:r>
              <a:rPr lang="en-US" dirty="0"/>
              <a:t>Gaussian basis functions </a:t>
            </a:r>
            <a:endParaRPr lang="en-US" dirty="0" smtClean="0"/>
          </a:p>
          <a:p>
            <a:endParaRPr lang="en-US" dirty="0"/>
          </a:p>
        </p:txBody>
      </p:sp>
      <p:pic>
        <p:nvPicPr>
          <p:cNvPr id="4" name="Picture 3"/>
          <p:cNvPicPr>
            <a:picLocks noChangeAspect="1"/>
          </p:cNvPicPr>
          <p:nvPr/>
        </p:nvPicPr>
        <p:blipFill>
          <a:blip r:embed="rId2"/>
          <a:stretch>
            <a:fillRect/>
          </a:stretch>
        </p:blipFill>
        <p:spPr>
          <a:xfrm>
            <a:off x="5943600" y="1600200"/>
            <a:ext cx="2440385" cy="1633537"/>
          </a:xfrm>
          <a:prstGeom prst="rect">
            <a:avLst/>
          </a:prstGeom>
        </p:spPr>
      </p:pic>
      <p:pic>
        <p:nvPicPr>
          <p:cNvPr id="5" name="Picture 4"/>
          <p:cNvPicPr>
            <a:picLocks noChangeAspect="1"/>
          </p:cNvPicPr>
          <p:nvPr/>
        </p:nvPicPr>
        <p:blipFill>
          <a:blip r:embed="rId3"/>
          <a:stretch>
            <a:fillRect/>
          </a:stretch>
        </p:blipFill>
        <p:spPr>
          <a:xfrm>
            <a:off x="6088561" y="3416299"/>
            <a:ext cx="2295424" cy="1646406"/>
          </a:xfrm>
          <a:prstGeom prst="rect">
            <a:avLst/>
          </a:prstGeom>
        </p:spPr>
      </p:pic>
    </p:spTree>
    <p:extLst>
      <p:ext uri="{BB962C8B-B14F-4D97-AF65-F5344CB8AC3E}">
        <p14:creationId xmlns:p14="http://schemas.microsoft.com/office/powerpoint/2010/main" val="241758800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C842EB5B25AA94681E01C533BC4E547" ma:contentTypeVersion="3" ma:contentTypeDescription="Create a new document." ma:contentTypeScope="" ma:versionID="5e8853d87939594dd11300b895153a60">
  <xsd:schema xmlns:xsd="http://www.w3.org/2001/XMLSchema" xmlns:xs="http://www.w3.org/2001/XMLSchema" xmlns:p="http://schemas.microsoft.com/office/2006/metadata/properties" xmlns:ns2="b1cd9ac4-537d-4700-ace9-c3dc8aafaf16" targetNamespace="http://schemas.microsoft.com/office/2006/metadata/properties" ma:root="true" ma:fieldsID="cc6f7d3b10a75145a31d85fa157930a3" ns2:_="">
    <xsd:import namespace="b1cd9ac4-537d-4700-ace9-c3dc8aafaf16"/>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1cd9ac4-537d-4700-ace9-c3dc8aafaf1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EBC6C9B-4BA2-48E5-9956-AAAF41A6F288}"/>
</file>

<file path=customXml/itemProps2.xml><?xml version="1.0" encoding="utf-8"?>
<ds:datastoreItem xmlns:ds="http://schemas.openxmlformats.org/officeDocument/2006/customXml" ds:itemID="{40F36615-98B1-4B1D-833D-55121A673CAC}"/>
</file>

<file path=customXml/itemProps3.xml><?xml version="1.0" encoding="utf-8"?>
<ds:datastoreItem xmlns:ds="http://schemas.openxmlformats.org/officeDocument/2006/customXml" ds:itemID="{7934131F-9155-4563-AD69-43C6D968EA28}"/>
</file>

<file path=docProps/app.xml><?xml version="1.0" encoding="utf-8"?>
<Properties xmlns="http://schemas.openxmlformats.org/officeDocument/2006/extended-properties" xmlns:vt="http://schemas.openxmlformats.org/officeDocument/2006/docPropsVTypes">
  <Template>Oriel</Template>
  <TotalTime>1998</TotalTime>
  <Words>1771</Words>
  <Application>Microsoft Office PowerPoint</Application>
  <PresentationFormat>On-screen Show (4:3)</PresentationFormat>
  <Paragraphs>213</Paragraphs>
  <Slides>81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81</vt:i4>
      </vt:variant>
    </vt:vector>
  </HeadingPairs>
  <TitlesOfParts>
    <vt:vector size="86" baseType="lpstr">
      <vt:lpstr>Arial</vt:lpstr>
      <vt:lpstr>Century Schoolbook</vt:lpstr>
      <vt:lpstr>Wingdings</vt:lpstr>
      <vt:lpstr>Wingdings 2</vt:lpstr>
      <vt:lpstr>Oriel</vt:lpstr>
      <vt:lpstr>Regression</vt:lpstr>
      <vt:lpstr>Slope</vt:lpstr>
      <vt:lpstr>PowerPoint Presentation</vt:lpstr>
      <vt:lpstr>Intercept</vt:lpstr>
      <vt:lpstr>y-intercept</vt:lpstr>
      <vt:lpstr>Slope and intercept example</vt:lpstr>
      <vt:lpstr>Marginal change / Slope</vt:lpstr>
      <vt:lpstr>Types of regression models</vt:lpstr>
      <vt:lpstr>Simple linear regression</vt:lpstr>
      <vt:lpstr>Simple linear regression</vt:lpstr>
      <vt:lpstr>notation</vt:lpstr>
      <vt:lpstr>Simple linear regression</vt:lpstr>
      <vt:lpstr>Requirements for simple linear regression</vt:lpstr>
      <vt:lpstr>Simple linear regression</vt:lpstr>
      <vt:lpstr>Simple linear regression</vt:lpstr>
      <vt:lpstr>Simple linear regression</vt:lpstr>
      <vt:lpstr>Residual and the least squares property</vt:lpstr>
      <vt:lpstr>residuals</vt:lpstr>
      <vt:lpstr>Example – Home price prediction</vt:lpstr>
      <vt:lpstr>Example – Home price prediction</vt:lpstr>
      <vt:lpstr>Example – Home price prediction</vt:lpstr>
      <vt:lpstr>Example – Home price prediction</vt:lpstr>
      <vt:lpstr>Example – Home price prediction</vt:lpstr>
      <vt:lpstr>Example – Home price prediction</vt:lpstr>
      <vt:lpstr>Example – Home price prediction</vt:lpstr>
      <vt:lpstr>Simple linear regression</vt:lpstr>
      <vt:lpstr>Simple linear regression</vt:lpstr>
      <vt:lpstr>Example – Exam Grades</vt:lpstr>
      <vt:lpstr>Least Squares method</vt:lpstr>
      <vt:lpstr>Least Squares method</vt:lpstr>
      <vt:lpstr>Least Squares method</vt:lpstr>
      <vt:lpstr>Least Squares method</vt:lpstr>
      <vt:lpstr>Least Squares method</vt:lpstr>
      <vt:lpstr>Least Squares method</vt:lpstr>
      <vt:lpstr>How good is the prediction?</vt:lpstr>
      <vt:lpstr>Coefficient of Determination</vt:lpstr>
      <vt:lpstr>R square</vt:lpstr>
      <vt:lpstr>Correlation coefficient</vt:lpstr>
      <vt:lpstr>Correlation coefficient</vt:lpstr>
      <vt:lpstr>Pearson’s correlation coefficient</vt:lpstr>
      <vt:lpstr>Multiple Linear Regression</vt:lpstr>
      <vt:lpstr>Multiple Linear Regression</vt:lpstr>
      <vt:lpstr>Multiple Linear Regression</vt:lpstr>
      <vt:lpstr>Multiple Linear Regression</vt:lpstr>
      <vt:lpstr>Multiple Linear Regression</vt:lpstr>
      <vt:lpstr>Multiple Linear Regression</vt:lpstr>
      <vt:lpstr>Example</vt:lpstr>
      <vt:lpstr>Output from excel </vt:lpstr>
      <vt:lpstr>Multiple Linear Regression</vt:lpstr>
      <vt:lpstr>Multiple Linear Regression</vt:lpstr>
      <vt:lpstr>Multiple Linear Regression</vt:lpstr>
      <vt:lpstr>Logistic Regression</vt:lpstr>
      <vt:lpstr>AIMS</vt:lpstr>
      <vt:lpstr>When and why</vt:lpstr>
      <vt:lpstr>When and why</vt:lpstr>
      <vt:lpstr>Logistic Regression</vt:lpstr>
      <vt:lpstr>Logistic Regression</vt:lpstr>
      <vt:lpstr>PowerPoint Presentation</vt:lpstr>
      <vt:lpstr>PowerPoint Presentation</vt:lpstr>
      <vt:lpstr>Logistic Regression</vt:lpstr>
      <vt:lpstr>PowerPoint Presentation</vt:lpstr>
      <vt:lpstr>PowerPoint Presentation</vt:lpstr>
      <vt:lpstr>PowerPoint Presentation</vt:lpstr>
      <vt:lpstr>Objectives Of logistic regression </vt:lpstr>
      <vt:lpstr>Types of logistic regression</vt:lpstr>
      <vt:lpstr>PowerPoint Presentation</vt:lpstr>
      <vt:lpstr>PowerPoint Presentation</vt:lpstr>
      <vt:lpstr>PowerPoint Presentation</vt:lpstr>
      <vt:lpstr>PowerPoint Presentation</vt:lpstr>
      <vt:lpstr>Logistic regression – Binary classification</vt:lpstr>
      <vt:lpstr>Logistic regression – Binary classification</vt:lpstr>
      <vt:lpstr>Logistic regression – Binary classification</vt:lpstr>
      <vt:lpstr>Logistic regression – Binary classification</vt:lpstr>
      <vt:lpstr>Logistic regression – Binary classification</vt:lpstr>
      <vt:lpstr>Non-linear Regression</vt:lpstr>
      <vt:lpstr>Non-linear Regression</vt:lpstr>
      <vt:lpstr>Non-linear Regression</vt:lpstr>
      <vt:lpstr>Non-linear Regression</vt:lpstr>
      <vt:lpstr>Non-linear Regression</vt:lpstr>
      <vt:lpstr>Non-linear Regression</vt:lpstr>
      <vt:lpstr>Basis Function Regression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Linear Regression</dc:title>
  <dc:creator>Muhammad Yasin</dc:creator>
  <cp:lastModifiedBy>admin</cp:lastModifiedBy>
  <cp:revision>84</cp:revision>
  <dcterms:created xsi:type="dcterms:W3CDTF">2006-08-16T00:00:00Z</dcterms:created>
  <dcterms:modified xsi:type="dcterms:W3CDTF">2023-01-11T10:13:32Z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0x010100BC842EB5B25AA94681E01C533BC4E547</vt:lpwstr>
  </property>
</Properties>
</file>