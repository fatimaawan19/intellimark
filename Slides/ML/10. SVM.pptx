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66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7.xml" ContentType="application/vnd.openxmlformats-officedocument.presentationml.slide+xml"/>
  <Override PartName="/ppt/slides/slide58.xml" ContentType="application/vnd.openxmlformats-officedocument.presentationml.slide+xml"/>
  <Override PartName="/ppt/slides/slide57.xml" ContentType="application/vnd.openxmlformats-officedocument.presentationml.slide+xml"/>
  <Override PartName="/ppt/slides/slide56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6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slides/slide20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93" r:id="rId8"/>
    <p:sldId id="294" r:id="rId9"/>
    <p:sldId id="262" r:id="rId10"/>
    <p:sldId id="263" r:id="rId11"/>
    <p:sldId id="295" r:id="rId12"/>
    <p:sldId id="298" r:id="rId13"/>
    <p:sldId id="299" r:id="rId14"/>
    <p:sldId id="297" r:id="rId15"/>
    <p:sldId id="300" r:id="rId16"/>
    <p:sldId id="296" r:id="rId17"/>
    <p:sldId id="265" r:id="rId18"/>
    <p:sldId id="264" r:id="rId19"/>
    <p:sldId id="266" r:id="rId20"/>
    <p:sldId id="301" r:id="rId21"/>
    <p:sldId id="267" r:id="rId22"/>
    <p:sldId id="268" r:id="rId23"/>
    <p:sldId id="269" r:id="rId24"/>
    <p:sldId id="270" r:id="rId25"/>
    <p:sldId id="306" r:id="rId26"/>
    <p:sldId id="272" r:id="rId27"/>
    <p:sldId id="274" r:id="rId28"/>
    <p:sldId id="275" r:id="rId29"/>
    <p:sldId id="276" r:id="rId30"/>
    <p:sldId id="307" r:id="rId31"/>
    <p:sldId id="308" r:id="rId32"/>
    <p:sldId id="281" r:id="rId33"/>
    <p:sldId id="282" r:id="rId34"/>
    <p:sldId id="283" r:id="rId35"/>
    <p:sldId id="284" r:id="rId36"/>
    <p:sldId id="285" r:id="rId37"/>
    <p:sldId id="286" r:id="rId38"/>
    <p:sldId id="289" r:id="rId39"/>
    <p:sldId id="287" r:id="rId40"/>
    <p:sldId id="290" r:id="rId41"/>
    <p:sldId id="291" r:id="rId42"/>
    <p:sldId id="292" r:id="rId43"/>
    <p:sldId id="302" r:id="rId44"/>
    <p:sldId id="303" r:id="rId45"/>
    <p:sldId id="304" r:id="rId46"/>
    <p:sldId id="305" r:id="rId47"/>
    <p:sldId id="28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20" r:id="rId59"/>
    <p:sldId id="319" r:id="rId60"/>
    <p:sldId id="321" r:id="rId61"/>
    <p:sldId id="322" r:id="rId62"/>
    <p:sldId id="323" r:id="rId63"/>
    <p:sldId id="324" r:id="rId64"/>
    <p:sldId id="325" r:id="rId65"/>
    <p:sldId id="326" r:id="rId66"/>
    <p:sldId id="327" r:id="rId67"/>
    <p:sldId id="328" r:id="rId6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customXml" Target="../customXml/item2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75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C5F59645-2ECD-4AF7-8EE4-4A2D1E24B136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1C3996DA-D356-4FB9-82A8-0B1028D9BF8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C5F59645-2ECD-4AF7-8EE4-4A2D1E24B136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1C3996DA-D356-4FB9-82A8-0B1028D9BF8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C5F59645-2ECD-4AF7-8EE4-4A2D1E24B136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1C3996DA-D356-4FB9-82A8-0B1028D9BF8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59645-2ECD-4AF7-8EE4-4A2D1E24B136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996DA-D356-4FB9-82A8-0B1028D9BF8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59645-2ECD-4AF7-8EE4-4A2D1E24B136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996DA-D356-4FB9-82A8-0B1028D9BF8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5F59645-2ECD-4AF7-8EE4-4A2D1E24B136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1C3996DA-D356-4FB9-82A8-0B1028D9BF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59645-2ECD-4AF7-8EE4-4A2D1E24B136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996DA-D356-4FB9-82A8-0B1028D9BF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C5F59645-2ECD-4AF7-8EE4-4A2D1E24B136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1C3996DA-D356-4FB9-82A8-0B1028D9BF8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C5F59645-2ECD-4AF7-8EE4-4A2D1E24B136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1C3996DA-D356-4FB9-82A8-0B1028D9BF8F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59645-2ECD-4AF7-8EE4-4A2D1E24B136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996DA-D356-4FB9-82A8-0B1028D9BF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59645-2ECD-4AF7-8EE4-4A2D1E24B136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996DA-D356-4FB9-82A8-0B1028D9BF8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C5F59645-2ECD-4AF7-8EE4-4A2D1E24B136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1C3996DA-D356-4FB9-82A8-0B1028D9BF8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Kernel_method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2200" y="609600"/>
            <a:ext cx="5791200" cy="1470025"/>
          </a:xfrm>
        </p:spPr>
        <p:txBody>
          <a:bodyPr/>
          <a:lstStyle/>
          <a:p>
            <a:r>
              <a:rPr lang="en-US" dirty="0" smtClean="0"/>
              <a:t>Support Vector Machine </a:t>
            </a:r>
            <a:br>
              <a:rPr lang="en-US" dirty="0" smtClean="0"/>
            </a:br>
            <a:r>
              <a:rPr lang="en-US" dirty="0" smtClean="0"/>
              <a:t>		(SVM)</a:t>
            </a:r>
            <a:endParaRPr lang="en-US" dirty="0"/>
          </a:p>
        </p:txBody>
      </p:sp>
      <p:pic>
        <p:nvPicPr>
          <p:cNvPr id="1026" name="Picture 2" descr="Working of SV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667000"/>
            <a:ext cx="3930316" cy="298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47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One of the most prevailing and exciting supervised learning models with associated learning algorithms that </a:t>
            </a:r>
            <a:r>
              <a:rPr lang="en-US" dirty="0" err="1"/>
              <a:t>analyse</a:t>
            </a:r>
            <a:r>
              <a:rPr lang="en-US" dirty="0"/>
              <a:t> data and </a:t>
            </a:r>
            <a:r>
              <a:rPr lang="en-US" dirty="0" err="1"/>
              <a:t>recognise</a:t>
            </a:r>
            <a:r>
              <a:rPr lang="en-US" dirty="0"/>
              <a:t> patterns is Support Vector Machines (SVMs). </a:t>
            </a:r>
            <a:endParaRPr lang="en-US" dirty="0" smtClean="0"/>
          </a:p>
          <a:p>
            <a:endParaRPr lang="en-US" dirty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is used for solving both regression and classification problems. However, it is mostly used in solving classification problems.</a:t>
            </a:r>
          </a:p>
        </p:txBody>
      </p:sp>
    </p:spTree>
    <p:extLst>
      <p:ext uri="{BB962C8B-B14F-4D97-AF65-F5344CB8AC3E}">
        <p14:creationId xmlns:p14="http://schemas.microsoft.com/office/powerpoint/2010/main" val="2322511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SVMs was first introduced by B.E. </a:t>
            </a:r>
            <a:r>
              <a:rPr lang="en-US" dirty="0" err="1"/>
              <a:t>Boser</a:t>
            </a:r>
            <a:r>
              <a:rPr lang="en-US" dirty="0"/>
              <a:t> et al. in 1992 and has become popular due to success in handwritten digit recognition in 1994.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Before </a:t>
            </a:r>
            <a:r>
              <a:rPr lang="en-US" dirty="0"/>
              <a:t>the emergence of Boosting Algorithms for example, </a:t>
            </a:r>
            <a:r>
              <a:rPr lang="en-US" dirty="0" err="1"/>
              <a:t>XGBoost</a:t>
            </a:r>
            <a:r>
              <a:rPr lang="en-US" dirty="0"/>
              <a:t> and </a:t>
            </a:r>
            <a:r>
              <a:rPr lang="en-US" dirty="0" err="1"/>
              <a:t>AdaBoost</a:t>
            </a:r>
            <a:r>
              <a:rPr lang="en-US" dirty="0"/>
              <a:t>, SVMs had been commonly used.</a:t>
            </a:r>
          </a:p>
        </p:txBody>
      </p:sp>
    </p:spTree>
    <p:extLst>
      <p:ext uri="{BB962C8B-B14F-4D97-AF65-F5344CB8AC3E}">
        <p14:creationId xmlns:p14="http://schemas.microsoft.com/office/powerpoint/2010/main" val="3901458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Problem with Logistic Regression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371600"/>
            <a:ext cx="7467600" cy="4873752"/>
          </a:xfrm>
        </p:spPr>
        <p:txBody>
          <a:bodyPr/>
          <a:lstStyle/>
          <a:p>
            <a:r>
              <a:rPr lang="en-US" dirty="0"/>
              <a:t> there is an infinite number of decision boundaries, Logistic Regression only picks an arbitrary one.</a:t>
            </a:r>
          </a:p>
        </p:txBody>
      </p:sp>
      <p:pic>
        <p:nvPicPr>
          <p:cNvPr id="1026" name="Picture 2" descr="https://miro.medium.com/max/814/1*TrpNd0sq-kfkyP2NMK7ob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090842"/>
            <a:ext cx="4724400" cy="2387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74073" y="4519694"/>
            <a:ext cx="8077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point C, since it’s far away from the decision boundary, we are quite certain to classify it as 1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For point A, even though we classify it as 1 for now, since it is pretty close to the decision boundary, if the boundary moves a little to the right, we would mark point C as “0” instead.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Hence</a:t>
            </a:r>
            <a:r>
              <a:rPr lang="en-US" dirty="0"/>
              <a:t>, we’re much more confident about our prediction at A than at C</a:t>
            </a:r>
          </a:p>
        </p:txBody>
      </p:sp>
    </p:spTree>
    <p:extLst>
      <p:ext uri="{BB962C8B-B14F-4D97-AF65-F5344CB8AC3E}">
        <p14:creationId xmlns:p14="http://schemas.microsoft.com/office/powerpoint/2010/main" val="616851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with Logistic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Logistic Regression doesn’t care whether the instances are close to the decision boundary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Therefore, the decision boundary it picks may not be optimal.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a point is far from the decision boundary, we may be more confident in our predictions. </a:t>
            </a:r>
            <a:endParaRPr lang="en-US" dirty="0" smtClean="0"/>
          </a:p>
          <a:p>
            <a:r>
              <a:rPr lang="en-US" dirty="0" smtClean="0"/>
              <a:t>Therefore</a:t>
            </a:r>
            <a:r>
              <a:rPr lang="en-US" dirty="0"/>
              <a:t>, the optimal decision boundary should be able to maximize the distance between the decision boundary and all instances. i.e., maximize the margins. </a:t>
            </a:r>
            <a:endParaRPr lang="en-US" dirty="0" smtClean="0"/>
          </a:p>
          <a:p>
            <a:r>
              <a:rPr lang="en-US" dirty="0" smtClean="0"/>
              <a:t>That’s </a:t>
            </a:r>
            <a:r>
              <a:rPr lang="en-US" dirty="0"/>
              <a:t>why SVMs algorithm is important!</a:t>
            </a:r>
          </a:p>
        </p:txBody>
      </p:sp>
    </p:spTree>
    <p:extLst>
      <p:ext uri="{BB962C8B-B14F-4D97-AF65-F5344CB8AC3E}">
        <p14:creationId xmlns:p14="http://schemas.microsoft.com/office/powerpoint/2010/main" val="350877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What is Support Vector </a:t>
            </a:r>
            <a:r>
              <a:rPr lang="en-US" b="1" dirty="0" smtClean="0"/>
              <a:t>Machine </a:t>
            </a:r>
            <a:r>
              <a:rPr lang="en-US" b="1" dirty="0"/>
              <a:t>(</a:t>
            </a:r>
            <a:r>
              <a:rPr lang="en-US" b="1" dirty="0" smtClean="0"/>
              <a:t>SVM)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Given </a:t>
            </a:r>
            <a:r>
              <a:rPr lang="en-US" dirty="0"/>
              <a:t>a set of training examples, each marked as belonging to one or the other of two categories, an SVM training algorithm builds a model that assigns</a:t>
            </a:r>
            <a:r>
              <a:rPr lang="en-US" i="1" dirty="0"/>
              <a:t> </a:t>
            </a:r>
            <a:r>
              <a:rPr lang="en-US" dirty="0"/>
              <a:t>new examples to one category or the other, making it a non-probabilistic binary linear classifier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The objective of applying SVMs is to find the best line in two dimensions or the best </a:t>
            </a:r>
            <a:r>
              <a:rPr lang="en-US" dirty="0" err="1"/>
              <a:t>hyperplane</a:t>
            </a:r>
            <a:r>
              <a:rPr lang="en-US" dirty="0"/>
              <a:t> in more than two dimensions in order to help us separate our space into classes. </a:t>
            </a:r>
            <a:endParaRPr lang="en-US" dirty="0" smtClean="0"/>
          </a:p>
          <a:p>
            <a:endParaRPr lang="en-US" dirty="0"/>
          </a:p>
          <a:p>
            <a:pPr algn="just"/>
            <a:r>
              <a:rPr lang="en-US" dirty="0" smtClean="0"/>
              <a:t>The </a:t>
            </a:r>
            <a:r>
              <a:rPr lang="en-US" dirty="0" err="1"/>
              <a:t>hyperplane</a:t>
            </a:r>
            <a:r>
              <a:rPr lang="en-US" dirty="0"/>
              <a:t> (line) is found through the </a:t>
            </a:r>
            <a:r>
              <a:rPr lang="en-US" b="1" dirty="0"/>
              <a:t>maximum margin.</a:t>
            </a:r>
            <a:r>
              <a:rPr lang="en-US" dirty="0"/>
              <a:t> </a:t>
            </a:r>
            <a:r>
              <a:rPr lang="en-US" dirty="0" err="1"/>
              <a:t>i.e</a:t>
            </a:r>
            <a:r>
              <a:rPr lang="en-US" dirty="0"/>
              <a:t> the maximum distance between data points of both classes.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985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/>
              <a:t>A Support Vector Machine (SVM) is a discriminative classifier formally defined by a separating </a:t>
            </a:r>
            <a:r>
              <a:rPr lang="en-US" i="1" dirty="0" err="1"/>
              <a:t>hyperplane</a:t>
            </a:r>
            <a:r>
              <a:rPr lang="en-US" i="1" dirty="0"/>
              <a:t>. </a:t>
            </a:r>
            <a:endParaRPr lang="en-US" i="1" dirty="0" smtClean="0"/>
          </a:p>
          <a:p>
            <a:endParaRPr lang="en-US" i="1" dirty="0" smtClean="0"/>
          </a:p>
          <a:p>
            <a:r>
              <a:rPr lang="en-US" i="1" dirty="0" smtClean="0"/>
              <a:t>In </a:t>
            </a:r>
            <a:r>
              <a:rPr lang="en-US" i="1" dirty="0"/>
              <a:t>other words, given labeled training data (</a:t>
            </a:r>
            <a:r>
              <a:rPr lang="en-US" dirty="0"/>
              <a:t>supervised learning</a:t>
            </a:r>
            <a:r>
              <a:rPr lang="en-US" i="1" dirty="0"/>
              <a:t>), the algorithm outputs an optimal </a:t>
            </a:r>
            <a:r>
              <a:rPr lang="en-US" i="1" dirty="0" err="1"/>
              <a:t>hyperplane</a:t>
            </a:r>
            <a:r>
              <a:rPr lang="en-US" i="1" dirty="0"/>
              <a:t> which categorizes new examples. </a:t>
            </a:r>
            <a:endParaRPr lang="en-US" i="1" dirty="0" smtClean="0"/>
          </a:p>
          <a:p>
            <a:endParaRPr lang="en-US" i="1" dirty="0" smtClean="0"/>
          </a:p>
          <a:p>
            <a:r>
              <a:rPr lang="en-US" i="1" dirty="0" smtClean="0"/>
              <a:t>In </a:t>
            </a:r>
            <a:r>
              <a:rPr lang="en-US" i="1" dirty="0"/>
              <a:t>two </a:t>
            </a:r>
            <a:r>
              <a:rPr lang="en-US" i="1" dirty="0" err="1"/>
              <a:t>dimentional</a:t>
            </a:r>
            <a:r>
              <a:rPr lang="en-US" i="1" dirty="0"/>
              <a:t> space this </a:t>
            </a:r>
            <a:r>
              <a:rPr lang="en-US" i="1" dirty="0" err="1"/>
              <a:t>hyperplane</a:t>
            </a:r>
            <a:r>
              <a:rPr lang="en-US" i="1" dirty="0"/>
              <a:t> is a line dividing a plane in two parts where in each class lay in either side.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783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 In the SVM algorithm, we plot each data item as a point in n-dimensional space (where n is number of features you have) with the value of each feature being the value of a particular coordinate.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Then</a:t>
            </a:r>
            <a:r>
              <a:rPr lang="en-US" dirty="0"/>
              <a:t>, we perform classification by finding the hyper-plane that differentiates the two classes very </a:t>
            </a:r>
            <a:r>
              <a:rPr lang="en-US" dirty="0" smtClean="0"/>
              <a:t>well.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255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Support Vector Machines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Imagine </a:t>
            </a:r>
            <a:r>
              <a:rPr lang="en-US" dirty="0"/>
              <a:t>the </a:t>
            </a:r>
            <a:r>
              <a:rPr lang="en-US" dirty="0" err="1"/>
              <a:t>labelled</a:t>
            </a:r>
            <a:r>
              <a:rPr lang="en-US" dirty="0"/>
              <a:t> training set are two classes of data points (two dimensions</a:t>
            </a:r>
            <a:r>
              <a:rPr lang="en-US" dirty="0" smtClean="0"/>
              <a:t>):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To </a:t>
            </a:r>
            <a:r>
              <a:rPr lang="en-US" dirty="0"/>
              <a:t>separate the two classes, there are so many possible options of </a:t>
            </a:r>
            <a:r>
              <a:rPr lang="en-US" dirty="0" err="1"/>
              <a:t>hyperplanes</a:t>
            </a:r>
            <a:r>
              <a:rPr lang="en-US" dirty="0"/>
              <a:t> that separate correctly.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We </a:t>
            </a:r>
            <a:r>
              <a:rPr lang="en-US" dirty="0"/>
              <a:t>can achieve exactly the same result using different </a:t>
            </a:r>
            <a:r>
              <a:rPr lang="en-US" dirty="0" err="1"/>
              <a:t>hyperplanes</a:t>
            </a:r>
            <a:r>
              <a:rPr lang="en-US" dirty="0"/>
              <a:t> (L1, L2, L3).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However</a:t>
            </a:r>
            <a:r>
              <a:rPr lang="en-US" dirty="0"/>
              <a:t>, if we add new data points, the consequence of using various </a:t>
            </a:r>
            <a:r>
              <a:rPr lang="en-US" dirty="0" err="1"/>
              <a:t>hyperplanes</a:t>
            </a:r>
            <a:r>
              <a:rPr lang="en-US" dirty="0"/>
              <a:t> will be very different in terms of classifying new data point into the right group of class.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4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miro.medium.com/max/1332/1*A4TZajKNGIDKrya4Yj6Om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66800"/>
            <a:ext cx="8179971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7347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Identify the right hyper-plane (Scenario-1):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 </a:t>
            </a:r>
            <a:r>
              <a:rPr lang="en-US" dirty="0"/>
              <a:t>Here, we have three hyper-planes (A, B and C). Now, identify the right hyper-plane to classify star and circle.</a:t>
            </a:r>
          </a:p>
        </p:txBody>
      </p:sp>
      <p:pic>
        <p:nvPicPr>
          <p:cNvPr id="2050" name="Picture 2" descr="SVM_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438399"/>
            <a:ext cx="4638675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228600" y="5401270"/>
            <a:ext cx="85066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You need to remember a thumb rule to identify the right hyper-plane: “Select the hyper-plane which segregates the two classes better”. In this scenario, hyper-plane “B” has excellently performed this job.</a:t>
            </a:r>
          </a:p>
        </p:txBody>
      </p:sp>
    </p:spTree>
    <p:extLst>
      <p:ext uri="{BB962C8B-B14F-4D97-AF65-F5344CB8AC3E}">
        <p14:creationId xmlns:p14="http://schemas.microsoft.com/office/powerpoint/2010/main" val="3103509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Identify the right hyper-plane (Scenario-2):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Here</a:t>
            </a:r>
            <a:r>
              <a:rPr lang="en-US" dirty="0"/>
              <a:t>, we have three hyper-planes (A, B and C) and all are segregating the classes well. Now, How can we identify the right hyper-plane?</a:t>
            </a:r>
          </a:p>
        </p:txBody>
      </p:sp>
      <p:pic>
        <p:nvPicPr>
          <p:cNvPr id="3074" name="Picture 2" descr="SVM_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764970"/>
            <a:ext cx="4343400" cy="3102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52400" y="5858470"/>
            <a:ext cx="8610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Here, maximizing the distances between nearest data point (either class) and hyper-plane will help us to decide the right hyper-plane. This distance is called as </a:t>
            </a:r>
            <a:r>
              <a:rPr lang="en-US" b="1" dirty="0"/>
              <a:t>Margin</a:t>
            </a:r>
            <a:r>
              <a:rPr lang="en-US" dirty="0"/>
              <a:t>. Let’s look at the </a:t>
            </a:r>
            <a:r>
              <a:rPr lang="en-US" dirty="0" smtClean="0"/>
              <a:t>next figure: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489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VM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609600"/>
            <a:ext cx="6064393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04800" y="5228272"/>
            <a:ext cx="83058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Above, you can see that the margin for hyper-plane C is high as compared to both A and B. Hence, we name the right hyper-plane as C. Another lightning reason for selecting the hyper-plane with higher margin is robustness. If we select a hyper-plane having low margin then there is high chance of miss-classification.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3872739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Identify the right hyper-plane (Scenario-3):</a:t>
            </a:r>
            <a:endParaRPr lang="en-US" dirty="0"/>
          </a:p>
        </p:txBody>
      </p:sp>
      <p:pic>
        <p:nvPicPr>
          <p:cNvPr id="5122" name="Picture 2" descr="SVM_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799" y="990600"/>
            <a:ext cx="5458649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87036" y="4911436"/>
            <a:ext cx="8534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hyper-plane </a:t>
            </a:r>
            <a:r>
              <a:rPr lang="en-US" b="1" dirty="0"/>
              <a:t>B </a:t>
            </a:r>
            <a:r>
              <a:rPr lang="en-US" dirty="0"/>
              <a:t>seems a good choice here </a:t>
            </a:r>
            <a:r>
              <a:rPr lang="en-US" dirty="0" smtClean="0"/>
              <a:t>as </a:t>
            </a:r>
            <a:r>
              <a:rPr lang="en-US" dirty="0"/>
              <a:t>it has higher margin compared to </a:t>
            </a:r>
            <a:r>
              <a:rPr lang="en-US" b="1" dirty="0"/>
              <a:t>A. </a:t>
            </a:r>
            <a:r>
              <a:rPr lang="en-US" dirty="0"/>
              <a:t>But, here is the catch, SVM selects the hyper-plane which classifies the classes accurately prior to maximizing margin.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Here</a:t>
            </a:r>
            <a:r>
              <a:rPr lang="en-US" dirty="0"/>
              <a:t>, hyper-plane B has a classification error and A has classified all correctly. Therefore, the right hyper-plane is </a:t>
            </a:r>
            <a:r>
              <a:rPr lang="en-US" b="1" dirty="0"/>
              <a:t>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2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Can we classify two classes (Scenario-4)?: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 </a:t>
            </a:r>
            <a:r>
              <a:rPr lang="en-US" dirty="0"/>
              <a:t>Below, I am unable to segregate the two classes using a straight line, as one of the stars lies in the territory of other(circle) class as an outlier. </a:t>
            </a:r>
          </a:p>
        </p:txBody>
      </p:sp>
      <p:pic>
        <p:nvPicPr>
          <p:cNvPr id="6146" name="Picture 2" descr="SVM_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819400"/>
            <a:ext cx="5530768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0626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As I have already mentioned, one star at other end is like an outlier for star class. The SVM algorithm has a feature to ignore outliers and find the hyper-plane that has the maximum margin. Hence, we can say, SVM classification is robust to outliers.</a:t>
            </a:r>
          </a:p>
        </p:txBody>
      </p:sp>
      <p:pic>
        <p:nvPicPr>
          <p:cNvPr id="7170" name="Picture 2" descr="SVM_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581400"/>
            <a:ext cx="4400550" cy="2962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3654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support vector points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The vector points closest to the </a:t>
            </a:r>
            <a:r>
              <a:rPr lang="en-US" dirty="0" err="1"/>
              <a:t>hyperplane</a:t>
            </a:r>
            <a:r>
              <a:rPr lang="en-US" dirty="0"/>
              <a:t> are known as the </a:t>
            </a:r>
            <a:r>
              <a:rPr lang="en-US" b="1" dirty="0"/>
              <a:t>support vector points </a:t>
            </a:r>
            <a:r>
              <a:rPr lang="en-US" dirty="0"/>
              <a:t>because only these two points are contributing to the result of the algorithm, other points are not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 </a:t>
            </a:r>
            <a:r>
              <a:rPr lang="en-US" dirty="0"/>
              <a:t>If a data point is not a support vector, removing it has no effect on the model.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On </a:t>
            </a:r>
            <a:r>
              <a:rPr lang="en-US" dirty="0"/>
              <a:t>the other hands, deleting the support vectors will then change the position of the </a:t>
            </a:r>
            <a:r>
              <a:rPr lang="en-US" dirty="0" err="1"/>
              <a:t>hyperplane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1981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miro.medium.com/max/2822/1*eZpwu_QY3RMmhDAa5gdOTw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752600"/>
            <a:ext cx="7613174" cy="417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52400" y="457200"/>
            <a:ext cx="8534400" cy="601675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911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			</a:t>
            </a:r>
            <a:r>
              <a:rPr lang="en-US" b="1" dirty="0" err="1" smtClean="0"/>
              <a:t>hyperplane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dimension of the </a:t>
            </a:r>
            <a:r>
              <a:rPr lang="en-US" dirty="0" err="1"/>
              <a:t>hyperplane</a:t>
            </a:r>
            <a:r>
              <a:rPr lang="en-US" dirty="0"/>
              <a:t> depends upon the number of features.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the number of input features is 2, then the </a:t>
            </a:r>
            <a:r>
              <a:rPr lang="en-US" dirty="0" err="1"/>
              <a:t>hyperplane</a:t>
            </a:r>
            <a:r>
              <a:rPr lang="en-US" dirty="0"/>
              <a:t> is just a line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If the number of input features is 3, then the </a:t>
            </a:r>
            <a:r>
              <a:rPr lang="en-US" dirty="0" err="1"/>
              <a:t>hyperplane</a:t>
            </a:r>
            <a:r>
              <a:rPr lang="en-US" dirty="0"/>
              <a:t> becomes a two-dimensional plane.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becomes difficult to imagine when the number of features exceeds 3.</a:t>
            </a:r>
          </a:p>
        </p:txBody>
      </p:sp>
    </p:spTree>
    <p:extLst>
      <p:ext uri="{BB962C8B-B14F-4D97-AF65-F5344CB8AC3E}">
        <p14:creationId xmlns:p14="http://schemas.microsoft.com/office/powerpoint/2010/main" val="3214327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https://miro.medium.com/max/1418/1*ZpkLQf2FNfzfH4HXeMw4M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47800"/>
            <a:ext cx="84582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5358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			margin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The distance of the vectors from the </a:t>
            </a:r>
            <a:r>
              <a:rPr lang="en-US" dirty="0" err="1"/>
              <a:t>hyperplane</a:t>
            </a:r>
            <a:r>
              <a:rPr lang="en-US" dirty="0"/>
              <a:t> is called the </a:t>
            </a:r>
            <a:r>
              <a:rPr lang="en-US" b="1" i="1" dirty="0"/>
              <a:t>margin </a:t>
            </a:r>
            <a:r>
              <a:rPr lang="en-US" dirty="0"/>
              <a:t>which is a separation of a line to the closest class points.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We </a:t>
            </a:r>
            <a:r>
              <a:rPr lang="en-US" dirty="0"/>
              <a:t>would like to choose a </a:t>
            </a:r>
            <a:r>
              <a:rPr lang="en-US" dirty="0" err="1"/>
              <a:t>hyperplane</a:t>
            </a:r>
            <a:r>
              <a:rPr lang="en-US" dirty="0"/>
              <a:t> that </a:t>
            </a:r>
            <a:r>
              <a:rPr lang="en-US" dirty="0" err="1"/>
              <a:t>maximises</a:t>
            </a:r>
            <a:r>
              <a:rPr lang="en-US" dirty="0"/>
              <a:t> the margin between classes.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graph </a:t>
            </a:r>
            <a:r>
              <a:rPr lang="en-US" dirty="0" smtClean="0"/>
              <a:t>in next slide shows </a:t>
            </a:r>
            <a:r>
              <a:rPr lang="en-US" dirty="0"/>
              <a:t>what good margin and bad margin are.</a:t>
            </a:r>
          </a:p>
        </p:txBody>
      </p:sp>
    </p:spTree>
    <p:extLst>
      <p:ext uri="{BB962C8B-B14F-4D97-AF65-F5344CB8AC3E}">
        <p14:creationId xmlns:p14="http://schemas.microsoft.com/office/powerpoint/2010/main" val="32511210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miro.medium.com/max/1626/1*kzdqdDUTwNsAkVZNLQAPv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99" y="609600"/>
            <a:ext cx="8505803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1071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b="1" dirty="0"/>
              <a:t>Hard </a:t>
            </a:r>
            <a:r>
              <a:rPr lang="en-US" b="1" dirty="0" smtClean="0"/>
              <a:t>Margin</a:t>
            </a:r>
          </a:p>
          <a:p>
            <a:pPr algn="just"/>
            <a:endParaRPr lang="en-US" dirty="0"/>
          </a:p>
          <a:p>
            <a:pPr lvl="1" algn="just"/>
            <a:r>
              <a:rPr lang="en-US" dirty="0"/>
              <a:t>If the training data is linearly separable, we can select two parallel </a:t>
            </a:r>
            <a:r>
              <a:rPr lang="en-US" dirty="0" err="1"/>
              <a:t>hyperplanes</a:t>
            </a:r>
            <a:r>
              <a:rPr lang="en-US" dirty="0"/>
              <a:t> that separate the two classes of data, so that the distance between them is as large as possible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Soft </a:t>
            </a:r>
            <a:r>
              <a:rPr lang="en-US" b="1" dirty="0" smtClean="0"/>
              <a:t>Margin</a:t>
            </a:r>
          </a:p>
          <a:p>
            <a:pPr algn="just"/>
            <a:endParaRPr lang="en-US" dirty="0"/>
          </a:p>
          <a:p>
            <a:pPr lvl="1" algn="just"/>
            <a:r>
              <a:rPr lang="en-US" dirty="0"/>
              <a:t>As most of the real-world data are not fully linearly separable, we will allow some margin violation to occur which is called soft margin classification. It is better to have a large margin, even though some constraints are violated. Margin violation means choosing a </a:t>
            </a:r>
            <a:r>
              <a:rPr lang="en-US" dirty="0" err="1"/>
              <a:t>hyperplane</a:t>
            </a:r>
            <a:r>
              <a:rPr lang="en-US" dirty="0"/>
              <a:t>, which can allow some data points to stay in either incorrect side of </a:t>
            </a:r>
            <a:r>
              <a:rPr lang="en-US" dirty="0" err="1"/>
              <a:t>hyperplane</a:t>
            </a:r>
            <a:r>
              <a:rPr lang="en-US" dirty="0"/>
              <a:t> and between margin and correct side of the </a:t>
            </a:r>
            <a:r>
              <a:rPr lang="en-US" dirty="0" err="1"/>
              <a:t>hyperplane</a:t>
            </a:r>
            <a:r>
              <a:rPr lang="en-US" dirty="0"/>
              <a:t>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6794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miro.medium.com/max/1172/1*PiGj6vEyBhxbXfK4bzwwT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838200"/>
            <a:ext cx="85344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91951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Maximum margin hyperplane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752600"/>
            <a:ext cx="848677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1031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Linear Algebra Revisited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6146" name="Picture 2" descr="https://miro.medium.com/max/1622/1*i7FAwB5X8PpQHiyh_8xKI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66800"/>
            <a:ext cx="8314668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s://miro.medium.com/max/1062/1*arSw9SRrzfmWNIHdq802x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105400"/>
            <a:ext cx="7543800" cy="117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1505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Maximising</a:t>
            </a:r>
            <a:r>
              <a:rPr lang="en-US" b="1" dirty="0"/>
              <a:t> the Margin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For</a:t>
            </a:r>
            <a:r>
              <a:rPr lang="en-US" sz="2000" b="1" dirty="0"/>
              <a:t> Support Vector Classifier</a:t>
            </a:r>
            <a:r>
              <a:rPr lang="en-US" sz="2000" dirty="0"/>
              <a:t> (SVC), we use 𝐰T𝐱+𝑏 where 𝐰 is the weight vector and 𝑏 is the bias.</a:t>
            </a:r>
          </a:p>
          <a:p>
            <a:endParaRPr lang="en-US" sz="2000" dirty="0"/>
          </a:p>
        </p:txBody>
      </p:sp>
      <p:pic>
        <p:nvPicPr>
          <p:cNvPr id="8194" name="Picture 2" descr="https://miro.medium.com/max/1140/1*Kba5D1DL6AZo4aCM8DuWi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088841"/>
            <a:ext cx="7696200" cy="93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08968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The </a:t>
            </a:r>
            <a:r>
              <a:rPr lang="en-US" dirty="0"/>
              <a:t>name of the variables in the </a:t>
            </a:r>
            <a:r>
              <a:rPr lang="en-US" dirty="0" err="1"/>
              <a:t>hyperplane</a:t>
            </a:r>
            <a:r>
              <a:rPr lang="en-US" dirty="0"/>
              <a:t> equation are </a:t>
            </a:r>
            <a:r>
              <a:rPr lang="en-US" b="1" dirty="0"/>
              <a:t>w </a:t>
            </a:r>
            <a:r>
              <a:rPr lang="en-US" dirty="0"/>
              <a:t>and </a:t>
            </a:r>
            <a:r>
              <a:rPr lang="en-US" b="1" dirty="0"/>
              <a:t>x </a:t>
            </a:r>
            <a:r>
              <a:rPr lang="en-US" dirty="0"/>
              <a:t>which</a:t>
            </a:r>
            <a:r>
              <a:rPr lang="en-US" b="1" dirty="0"/>
              <a:t> </a:t>
            </a:r>
            <a:r>
              <a:rPr lang="en-US" dirty="0"/>
              <a:t>means they are vectors!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A </a:t>
            </a:r>
            <a:r>
              <a:rPr lang="en-US" dirty="0"/>
              <a:t>vector has magnitude (size) and direction which works perfectly well in 3 or more </a:t>
            </a:r>
            <a:r>
              <a:rPr lang="en-US" dirty="0" smtClean="0"/>
              <a:t>dimensions. 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Therefore, </a:t>
            </a:r>
            <a:r>
              <a:rPr lang="en-US" dirty="0"/>
              <a:t>the application of “</a:t>
            </a:r>
            <a:r>
              <a:rPr lang="en-US" b="1" dirty="0"/>
              <a:t>vector”</a:t>
            </a:r>
            <a:r>
              <a:rPr lang="en-US" dirty="0"/>
              <a:t> is used in the SVMs algorithm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1818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https://miro.medium.com/max/1604/1*xfPWkYJ3ppO9HzB3t-nVy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8600"/>
            <a:ext cx="8530918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s://miro.medium.com/max/1474/1*AH8mAmQ5ydtOUP8WE7ywa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253151"/>
            <a:ext cx="5257800" cy="946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2881745" y="6294521"/>
            <a:ext cx="37805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the equation of calculating the Margin</a:t>
            </a:r>
          </a:p>
        </p:txBody>
      </p:sp>
    </p:spTree>
    <p:extLst>
      <p:ext uri="{BB962C8B-B14F-4D97-AF65-F5344CB8AC3E}">
        <p14:creationId xmlns:p14="http://schemas.microsoft.com/office/powerpoint/2010/main" val="23230608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1642"/>
            <a:ext cx="9144000" cy="443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4254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437" y="1727263"/>
            <a:ext cx="5191125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079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Note that 𝑦i is either +1 or -1</a:t>
            </a:r>
            <a:r>
              <a:rPr lang="en-US" dirty="0"/>
              <a:t>Therefore, we have:</a:t>
            </a:r>
          </a:p>
          <a:p>
            <a:endParaRPr lang="en-US" dirty="0"/>
          </a:p>
        </p:txBody>
      </p:sp>
      <p:pic>
        <p:nvPicPr>
          <p:cNvPr id="13314" name="Picture 2" descr="https://miro.medium.com/max/1682/1*wCA2fyjJiqVkGziw40nah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429000"/>
            <a:ext cx="8077200" cy="142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69129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s://miro.medium.com/max/1536/1*4x3l6lZ-tO-U0Vb_u0p4u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381000"/>
            <a:ext cx="8627263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29753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001000" cy="1143000"/>
          </a:xfrm>
        </p:spPr>
        <p:txBody>
          <a:bodyPr>
            <a:normAutofit fontScale="90000"/>
          </a:bodyPr>
          <a:lstStyle/>
          <a:p>
            <a:r>
              <a:rPr lang="en-US" sz="2700" b="1" dirty="0"/>
              <a:t>Classifying non-linear </a:t>
            </a:r>
            <a:r>
              <a:rPr lang="en-US" sz="2700" b="1" dirty="0" smtClean="0"/>
              <a:t>data</a:t>
            </a:r>
            <a:br>
              <a:rPr lang="en-US" sz="2700" b="1" dirty="0" smtClean="0"/>
            </a:br>
            <a:r>
              <a:rPr lang="en-US" sz="2700" b="1" dirty="0"/>
              <a:t/>
            </a:r>
            <a:br>
              <a:rPr lang="en-US" sz="2700" b="1" dirty="0"/>
            </a:br>
            <a:r>
              <a:rPr lang="en-US" sz="2700" b="1" dirty="0"/>
              <a:t>What about data points are not linearly separable?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15362" name="Picture 2" descr="https://miro.medium.com/max/1612/1*jb3a8YgY3VpZuRnCWw7hYQ.p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2021872"/>
            <a:ext cx="7467600" cy="403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722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separate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 smtClean="0"/>
              <a:t>SVM </a:t>
            </a:r>
            <a:r>
              <a:rPr lang="en-US" dirty="0"/>
              <a:t>has a technique called the </a:t>
            </a:r>
            <a:r>
              <a:rPr lang="en-US" b="1" dirty="0">
                <a:hlinkClick r:id="rId2"/>
              </a:rPr>
              <a:t>kernel</a:t>
            </a:r>
            <a:r>
              <a:rPr lang="en-US" b="1" dirty="0"/>
              <a:t> trick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These </a:t>
            </a:r>
            <a:r>
              <a:rPr lang="en-US" dirty="0"/>
              <a:t>are functions which take low dimensional input space and transform it into a higher-dimensional space i.e. it converts not separable problem to separable problem.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is mostly useful in non-linear separation problem. </a:t>
            </a:r>
            <a:endParaRPr lang="en-US" dirty="0" smtClean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04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s://miro.medium.com/max/1636/1*-HwFHbJ6p27l64SYUIc3I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33400"/>
            <a:ext cx="8479317" cy="51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07853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https://miro.medium.com/max/1612/1*ubRvH0kd_yTHRkAQ3-DN_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09981"/>
            <a:ext cx="8305800" cy="4400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8716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Kernels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In </a:t>
            </a:r>
            <a:r>
              <a:rPr lang="en-US" dirty="0"/>
              <a:t>practice, SVM algorithm is implemented with kernel that transforms an input data space into the required form.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SVM </a:t>
            </a:r>
            <a:r>
              <a:rPr lang="en-US" dirty="0"/>
              <a:t>uses a technique called the kernel trick in which kernel takes a low dimensional input space and transforms it into a higher dimensional space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 </a:t>
            </a:r>
            <a:r>
              <a:rPr lang="en-US" dirty="0"/>
              <a:t>In simple words, kernel converts non-separable problems into separable problems by adding more dimensions to it.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makes SVM more powerful, flexible and accurate. </a:t>
            </a:r>
          </a:p>
        </p:txBody>
      </p:sp>
    </p:spTree>
    <p:extLst>
      <p:ext uri="{BB962C8B-B14F-4D97-AF65-F5344CB8AC3E}">
        <p14:creationId xmlns:p14="http://schemas.microsoft.com/office/powerpoint/2010/main" val="26059304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Some Frequently Used Kernels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18434" name="Picture 2" descr="https://miro.medium.com/max/1426/1*Z1q39VP188OdPeft0MVnc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00200"/>
            <a:ext cx="85344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21771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Kernel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It </a:t>
            </a:r>
            <a:r>
              <a:rPr lang="en-US" dirty="0"/>
              <a:t>can be used as a dot product between any two observations. The formula of linear kernel is as below </a:t>
            </a:r>
            <a:r>
              <a:rPr lang="en-US" dirty="0" smtClean="0"/>
              <a:t>−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From the above formula, we can see that the product between two vectors say 𝑥 &amp; 𝑥𝑖 is the sum of the multiplication of each pair of input values.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486" y="3233738"/>
            <a:ext cx="4598714" cy="881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77425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Kernel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It </a:t>
            </a:r>
            <a:r>
              <a:rPr lang="en-US" dirty="0"/>
              <a:t>is more generalized form of linear kernel and distinguish curved or nonlinear input space.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Following </a:t>
            </a:r>
            <a:r>
              <a:rPr lang="en-US" dirty="0"/>
              <a:t>is the formula for polynomial kernel </a:t>
            </a:r>
            <a:r>
              <a:rPr lang="en-US" dirty="0" smtClean="0"/>
              <a:t>−</a:t>
            </a:r>
          </a:p>
          <a:p>
            <a:endParaRPr lang="en-US" dirty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Here </a:t>
            </a:r>
            <a:r>
              <a:rPr lang="en-US" dirty="0"/>
              <a:t>d is the degree of polynomial, which we need to specify manually in the learning algorithm.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93" y="3524250"/>
            <a:ext cx="6050107" cy="97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382662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Radial Basis Function (RBF) Kernel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 smtClean="0"/>
              <a:t>RBF </a:t>
            </a:r>
            <a:r>
              <a:rPr lang="en-US" dirty="0"/>
              <a:t>kernel, mostly used in SVM classification, maps input space in indefinite dimensional space.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Following </a:t>
            </a:r>
            <a:r>
              <a:rPr lang="en-US" dirty="0"/>
              <a:t>formula explains it mathematically </a:t>
            </a:r>
            <a:r>
              <a:rPr lang="en-US" dirty="0" smtClean="0"/>
              <a:t>−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Here, </a:t>
            </a:r>
            <a:r>
              <a:rPr lang="en-US" i="1" dirty="0"/>
              <a:t>gamma</a:t>
            </a:r>
            <a:r>
              <a:rPr lang="en-US" dirty="0"/>
              <a:t> ranges from 0 to 1. We need to manually specify it in the learning algorithm. A good default value of </a:t>
            </a:r>
            <a:r>
              <a:rPr lang="en-US" i="1" dirty="0"/>
              <a:t>gamma</a:t>
            </a:r>
            <a:r>
              <a:rPr lang="en-US" dirty="0"/>
              <a:t> is 0.1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As we implemented SVM for linearly separable data, we can implement it in Python for the data that is not linearly separable. It can be done by using kernels.</a:t>
            </a:r>
          </a:p>
          <a:p>
            <a:pPr algn="just"/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527" y="3124200"/>
            <a:ext cx="6381473" cy="623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14356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7467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Tuning parameters: Kernel, Regularization, Gamma and Margin.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 smtClean="0"/>
              <a:t>These </a:t>
            </a:r>
            <a:r>
              <a:rPr lang="en-US" dirty="0"/>
              <a:t>are tuning parameters in SVM classifier.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Varying </a:t>
            </a:r>
            <a:r>
              <a:rPr lang="en-US" dirty="0"/>
              <a:t>those we can </a:t>
            </a:r>
            <a:r>
              <a:rPr lang="en-US" dirty="0" err="1"/>
              <a:t>achive</a:t>
            </a:r>
            <a:r>
              <a:rPr lang="en-US" dirty="0"/>
              <a:t> considerable non linear classification line with more accuracy in reasonable amount of time.</a:t>
            </a:r>
          </a:p>
        </p:txBody>
      </p:sp>
    </p:spTree>
    <p:extLst>
      <p:ext uri="{BB962C8B-B14F-4D97-AF65-F5344CB8AC3E}">
        <p14:creationId xmlns:p14="http://schemas.microsoft.com/office/powerpoint/2010/main" val="20183245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Regularization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The </a:t>
            </a:r>
            <a:r>
              <a:rPr lang="en-US" dirty="0"/>
              <a:t>Regularization parameter (often termed as C parameter </a:t>
            </a:r>
            <a:r>
              <a:rPr lang="en-US" dirty="0" smtClean="0"/>
              <a:t>) </a:t>
            </a:r>
            <a:r>
              <a:rPr lang="en-US" dirty="0"/>
              <a:t>tells the SVM optimization how much you want to avoid misclassifying each training example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For large values of C, the optimization will choose a smaller-margin </a:t>
            </a:r>
            <a:r>
              <a:rPr lang="en-US" dirty="0" err="1"/>
              <a:t>hyperplane</a:t>
            </a:r>
            <a:r>
              <a:rPr lang="en-US" dirty="0"/>
              <a:t> if that </a:t>
            </a:r>
            <a:r>
              <a:rPr lang="en-US" dirty="0" err="1"/>
              <a:t>hyperplane</a:t>
            </a:r>
            <a:r>
              <a:rPr lang="en-US" dirty="0"/>
              <a:t> does a better job of getting all the training points classified correctly.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Conversely</a:t>
            </a:r>
            <a:r>
              <a:rPr lang="en-US" dirty="0"/>
              <a:t>, a very small value of C will cause the optimizer to look for a larger-margin separating </a:t>
            </a:r>
            <a:r>
              <a:rPr lang="en-US" dirty="0" err="1"/>
              <a:t>hyperplane</a:t>
            </a:r>
            <a:r>
              <a:rPr lang="en-US" dirty="0"/>
              <a:t>, even if that </a:t>
            </a:r>
            <a:r>
              <a:rPr lang="en-US" dirty="0" err="1"/>
              <a:t>hyperplane</a:t>
            </a:r>
            <a:r>
              <a:rPr lang="en-US" dirty="0"/>
              <a:t> misclassifies more points.</a:t>
            </a:r>
          </a:p>
        </p:txBody>
      </p:sp>
    </p:spTree>
    <p:extLst>
      <p:ext uri="{BB962C8B-B14F-4D97-AF65-F5344CB8AC3E}">
        <p14:creationId xmlns:p14="http://schemas.microsoft.com/office/powerpoint/2010/main" val="37906269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26670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The images below </a:t>
            </a:r>
            <a:r>
              <a:rPr lang="en-US" dirty="0" smtClean="0"/>
              <a:t>are </a:t>
            </a:r>
            <a:r>
              <a:rPr lang="en-US" dirty="0"/>
              <a:t>example of two different regularization parameter.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Left </a:t>
            </a:r>
            <a:r>
              <a:rPr lang="en-US" dirty="0"/>
              <a:t>one has some misclassification due to lower regularization value.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Higher </a:t>
            </a:r>
            <a:r>
              <a:rPr lang="en-US" dirty="0"/>
              <a:t>value leads to results like right one.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098" name="Picture 2" descr="https://miro.medium.com/max/600/1*1dwut8cWQ-39POHV48tv4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876800"/>
            <a:ext cx="571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miro.medium.com/max/600/1*gt_dkcA5p0ZTHjIpq1qnL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726873"/>
            <a:ext cx="571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09710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Gamma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90600"/>
            <a:ext cx="7467600" cy="22860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 smtClean="0"/>
              <a:t>The </a:t>
            </a:r>
            <a:r>
              <a:rPr lang="en-US" dirty="0"/>
              <a:t>gamma parameter defines how far the influence of a single training example reaches, with low values meaning ‘far’ and high values meaning ‘close’. </a:t>
            </a:r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In </a:t>
            </a:r>
            <a:r>
              <a:rPr lang="en-US" dirty="0"/>
              <a:t>other words, with low gamma, points far away from plausible </a:t>
            </a:r>
            <a:r>
              <a:rPr lang="en-US" dirty="0" smtClean="0"/>
              <a:t>separation </a:t>
            </a:r>
            <a:r>
              <a:rPr lang="en-US" dirty="0"/>
              <a:t>line are considered in calculation for the </a:t>
            </a:r>
            <a:r>
              <a:rPr lang="en-US" dirty="0" smtClean="0"/>
              <a:t>separation </a:t>
            </a:r>
            <a:r>
              <a:rPr lang="en-US" dirty="0"/>
              <a:t>line. Where as high gamma means the points close to plausible line are considered in calculation.</a:t>
            </a:r>
          </a:p>
          <a:p>
            <a:pPr algn="just"/>
            <a:endParaRPr lang="en-US" dirty="0"/>
          </a:p>
        </p:txBody>
      </p:sp>
      <p:pic>
        <p:nvPicPr>
          <p:cNvPr id="5122" name="Picture 2" descr="https://miro.medium.com/max/600/1*dGDQxV8j83VB90skHsXkt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257800"/>
            <a:ext cx="48006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miro.medium.com/max/600/1*ClmsnU_yb1YtIwAAr7krm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638" y="3581400"/>
            <a:ext cx="5133107" cy="171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20365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SVMs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Solve the data points are not linearly </a:t>
            </a:r>
            <a:r>
              <a:rPr lang="en-US" dirty="0" smtClean="0"/>
              <a:t>separable</a:t>
            </a:r>
          </a:p>
          <a:p>
            <a:endParaRPr lang="en-US" dirty="0"/>
          </a:p>
          <a:p>
            <a:r>
              <a:rPr lang="en-US" dirty="0"/>
              <a:t>Effective in a higher dimension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Suitable for small data set: effective when the number of features is more than training examples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err="1"/>
              <a:t>Overfitting</a:t>
            </a:r>
            <a:r>
              <a:rPr lang="en-US" dirty="0"/>
              <a:t> problem: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 err="1"/>
              <a:t>hyperplane</a:t>
            </a:r>
            <a:r>
              <a:rPr lang="en-US" dirty="0"/>
              <a:t> is affected by only the support vectors thus SVMs are not robust to the outliner.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3772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Solved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0"/>
            <a:ext cx="84582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0186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Solved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00200"/>
            <a:ext cx="8566355" cy="424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7867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Solved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355333"/>
            <a:ext cx="8534400" cy="214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943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Solved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66081"/>
            <a:ext cx="8534400" cy="417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0163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Solved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00200"/>
            <a:ext cx="8610600" cy="465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6239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Solved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81" y="2667000"/>
            <a:ext cx="7327641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38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85" y="31845"/>
            <a:ext cx="7467600" cy="1143000"/>
          </a:xfrm>
        </p:spPr>
        <p:txBody>
          <a:bodyPr/>
          <a:lstStyle/>
          <a:p>
            <a:r>
              <a:rPr lang="en-US" dirty="0"/>
              <a:t>Linear Solved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125967"/>
            <a:ext cx="6275769" cy="557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5330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Solved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417638"/>
            <a:ext cx="6477000" cy="531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5517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92577"/>
          </a:xfrm>
        </p:spPr>
        <p:txBody>
          <a:bodyPr/>
          <a:lstStyle/>
          <a:p>
            <a:r>
              <a:rPr lang="en-US" dirty="0"/>
              <a:t>Linear Solved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    Boundary will be perpendicular to y axis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167215"/>
            <a:ext cx="8534400" cy="44127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33" y="5671233"/>
            <a:ext cx="424767" cy="42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049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Solved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905000"/>
            <a:ext cx="8610600" cy="443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2245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Non-Linear </a:t>
            </a:r>
            <a:r>
              <a:rPr lang="en-US" dirty="0"/>
              <a:t>Solved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828800"/>
            <a:ext cx="8382000" cy="363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7327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Solved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039761"/>
            <a:ext cx="8534400" cy="443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14027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Solved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95605"/>
            <a:ext cx="8382000" cy="396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762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Solved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94184"/>
            <a:ext cx="8305800" cy="412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39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Solved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427874"/>
            <a:ext cx="8382000" cy="527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5220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Solved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05887"/>
            <a:ext cx="8196263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7649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Solved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573" y="1503426"/>
            <a:ext cx="5866853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0771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Solved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600200"/>
            <a:ext cx="6172200" cy="522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61893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Solved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828800"/>
            <a:ext cx="8534400" cy="391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54421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Solved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96029"/>
            <a:ext cx="8464990" cy="497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598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842EB5B25AA94681E01C533BC4E547" ma:contentTypeVersion="3" ma:contentTypeDescription="Create a new document." ma:contentTypeScope="" ma:versionID="5e8853d87939594dd11300b895153a60">
  <xsd:schema xmlns:xsd="http://www.w3.org/2001/XMLSchema" xmlns:xs="http://www.w3.org/2001/XMLSchema" xmlns:p="http://schemas.microsoft.com/office/2006/metadata/properties" xmlns:ns2="b1cd9ac4-537d-4700-ace9-c3dc8aafaf16" targetNamespace="http://schemas.microsoft.com/office/2006/metadata/properties" ma:root="true" ma:fieldsID="cc6f7d3b10a75145a31d85fa157930a3" ns2:_="">
    <xsd:import namespace="b1cd9ac4-537d-4700-ace9-c3dc8aafaf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cd9ac4-537d-4700-ace9-c3dc8aafaf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8986303-F4A7-4631-BFE9-0DDE3BA7CAA3}"/>
</file>

<file path=customXml/itemProps2.xml><?xml version="1.0" encoding="utf-8"?>
<ds:datastoreItem xmlns:ds="http://schemas.openxmlformats.org/officeDocument/2006/customXml" ds:itemID="{ABC9E383-2044-4FF6-B9B8-66FE568F5DB9}"/>
</file>

<file path=customXml/itemProps3.xml><?xml version="1.0" encoding="utf-8"?>
<ds:datastoreItem xmlns:ds="http://schemas.openxmlformats.org/officeDocument/2006/customXml" ds:itemID="{BD4A60D3-198F-4ABF-BA17-81C713B2907C}"/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1693</TotalTime>
  <Words>1408</Words>
  <Application>Microsoft Office PowerPoint</Application>
  <PresentationFormat>On-screen Show (4:3)</PresentationFormat>
  <Paragraphs>197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1" baseType="lpstr">
      <vt:lpstr>Century Schoolbook</vt:lpstr>
      <vt:lpstr>Wingdings</vt:lpstr>
      <vt:lpstr>Wingdings 2</vt:lpstr>
      <vt:lpstr>Oriel</vt:lpstr>
      <vt:lpstr>Support Vector Machine    (SVM)</vt:lpstr>
      <vt:lpstr>PowerPoint Presentation</vt:lpstr>
      <vt:lpstr>PowerPoint Presentation</vt:lpstr>
      <vt:lpstr>Problem with Logistic Regression </vt:lpstr>
      <vt:lpstr>Problem with Logistic Regression</vt:lpstr>
      <vt:lpstr>What is Support Vector Machine (SVM) </vt:lpstr>
      <vt:lpstr>PowerPoint Presentation</vt:lpstr>
      <vt:lpstr>PowerPoint Presentation</vt:lpstr>
      <vt:lpstr>Support Vector Machines </vt:lpstr>
      <vt:lpstr>PowerPoint Presentation</vt:lpstr>
      <vt:lpstr>Identify the right hyper-plane (Scenario-1):</vt:lpstr>
      <vt:lpstr>Identify the right hyper-plane (Scenario-2): </vt:lpstr>
      <vt:lpstr>PowerPoint Presentation</vt:lpstr>
      <vt:lpstr>Identify the right hyper-plane (Scenario-3):</vt:lpstr>
      <vt:lpstr>Can we classify two classes (Scenario-4)?:</vt:lpstr>
      <vt:lpstr>PowerPoint Presentation</vt:lpstr>
      <vt:lpstr>support vector points</vt:lpstr>
      <vt:lpstr>PowerPoint Presentation</vt:lpstr>
      <vt:lpstr>   hyperplane</vt:lpstr>
      <vt:lpstr>PowerPoint Presentation</vt:lpstr>
      <vt:lpstr>   margin</vt:lpstr>
      <vt:lpstr>PowerPoint Presentation</vt:lpstr>
      <vt:lpstr>PowerPoint Presentation</vt:lpstr>
      <vt:lpstr>PowerPoint Presentation</vt:lpstr>
      <vt:lpstr>Maximum margin hyperplane</vt:lpstr>
      <vt:lpstr>Linear Algebra Revisited </vt:lpstr>
      <vt:lpstr>Maximising the Margin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Classifying non-linear data  What about data points are not linearly separable? </vt:lpstr>
      <vt:lpstr>non-linear separate</vt:lpstr>
      <vt:lpstr>PowerPoint Presentation</vt:lpstr>
      <vt:lpstr>PowerPoint Presentation</vt:lpstr>
      <vt:lpstr>SVM Kernels </vt:lpstr>
      <vt:lpstr>Some Frequently Used Kernels </vt:lpstr>
      <vt:lpstr>Linear Kernel </vt:lpstr>
      <vt:lpstr>Polynomial Kernel </vt:lpstr>
      <vt:lpstr>Radial Basis Function (RBF) Kernel </vt:lpstr>
      <vt:lpstr>Tuning parameters: Kernel, Regularization, Gamma and Margin. </vt:lpstr>
      <vt:lpstr>Regularization </vt:lpstr>
      <vt:lpstr>PowerPoint Presentation</vt:lpstr>
      <vt:lpstr>Gamma </vt:lpstr>
      <vt:lpstr>Why SVMs </vt:lpstr>
      <vt:lpstr>Linear Solved Example</vt:lpstr>
      <vt:lpstr>Linear Solved Example</vt:lpstr>
      <vt:lpstr>Linear Solved Example</vt:lpstr>
      <vt:lpstr>Linear Solved Example</vt:lpstr>
      <vt:lpstr>Linear Solved Example</vt:lpstr>
      <vt:lpstr>Linear Solved Example</vt:lpstr>
      <vt:lpstr>Linear Solved Example</vt:lpstr>
      <vt:lpstr>Linear Solved Example</vt:lpstr>
      <vt:lpstr>Linear Solved Example</vt:lpstr>
      <vt:lpstr>Linear Solved Example</vt:lpstr>
      <vt:lpstr>Non-Linear Solved Example</vt:lpstr>
      <vt:lpstr>Non-Linear Solved Example</vt:lpstr>
      <vt:lpstr>Non-Linear Solved Example</vt:lpstr>
      <vt:lpstr>Non-Linear Solved Example</vt:lpstr>
      <vt:lpstr>Non-Linear Solved Example</vt:lpstr>
      <vt:lpstr>Non-Linear Solved Example</vt:lpstr>
      <vt:lpstr>Non-Linear Solved Example</vt:lpstr>
      <vt:lpstr>Non-Linear Solved Example</vt:lpstr>
      <vt:lpstr>Non-Linear Solved Example</vt:lpstr>
      <vt:lpstr>Non-Linear Solved Example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Yasin</dc:creator>
  <cp:lastModifiedBy>admin</cp:lastModifiedBy>
  <cp:revision>49</cp:revision>
  <dcterms:created xsi:type="dcterms:W3CDTF">2020-07-02T06:00:18Z</dcterms:created>
  <dcterms:modified xsi:type="dcterms:W3CDTF">2023-01-12T06:30:32Z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0x010100BC842EB5B25AA94681E01C533BC4E547</vt:lpwstr>
  </property>
</Properties>
</file>